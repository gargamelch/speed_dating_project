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charts/colors1.xml" ContentType="application/vnd.ms-office.chartcolorstyle+xml"/>
  <Override PartName="/ppt/charts/style2.xml" ContentType="application/vnd.ms-office.chartstyle+xml"/>
  <Override PartName="/ppt/charts/colors4.xml" ContentType="application/vnd.ms-office.chartcolorstyle+xml"/>
  <Override PartName="/ppt/charts/chart3.xml" ContentType="application/vnd.openxmlformats-officedocument.drawingml.chart+xml"/>
  <Override PartName="/ppt/charts/chart2.xml" ContentType="application/vnd.openxmlformats-officedocument.drawingml.chart+xml"/>
  <Override PartName="/ppt/charts/colors2.xml" ContentType="application/vnd.ms-office.chartcolorstyle+xml"/>
  <Override PartName="/ppt/charts/style3.xml" ContentType="application/vnd.ms-office.chartstyle+xml"/>
  <Override PartName="/ppt/charts/chart4.xml" ContentType="application/vnd.openxmlformats-officedocument.drawingml.chart+xml"/>
  <Override PartName="/ppt/charts/style1.xml" ContentType="application/vnd.ms-office.chartstyle+xml"/>
  <Override PartName="/ppt/charts/colors3.xml" ContentType="application/vnd.ms-office.chartcolorstyle+xml"/>
  <Override PartName="/ppt/charts/chart1.xml" ContentType="application/vnd.openxmlformats-officedocument.drawingml.chart+xml"/>
  <Override PartName="/ppt/charts/style4.xml" ContentType="application/vnd.ms-office.chartstyl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6.xml" ContentType="application/vnd.openxmlformats-officedocument.presentationml.slide+xml"/>
  <Override PartName="/ppt/slides/slide5.xml" ContentType="application/vnd.openxmlformats-officedocument.presentationml.slide+xml"/>
  <Override PartName="/ppt/slides/slide7.xml" ContentType="application/vnd.openxmlformats-officedocument.presentationml.slide+xml"/>
  <Override PartName="/ppt/slides/slide10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Slides/notesSlide1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9.xml" ContentType="application/vnd.openxmlformats-officedocument.presentationml.notes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notesMasterIdLst>
    <p:notesMasterId r:id="rId3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</p:sldIdLst>
  <p:sldSz cx="12192000" cy="6858000"/>
  <p:notesSz cx="6858000" cy="12192000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presProps" Target="presProps.xml"/>
</Relationships>
</file>

<file path=ppt/charts/_rels/chart1.xml.rels><?xml version="1.0" encoding="UTF-8"?>
<Relationships xmlns="http://schemas.openxmlformats.org/package/2006/relationships"><Relationship Id="rId1" Type="http://schemas.microsoft.com/office/2011/relationships/chartStyle" Target="style1.xml"/><Relationship Id="rId2" Type="http://schemas.microsoft.com/office/2011/relationships/chartColorStyle" Target="colors1.xml"/>
</Relationships>
</file>

<file path=ppt/charts/_rels/chart2.xml.rels><?xml version="1.0" encoding="UTF-8"?>
<Relationships xmlns="http://schemas.openxmlformats.org/package/2006/relationships"><Relationship Id="rId1" Type="http://schemas.microsoft.com/office/2011/relationships/chartStyle" Target="style2.xml"/><Relationship Id="rId2" Type="http://schemas.microsoft.com/office/2011/relationships/chartColorStyle" Target="colors2.xml"/>
</Relationships>
</file>

<file path=ppt/charts/_rels/chart3.xml.rels><?xml version="1.0" encoding="UTF-8"?>
<Relationships xmlns="http://schemas.openxmlformats.org/package/2006/relationships"><Relationship Id="rId1" Type="http://schemas.microsoft.com/office/2011/relationships/chartStyle" Target="style3.xml"/><Relationship Id="rId2" Type="http://schemas.microsoft.com/office/2011/relationships/chartColorStyle" Target="colors3.xml"/>
</Relationships>
</file>

<file path=ppt/charts/_rels/chart4.xml.rels><?xml version="1.0" encoding="UTF-8"?>
<Relationships xmlns="http://schemas.openxmlformats.org/package/2006/relationships"><Relationship Id="rId1" Type="http://schemas.microsoft.com/office/2011/relationships/chartStyle" Target="style4.xml"/><Relationship Id="rId2" Type="http://schemas.microsoft.com/office/2011/relationships/chartColorStyle" Target="colors4.xml"/>
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c:chart>
    <c:autoTitleDeleted val="1"/>
    <c:plotArea>
      <c:doughnutChart>
        <c:varyColors val="1"/>
        <c:ser>
          <c:idx val="0"/>
          <c:order val="0"/>
          <c:tx>
            <c:strRef>
              <c:f>label 0</c:f>
              <c:strCache>
                <c:ptCount val="1"/>
                <c:pt idx="0">
                  <c:v>Gender</c:v>
                </c:pt>
              </c:strCache>
            </c:strRef>
          </c:tx>
          <c:spPr>
            <a:solidFill>
              <a:srgbClr val="4472C4"/>
            </a:solidFill>
            <a:ln w="9360">
              <a:solidFill>
                <a:srgbClr val="F9F9F9"/>
              </a:solidFill>
              <a:round/>
            </a:ln>
          </c:spPr>
          <c:explosion val="0"/>
          <c:dPt>
            <c:idx val="0"/>
            <c:spPr>
              <a:solidFill>
                <a:srgbClr val="FF94FF"/>
              </a:solidFill>
              <a:ln w="25560">
                <a:solidFill>
                  <a:srgbClr val="263659"/>
                </a:solidFill>
                <a:round/>
              </a:ln>
            </c:spPr>
          </c:dPt>
          <c:dPt>
            <c:idx val="1"/>
            <c:spPr>
              <a:solidFill>
                <a:srgbClr val="003CFF"/>
              </a:solidFill>
              <a:ln w="25560">
                <a:solidFill>
                  <a:srgbClr val="263659"/>
                </a:solidFill>
                <a:round/>
              </a:ln>
            </c:spPr>
          </c:dPt>
          <c:dLbls>
            <c:dLbl>
              <c:idx val="0"/>
              <c:numFmt formatCode="0.0%" sourceLinked="0"/>
              <c:txPr>
                <a:bodyPr wrap="square"/>
                <a:lstStyle/>
                <a:p>
                  <a:pPr>
                    <a:defRPr lang="fr-FR" sz="1400" b="1" u="none" strike="noStrike">
                      <a:solidFill>
                        <a:srgbClr val="FFFFFF"/>
                      </a:solidFill>
                      <a:uFillTx/>
                      <a:latin typeface="Roboto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eparator>
</c:separator>
            </c:dLbl>
            <c:dLbl>
              <c:idx val="1"/>
              <c:numFmt formatCode="0.0%" sourceLinked="0"/>
              <c:txPr>
                <a:bodyPr wrap="square"/>
                <a:lstStyle/>
                <a:p>
                  <a:pPr>
                    <a:defRPr lang="fr-FR" sz="1400" b="1" u="none" strike="noStrike">
                      <a:solidFill>
                        <a:srgbClr val="FFFFFF"/>
                      </a:solidFill>
                      <a:uFillTx/>
                      <a:latin typeface="Roboto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eparator>
</c:separator>
            </c:dLbl>
            <c:numFmt formatCode="0.0%" sourceLinked="0"/>
            <c:txPr>
              <a:bodyPr wrap="square"/>
              <a:lstStyle/>
              <a:p>
                <a:pPr>
                  <a:defRPr lang="fr-FR" sz="1400" b="1" u="none" strike="noStrike">
                    <a:solidFill>
                      <a:srgbClr val="FFFFFF"/>
                    </a:solidFill>
                    <a:uFillTx/>
                    <a:latin typeface="Roboto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1"/>
            <c:separator>
</c:separator>
            <c:showLeaderLines val="0"/>
          </c:dLbls>
          <c:cat>
            <c:strRef>
              <c:f>categories</c:f>
              <c:strCache>
                <c:ptCount val="2"/>
                <c:pt idx="0">
                  <c:v>Female</c:v>
                </c:pt>
                <c:pt idx="1">
                  <c:v>Male</c:v>
                </c:pt>
              </c:strCache>
            </c:strRef>
          </c:cat>
          <c:val>
            <c:numRef>
              <c:f>0</c:f>
              <c:numCache>
                <c:formatCode>General</c:formatCode>
                <c:ptCount val="2"/>
                <c:pt idx="0">
                  <c:v>274</c:v>
                </c:pt>
                <c:pt idx="1">
                  <c:v>277</c:v>
                </c:pt>
              </c:numCache>
            </c:numRef>
          </c:val>
        </c:ser>
        <c:firstSliceAng val="180"/>
        <c:holeSize val="50"/>
      </c:doughnutChart>
      <c:spPr>
        <a:noFill/>
        <a:ln w="0">
          <a:noFill/>
        </a:ln>
      </c:spPr>
    </c:plotArea>
    <c:legend>
      <c:legendPos val="b"/>
      <c:overlay val="0"/>
      <c:spPr>
        <a:noFill/>
        <a:ln w="0">
          <a:noFill/>
        </a:ln>
      </c:spPr>
      <c:txPr>
        <a:bodyPr/>
        <a:lstStyle/>
        <a:p>
          <a:pPr>
            <a:defRPr lang="fr-FR" sz="1200" b="0" u="none" strike="noStrike">
              <a:solidFill>
                <a:srgbClr val="FFFFFF"/>
              </a:solidFill>
              <a:uFillTx/>
              <a:latin typeface="Roboto"/>
            </a:defRPr>
          </a:pPr>
        </a:p>
      </c:txPr>
    </c:legend>
    <c:plotVisOnly val="1"/>
    <c:dispBlanksAs val="span"/>
  </c:chart>
  <c:spPr>
    <a:noFill/>
    <a:ln w="0">
      <a:noFill/>
    </a:ln>
  </c:spPr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c:chart>
    <c:autoTitleDeleted val="1"/>
    <c:plotArea>
      <c:barChart>
        <c:barDir val="col"/>
        <c:grouping val="clustered"/>
        <c:varyColors val="0"/>
        <c:ser>
          <c:idx val="0"/>
          <c:order val="0"/>
          <c:tx>
            <c:strRef>
              <c:f>label 0</c:f>
              <c:strCache>
                <c:ptCount val="1"/>
                <c:pt idx="0">
                  <c:v>Female</c:v>
                </c:pt>
              </c:strCache>
            </c:strRef>
          </c:tx>
          <c:spPr>
            <a:solidFill>
              <a:srgbClr val="FF94FF"/>
            </a:solidFill>
            <a:ln w="0">
              <a:noFill/>
            </a:ln>
          </c:spPr>
          <c:invertIfNegative val="0"/>
          <c:dLbls>
            <c:numFmt formatCode="0.0\%" sourceLinked="0"/>
            <c:txPr>
              <a:bodyPr wrap="square"/>
              <a:lstStyle/>
              <a:p>
                <a:pPr>
                  <a:defRPr lang="fr-FR" sz="1300" b="0" u="none" strike="noStrike">
                    <a:solidFill>
                      <a:srgbClr val="FFFFFF"/>
                    </a:solidFill>
                    <a:uFillTx/>
                    <a:latin typeface="Roboto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eparator>; </c:separator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categories</c:f>
              <c:strCache>
                <c:ptCount val="1"/>
                <c:pt idx="0">
                  <c:v>Personal 'Yes' Rate</c:v>
                </c:pt>
              </c:strCache>
            </c:strRef>
          </c:cat>
          <c:val>
            <c:numRef>
              <c:f>0</c:f>
              <c:numCache>
                <c:formatCode>General</c:formatCode>
                <c:ptCount val="1"/>
                <c:pt idx="0">
                  <c:v>37.4</c:v>
                </c:pt>
              </c:numCache>
            </c:numRef>
          </c:val>
        </c:ser>
        <c:ser>
          <c:idx val="1"/>
          <c:order val="1"/>
          <c:tx>
            <c:strRef>
              <c:f>label 1</c:f>
              <c:strCache>
                <c:ptCount val="1"/>
                <c:pt idx="0">
                  <c:v>Male</c:v>
                </c:pt>
              </c:strCache>
            </c:strRef>
          </c:tx>
          <c:spPr>
            <a:solidFill>
              <a:srgbClr val="003CFF"/>
            </a:solidFill>
            <a:ln w="0">
              <a:noFill/>
            </a:ln>
          </c:spPr>
          <c:invertIfNegative val="0"/>
          <c:dLbls>
            <c:numFmt formatCode="0.0\%" sourceLinked="0"/>
            <c:txPr>
              <a:bodyPr wrap="square"/>
              <a:lstStyle/>
              <a:p>
                <a:pPr>
                  <a:defRPr lang="fr-FR" sz="1300" b="0" u="none" strike="noStrike">
                    <a:solidFill>
                      <a:srgbClr val="FFFFFF"/>
                    </a:solidFill>
                    <a:uFillTx/>
                    <a:latin typeface="Roboto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eparator>; </c:separator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categories</c:f>
              <c:strCache>
                <c:ptCount val="1"/>
                <c:pt idx="0">
                  <c:v>Personal 'Yes' Rate</c:v>
                </c:pt>
              </c:strCache>
            </c:strRef>
          </c:cat>
          <c:val>
            <c:numRef>
              <c:f>1</c:f>
              <c:numCache>
                <c:formatCode>General</c:formatCode>
                <c:ptCount val="1"/>
                <c:pt idx="0">
                  <c:v>48.1</c:v>
                </c:pt>
              </c:numCache>
            </c:numRef>
          </c:val>
        </c:ser>
        <c:gapWidth val="60"/>
        <c:overlap val="0"/>
        <c:axId val="60119317"/>
        <c:axId val="43645706"/>
      </c:barChart>
      <c:catAx>
        <c:axId val="60119317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low"/>
        <c:spPr>
          <a:ln w="12600">
            <a:solidFill>
              <a:srgbClr val="3D4B72"/>
            </a:solidFill>
            <a:round/>
          </a:ln>
        </c:spPr>
        <c:txPr>
          <a:bodyPr/>
          <a:lstStyle/>
          <a:p>
            <a:pPr>
              <a:defRPr lang="fr-FR" sz="1050" b="0" u="none" strike="noStrike">
                <a:solidFill>
                  <a:srgbClr val="8B96AC"/>
                </a:solidFill>
                <a:uFillTx/>
                <a:latin typeface="Roboto"/>
              </a:defRPr>
            </a:pPr>
          </a:p>
        </c:txPr>
        <c:crossAx val="43645706"/>
        <c:crosses val="autoZero"/>
        <c:auto val="1"/>
        <c:lblAlgn val="ctr"/>
        <c:lblOffset val="100"/>
        <c:noMultiLvlLbl val="0"/>
      </c:catAx>
      <c:valAx>
        <c:axId val="43645706"/>
        <c:scaling>
          <c:orientation val="minMax"/>
        </c:scaling>
        <c:delete val="1"/>
        <c:axPos val="l"/>
        <c:numFmt formatCode="General" sourceLinked="1"/>
        <c:majorTickMark val="out"/>
        <c:minorTickMark val="none"/>
        <c:tickLblPos val="nextTo"/>
        <c:spPr>
          <a:ln w="12600">
            <a:solidFill>
              <a:srgbClr val="888888"/>
            </a:solidFill>
            <a:round/>
          </a:ln>
        </c:spPr>
        <c:txPr>
          <a:bodyPr/>
          <a:lstStyle/>
          <a:p>
            <a:pPr>
              <a:defRPr lang="fr-FR" sz="1000" b="0" u="none" strike="noStrike">
                <a:solidFill>
                  <a:srgbClr val="8B96AC"/>
                </a:solidFill>
                <a:uFillTx/>
                <a:latin typeface="Roboto"/>
              </a:defRPr>
            </a:pPr>
          </a:p>
        </c:txPr>
        <c:crossAx val="60119317"/>
        <c:crossBetween val="between"/>
      </c:valAx>
      <c:spPr>
        <a:noFill/>
        <a:ln w="0">
          <a:noFill/>
        </a:ln>
      </c:spPr>
    </c:plotArea>
    <c:legend>
      <c:legendPos val="b"/>
      <c:overlay val="0"/>
      <c:spPr>
        <a:noFill/>
        <a:ln w="0">
          <a:noFill/>
        </a:ln>
      </c:spPr>
      <c:txPr>
        <a:bodyPr/>
        <a:lstStyle/>
        <a:p>
          <a:pPr>
            <a:defRPr lang="fr-FR" sz="1100" b="0" u="none" strike="noStrike">
              <a:solidFill>
                <a:srgbClr val="FFFFFF"/>
              </a:solidFill>
              <a:uFillTx/>
              <a:latin typeface="Roboto"/>
            </a:defRPr>
          </a:pPr>
        </a:p>
      </c:txPr>
    </c:legend>
    <c:plotVisOnly val="1"/>
    <c:dispBlanksAs val="span"/>
  </c:chart>
  <c:spPr>
    <a:noFill/>
    <a:ln w="0">
      <a:noFill/>
    </a:ln>
  </c:spPr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c:chart>
    <c:autoTitleDeleted val="1"/>
    <c:plotArea>
      <c:doughnutChart>
        <c:varyColors val="1"/>
        <c:ser>
          <c:idx val="0"/>
          <c:order val="0"/>
          <c:tx>
            <c:strRef>
              <c:f>label 0</c:f>
              <c:strCache>
                <c:ptCount val="1"/>
                <c:pt idx="0">
                  <c:v>Dates</c:v>
                </c:pt>
              </c:strCache>
            </c:strRef>
          </c:tx>
          <c:spPr>
            <a:solidFill>
              <a:srgbClr val="4472C4"/>
            </a:solidFill>
            <a:ln w="9360">
              <a:solidFill>
                <a:srgbClr val="F9F9F9"/>
              </a:solidFill>
              <a:round/>
            </a:ln>
          </c:spPr>
          <c:explosion val="0"/>
          <c:dPt>
            <c:idx val="0"/>
            <c:spPr>
              <a:solidFill>
                <a:srgbClr val="F2A65A"/>
              </a:solidFill>
              <a:ln w="25560">
                <a:solidFill>
                  <a:srgbClr val="263659"/>
                </a:solidFill>
                <a:round/>
              </a:ln>
            </c:spPr>
          </c:dPt>
          <c:dPt>
            <c:idx val="1"/>
            <c:spPr>
              <a:solidFill>
                <a:srgbClr val="3D4B72"/>
              </a:solidFill>
              <a:ln w="25560">
                <a:solidFill>
                  <a:srgbClr val="263659"/>
                </a:solidFill>
                <a:round/>
              </a:ln>
            </c:spPr>
          </c:dPt>
          <c:dLbls>
            <c:dLbl>
              <c:idx val="0"/>
              <c:numFmt formatCode="0%" sourceLinked="0"/>
              <c:txPr>
                <a:bodyPr wrap="square"/>
                <a:lstStyle/>
                <a:p>
                  <a:pPr>
                    <a:defRPr lang="fr-FR" sz="1200" b="0" u="none" strike="noStrike">
                      <a:solidFill>
                        <a:srgbClr val="000000"/>
                      </a:solidFill>
                      <a:uFillTx/>
                      <a:latin typeface="Roboto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eparator>
</c:separator>
            </c:dLbl>
            <c:dLbl>
              <c:idx val="1"/>
              <c:numFmt formatCode="0%" sourceLinked="0"/>
              <c:txPr>
                <a:bodyPr wrap="square"/>
                <a:lstStyle/>
                <a:p>
                  <a:pPr>
                    <a:defRPr lang="fr-FR" sz="1200" b="0" u="none" strike="noStrike">
                      <a:solidFill>
                        <a:srgbClr val="000000"/>
                      </a:solidFill>
                      <a:uFillTx/>
                      <a:latin typeface="Roboto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eparator>
</c:separator>
            </c:dLbl>
            <c:numFmt formatCode="0%" sourceLinked="0"/>
            <c:txPr>
              <a:bodyPr wrap="square"/>
              <a:lstStyle/>
              <a:p>
                <a:pPr>
                  <a:defRPr lang="fr-FR" sz="1800" b="0" u="none" strike="noStrike">
                    <a:solidFill>
                      <a:srgbClr val="000000"/>
                    </a:solidFill>
                    <a:uFillTx/>
                    <a:latin typeface="Roboto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eparator>
</c:separator>
            <c:showLeaderLines val="0"/>
          </c:dLbls>
          <c:cat>
            <c:strRef>
              <c:f>categories</c:f>
              <c:strCache>
                <c:ptCount val="2"/>
                <c:pt idx="0">
                  <c:v>Match</c:v>
                </c:pt>
                <c:pt idx="1">
                  <c:v>No Match</c:v>
                </c:pt>
              </c:strCache>
            </c:strRef>
          </c:cat>
          <c:val>
            <c:numRef>
              <c:f>0</c:f>
              <c:numCache>
                <c:formatCode>General</c:formatCode>
                <c:ptCount val="2"/>
                <c:pt idx="0">
                  <c:v>16.5</c:v>
                </c:pt>
                <c:pt idx="1">
                  <c:v>83.5</c:v>
                </c:pt>
              </c:numCache>
            </c:numRef>
          </c:val>
        </c:ser>
        <c:firstSliceAng val="0"/>
        <c:holeSize val="50"/>
      </c:doughnutChart>
      <c:spPr>
        <a:noFill/>
        <a:ln w="0">
          <a:noFill/>
        </a:ln>
      </c:spPr>
    </c:plotArea>
    <c:plotVisOnly val="1"/>
    <c:dispBlanksAs val="span"/>
  </c:chart>
  <c:spPr>
    <a:noFill/>
    <a:ln w="0">
      <a:noFill/>
    </a:ln>
  </c:spPr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c:chart>
    <c:title>
      <c:tx>
        <c:rich>
          <a:bodyPr rot="0"/>
          <a:lstStyle/>
          <a:p>
            <a:pPr>
              <a:defRPr lang="fr-FR" sz="1300" b="0" u="none" strike="noStrike">
                <a:solidFill>
                  <a:srgbClr val="000000"/>
                </a:solidFill>
                <a:uFillTx/>
                <a:latin typeface="Arial"/>
              </a:defRPr>
            </a:pPr>
            <a:r>
              <a:rPr lang="fr-FR" sz="1250" b="0" u="none" strike="noStrike">
                <a:solidFill>
                  <a:srgbClr val="FFFFFF"/>
                </a:solidFill>
                <a:uFillTx/>
                <a:latin typeface="Roboto"/>
              </a:rPr>
              <a:t>Model F1-score by Gender</a:t>
            </a:r>
          </a:p>
        </c:rich>
      </c:tx>
      <c:overlay val="0"/>
      <c:spPr>
        <a:noFill/>
        <a:ln w="0">
          <a:noFill/>
        </a:ln>
      </c:spPr>
    </c:title>
    <c:autoTitleDeleted val="0"/>
    <c:plotArea>
      <c:barChart>
        <c:barDir val="col"/>
        <c:grouping val="clustered"/>
        <c:varyColors val="0"/>
        <c:ser>
          <c:idx val="0"/>
          <c:order val="0"/>
          <c:tx>
            <c:strRef>
              <c:f>label 0</c:f>
              <c:strCache>
                <c:ptCount val="1"/>
                <c:pt idx="0">
                  <c:v>Female</c:v>
                </c:pt>
              </c:strCache>
            </c:strRef>
          </c:tx>
          <c:spPr>
            <a:solidFill>
              <a:srgbClr val="FF94FF"/>
            </a:solidFill>
            <a:ln w="0">
              <a:noFill/>
            </a:ln>
          </c:spPr>
          <c:invertIfNegative val="0"/>
          <c:dLbls>
            <c:numFmt formatCode="0.00" sourceLinked="0"/>
            <c:txPr>
              <a:bodyPr wrap="square"/>
              <a:lstStyle/>
              <a:p>
                <a:pPr>
                  <a:defRPr lang="fr-FR" sz="1300" b="0" u="none" strike="noStrike">
                    <a:solidFill>
                      <a:srgbClr val="FFFFFF"/>
                    </a:solidFill>
                    <a:uFillTx/>
                    <a:latin typeface="Roboto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eparator>; </c:separator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categories</c:f>
              <c:strCache>
                <c:ptCount val="1"/>
                <c:pt idx="0">
                  <c:v>Model F1-score</c:v>
                </c:pt>
              </c:strCache>
            </c:strRef>
          </c:cat>
          <c:val>
            <c:numRef>
              <c:f>0</c:f>
              <c:numCache>
                <c:formatCode>General</c:formatCode>
                <c:ptCount val="1"/>
                <c:pt idx="0">
                  <c:v>0.723</c:v>
                </c:pt>
              </c:numCache>
            </c:numRef>
          </c:val>
        </c:ser>
        <c:ser>
          <c:idx val="1"/>
          <c:order val="1"/>
          <c:tx>
            <c:strRef>
              <c:f>label 1</c:f>
              <c:strCache>
                <c:ptCount val="1"/>
                <c:pt idx="0">
                  <c:v>Male</c:v>
                </c:pt>
              </c:strCache>
            </c:strRef>
          </c:tx>
          <c:spPr>
            <a:solidFill>
              <a:srgbClr val="003CFF"/>
            </a:solidFill>
            <a:ln w="0">
              <a:noFill/>
            </a:ln>
          </c:spPr>
          <c:invertIfNegative val="0"/>
          <c:dLbls>
            <c:numFmt formatCode="0.00" sourceLinked="0"/>
            <c:txPr>
              <a:bodyPr wrap="square"/>
              <a:lstStyle/>
              <a:p>
                <a:pPr>
                  <a:defRPr lang="fr-FR" sz="1300" b="0" u="none" strike="noStrike">
                    <a:solidFill>
                      <a:srgbClr val="FFFFFF"/>
                    </a:solidFill>
                    <a:uFillTx/>
                    <a:latin typeface="Roboto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eparator>; </c:separator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categories</c:f>
              <c:strCache>
                <c:ptCount val="1"/>
                <c:pt idx="0">
                  <c:v>Model F1-score</c:v>
                </c:pt>
              </c:strCache>
            </c:strRef>
          </c:cat>
          <c:val>
            <c:numRef>
              <c:f>1</c:f>
              <c:numCache>
                <c:formatCode>General</c:formatCode>
                <c:ptCount val="1"/>
                <c:pt idx="0">
                  <c:v>0.74</c:v>
                </c:pt>
              </c:numCache>
            </c:numRef>
          </c:val>
        </c:ser>
        <c:gapWidth val="60"/>
        <c:overlap val="0"/>
        <c:axId val="24035322"/>
        <c:axId val="32548171"/>
      </c:barChart>
      <c:catAx>
        <c:axId val="24035322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low"/>
        <c:spPr>
          <a:ln w="12600">
            <a:solidFill>
              <a:srgbClr val="3D4B72"/>
            </a:solidFill>
            <a:round/>
          </a:ln>
        </c:spPr>
        <c:txPr>
          <a:bodyPr/>
          <a:lstStyle/>
          <a:p>
            <a:pPr>
              <a:defRPr lang="fr-FR" sz="1050" b="0" u="none" strike="noStrike">
                <a:solidFill>
                  <a:srgbClr val="8B96AC"/>
                </a:solidFill>
                <a:uFillTx/>
                <a:latin typeface="Roboto"/>
              </a:defRPr>
            </a:pPr>
          </a:p>
        </c:txPr>
        <c:crossAx val="32548171"/>
        <c:crosses val="autoZero"/>
        <c:auto val="1"/>
        <c:lblAlgn val="ctr"/>
        <c:lblOffset val="100"/>
        <c:noMultiLvlLbl val="0"/>
      </c:catAx>
      <c:valAx>
        <c:axId val="32548171"/>
        <c:scaling>
          <c:orientation val="minMax"/>
          <c:max val="0.9"/>
        </c:scaling>
        <c:delete val="1"/>
        <c:axPos val="l"/>
        <c:numFmt formatCode="General" sourceLinked="1"/>
        <c:majorTickMark val="out"/>
        <c:minorTickMark val="none"/>
        <c:tickLblPos val="nextTo"/>
        <c:spPr>
          <a:ln w="12600">
            <a:solidFill>
              <a:srgbClr val="888888"/>
            </a:solidFill>
            <a:round/>
          </a:ln>
        </c:spPr>
        <c:txPr>
          <a:bodyPr/>
          <a:lstStyle/>
          <a:p>
            <a:pPr>
              <a:defRPr lang="fr-FR" sz="1200" b="0" u="none" strike="noStrike">
                <a:solidFill>
                  <a:srgbClr val="000000"/>
                </a:solidFill>
                <a:uFillTx/>
                <a:latin typeface="Roboto"/>
              </a:defRPr>
            </a:pPr>
          </a:p>
        </c:txPr>
        <c:crossAx val="24035322"/>
        <c:crossBetween val="between"/>
      </c:valAx>
      <c:spPr>
        <a:noFill/>
        <a:ln w="0">
          <a:noFill/>
        </a:ln>
      </c:spPr>
    </c:plotArea>
    <c:legend>
      <c:legendPos val="b"/>
      <c:overlay val="0"/>
      <c:spPr>
        <a:noFill/>
        <a:ln w="0">
          <a:noFill/>
        </a:ln>
      </c:spPr>
      <c:txPr>
        <a:bodyPr/>
        <a:lstStyle/>
        <a:p>
          <a:pPr>
            <a:defRPr lang="fr-FR" sz="1100" b="0" u="none" strike="noStrike">
              <a:solidFill>
                <a:srgbClr val="FFFFFF"/>
              </a:solidFill>
              <a:uFillTx/>
              <a:latin typeface="Roboto"/>
            </a:defRPr>
          </a:pPr>
        </a:p>
      </c:txPr>
    </c:legend>
    <c:plotVisOnly val="1"/>
    <c:dispBlanksAs val="span"/>
  </c:chart>
  <c:spPr>
    <a:noFill/>
    <a:ln w="0">
      <a:noFill/>
    </a:ln>
  </c:spPr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</cs:colorStyle>
</file>

<file path=ppt/charts/style1.xml><?xml version="1.0" encoding="utf-8"?>
<cs:chartStyle xmlns:cs="http://schemas.microsoft.com/office/drawing/2012/chartStyle" xmlns:a="http://schemas.openxmlformats.org/drawingml/2006/main" id="419">
  <cs:axisTitle>
    <cs:lnRef idx="0"/>
    <cs:lineWidthScale>1</cs:lineWidthScale>
    <cs:fillRef idx="0"/>
    <cs:effectRef idx="0"/>
    <cs:fontRef idx="minor"/>
    <a:defRPr sz="1800" b="0"/>
  </cs:axisTitle>
  <cs:categoryAxis>
    <cs:lnRef idx="0"/>
    <cs:fillRef idx="0"/>
    <cs:effectRef idx="0"/>
    <cs:fontRef idx="minor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chartArea>
  <cs:dataLabel>
    <cs:lnRef idx="0"/>
    <cs:fillRef idx="0"/>
    <cs:effectRef idx="0"/>
    <cs:fontRef idx="minor"/>
  </cs:dataLabel>
  <cs:dataPoint>
    <cs:lnRef idx="0"/>
    <cs:fillRef idx="0">
      <cs:styleClr val="auto"/>
    </cs:fillRef>
    <cs:effectRef idx="0"/>
    <cs:fontRef idx="minor">
      <cs:schemeClr val="tx1"/>
    </cs:fontRef>
    <cs:spPr>
      <a:solidFill>
        <a:schemeClr val="phClr"/>
      </a:solidFill>
    </cs:spPr>
  </cs:dataPoint>
  <cs:dataPoint3D>
    <cs:lnRef idx="0"/>
    <cs:fillRef idx="0"/>
    <cs:effectRef idx="0"/>
    <cs:fontRef idx="minor"/>
  </cs:dataPoint3D>
  <cs:dataPointLine>
    <cs:lnRef idx="0"/>
    <cs:fillRef idx="0"/>
    <cs:effectRef idx="0"/>
    <cs:fontRef idx="minor"/>
  </cs:dataPointLine>
  <cs:dataPointMarker>
    <cs:lnRef idx="0"/>
    <cs:fillRef idx="0"/>
    <cs:effectRef idx="0"/>
    <cs:fontRef idx="minor"/>
  </cs:dataPointMarker>
  <cs:dataPointMarkerLayout>
    <cs:lnRef idx="0"/>
    <cs:fillRef idx="0"/>
    <cs:effectRef idx="0"/>
    <cs:fontRef idx="minor"/>
  </cs:dataPointMarkerLayout>
  <cs:dataPointWireframe>
    <cs:lnRef idx="0"/>
    <cs:fillRef idx="0"/>
    <cs:effectRef idx="0"/>
    <cs:fontRef idx="minor"/>
  </cs:dataPointWireframe>
  <cs:dataTable>
    <cs:lnRef idx="0"/>
    <cs:fillRef idx="0"/>
    <cs:effectRef idx="0"/>
    <cs:fontRef idx="minor"/>
  </cs:dataTable>
  <cs:downBar>
    <cs:lnRef idx="0"/>
    <cs:fillRef idx="0"/>
    <cs:effectRef idx="0"/>
    <cs:fontRef idx="minor"/>
  </cs:downBar>
  <cs:dropLine>
    <cs:lnRef idx="0"/>
    <cs:fillRef idx="0"/>
    <cs:effectRef idx="0"/>
    <cs:fontRef idx="minor"/>
  </cs:dropLine>
  <cs:errorBar>
    <cs:lnRef idx="0"/>
    <cs:fillRef idx="0"/>
    <cs:effectRef idx="0"/>
    <cs:fontRef idx="minor"/>
  </cs:errorBar>
  <cs:floor>
    <cs:lnRef idx="0"/>
    <cs:fillRef idx="0"/>
    <cs:effectRef idx="0"/>
    <cs:fontRef idx="minor"/>
  </cs:floor>
  <cs:gridlineMajor>
    <cs:lnRef idx="0"/>
    <cs:fillRef idx="0"/>
    <cs:effectRef idx="0"/>
    <cs:fontRef idx="minor"/>
  </cs:gridlineMajor>
  <cs:gridlineMinor>
    <cs:lnRef idx="0"/>
    <cs:fillRef idx="0"/>
    <cs:effectRef idx="0"/>
    <cs:fontRef idx="minor"/>
  </cs:gridlineMinor>
  <cs:hiLoLine>
    <cs:lnRef idx="0"/>
    <cs:fillRef idx="0"/>
    <cs:effectRef idx="0"/>
    <cs:fontRef idx="minor"/>
  </cs:hiLoLine>
  <cs:leaderLine>
    <cs:lnRef idx="0"/>
    <cs:fillRef idx="0"/>
    <cs:effectRef idx="0"/>
    <cs:fontRef idx="minor"/>
  </cs:leaderLine>
  <cs:legend>
    <cs:lnRef idx="0"/>
    <cs:fillRef idx="0"/>
    <cs:effectRef idx="0"/>
    <cs:fontRef idx="minor"/>
  </cs:legend>
  <cs:plotArea>
    <cs:lnRef idx="0"/>
    <cs:fillRef idx="0"/>
    <cs:effectRef idx="0"/>
    <cs:fontRef idx="minor"/>
  </cs:plotArea>
  <cs:plotArea3D>
    <cs:lnRef idx="0"/>
    <cs:fillRef idx="0"/>
    <cs:effectRef idx="0"/>
    <cs:fontRef idx="minor"/>
  </cs:plotArea3D>
  <cs:seriesAxis>
    <cs:lnRef idx="0"/>
    <cs:fillRef idx="0"/>
    <cs:effectRef idx="0"/>
    <cs:fontRef idx="minor"/>
  </cs:seriesAxis>
  <cs:seriesLine>
    <cs:lnRef idx="0"/>
    <cs:fillRef idx="0"/>
    <cs:effectRef idx="0"/>
    <cs:fontRef idx="minor"/>
  </cs:seriesLine>
  <cs:title>
    <cs:lnRef idx="0"/>
    <cs:fillRef idx="0"/>
    <cs:effectRef idx="0"/>
    <cs:fontRef idx="minor"/>
  </cs:title>
  <cs:trendline>
    <cs:lnRef idx="0"/>
    <cs:fillRef idx="0"/>
    <cs:effectRef idx="0"/>
    <cs:fontRef idx="minor"/>
  </cs:trendline>
  <cs:trendlineLabel>
    <cs:lnRef idx="0"/>
    <cs:fillRef idx="0"/>
    <cs:effectRef idx="0"/>
    <cs:fontRef idx="minor"/>
  </cs:trendlineLabel>
  <cs:upBar>
    <cs:lnRef idx="0"/>
    <cs:fillRef idx="0"/>
    <cs:effectRef idx="0"/>
    <cs:fontRef idx="minor"/>
  </cs:upBar>
  <cs:valueAxis>
    <cs:lnRef idx="0"/>
    <cs:fillRef idx="0"/>
    <cs:effectRef idx="0"/>
    <cs:fontRef idx="minor"/>
  </cs:valueAxis>
  <cs:wall>
    <cs:lnRef idx="0"/>
    <cs:fillRef idx="0"/>
    <cs:effectRef idx="0"/>
    <cs:fontRef idx="minor"/>
  </cs:wall>
</cs:chartStyle>
</file>

<file path=ppt/charts/style2.xml><?xml version="1.0" encoding="utf-8"?>
<cs:chartStyle xmlns:cs="http://schemas.microsoft.com/office/drawing/2012/chartStyle" xmlns:a="http://schemas.openxmlformats.org/drawingml/2006/main" id="419">
  <cs:axisTitle>
    <cs:lnRef idx="0"/>
    <cs:lineWidthScale>1</cs:lineWidthScale>
    <cs:fillRef idx="0"/>
    <cs:effectRef idx="0"/>
    <cs:fontRef idx="minor"/>
    <a:defRPr sz="1800" b="0"/>
  </cs:axisTitle>
  <cs:categoryAxis>
    <cs:lnRef idx="0"/>
    <cs:fillRef idx="0"/>
    <cs:effectRef idx="0"/>
    <cs:fontRef idx="minor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chartArea>
  <cs:dataLabel>
    <cs:lnRef idx="0"/>
    <cs:fillRef idx="0"/>
    <cs:effectRef idx="0"/>
    <cs:fontRef idx="minor"/>
  </cs:dataLabel>
  <cs:dataPoint>
    <cs:lnRef idx="0"/>
    <cs:fillRef idx="0">
      <cs:styleClr val="auto"/>
    </cs:fillRef>
    <cs:effectRef idx="0"/>
    <cs:fontRef idx="minor">
      <cs:schemeClr val="tx1"/>
    </cs:fontRef>
    <cs:spPr>
      <a:solidFill>
        <a:schemeClr val="phClr"/>
      </a:solidFill>
    </cs:spPr>
  </cs:dataPoint>
  <cs:dataPoint3D>
    <cs:lnRef idx="0"/>
    <cs:fillRef idx="0"/>
    <cs:effectRef idx="0"/>
    <cs:fontRef idx="minor"/>
  </cs:dataPoint3D>
  <cs:dataPointLine>
    <cs:lnRef idx="0"/>
    <cs:fillRef idx="0"/>
    <cs:effectRef idx="0"/>
    <cs:fontRef idx="minor"/>
  </cs:dataPointLine>
  <cs:dataPointMarker>
    <cs:lnRef idx="0"/>
    <cs:fillRef idx="0"/>
    <cs:effectRef idx="0"/>
    <cs:fontRef idx="minor"/>
  </cs:dataPointMarker>
  <cs:dataPointMarkerLayout>
    <cs:lnRef idx="0"/>
    <cs:fillRef idx="0"/>
    <cs:effectRef idx="0"/>
    <cs:fontRef idx="minor"/>
  </cs:dataPointMarkerLayout>
  <cs:dataPointWireframe>
    <cs:lnRef idx="0"/>
    <cs:fillRef idx="0"/>
    <cs:effectRef idx="0"/>
    <cs:fontRef idx="minor"/>
  </cs:dataPointWireframe>
  <cs:dataTable>
    <cs:lnRef idx="0"/>
    <cs:fillRef idx="0"/>
    <cs:effectRef idx="0"/>
    <cs:fontRef idx="minor"/>
  </cs:dataTable>
  <cs:downBar>
    <cs:lnRef idx="0"/>
    <cs:fillRef idx="0"/>
    <cs:effectRef idx="0"/>
    <cs:fontRef idx="minor"/>
  </cs:downBar>
  <cs:dropLine>
    <cs:lnRef idx="0"/>
    <cs:fillRef idx="0"/>
    <cs:effectRef idx="0"/>
    <cs:fontRef idx="minor"/>
  </cs:dropLine>
  <cs:errorBar>
    <cs:lnRef idx="0"/>
    <cs:fillRef idx="0"/>
    <cs:effectRef idx="0"/>
    <cs:fontRef idx="minor"/>
  </cs:errorBar>
  <cs:floor>
    <cs:lnRef idx="0"/>
    <cs:fillRef idx="0"/>
    <cs:effectRef idx="0"/>
    <cs:fontRef idx="minor"/>
  </cs:floor>
  <cs:gridlineMajor>
    <cs:lnRef idx="0"/>
    <cs:fillRef idx="0"/>
    <cs:effectRef idx="0"/>
    <cs:fontRef idx="minor"/>
  </cs:gridlineMajor>
  <cs:gridlineMinor>
    <cs:lnRef idx="0"/>
    <cs:fillRef idx="0"/>
    <cs:effectRef idx="0"/>
    <cs:fontRef idx="minor"/>
  </cs:gridlineMinor>
  <cs:hiLoLine>
    <cs:lnRef idx="0"/>
    <cs:fillRef idx="0"/>
    <cs:effectRef idx="0"/>
    <cs:fontRef idx="minor"/>
  </cs:hiLoLine>
  <cs:leaderLine>
    <cs:lnRef idx="0"/>
    <cs:fillRef idx="0"/>
    <cs:effectRef idx="0"/>
    <cs:fontRef idx="minor"/>
  </cs:leaderLine>
  <cs:legend>
    <cs:lnRef idx="0"/>
    <cs:fillRef idx="0"/>
    <cs:effectRef idx="0"/>
    <cs:fontRef idx="minor"/>
  </cs:legend>
  <cs:plotArea>
    <cs:lnRef idx="0"/>
    <cs:fillRef idx="0"/>
    <cs:effectRef idx="0"/>
    <cs:fontRef idx="minor"/>
  </cs:plotArea>
  <cs:plotArea3D>
    <cs:lnRef idx="0"/>
    <cs:fillRef idx="0"/>
    <cs:effectRef idx="0"/>
    <cs:fontRef idx="minor"/>
  </cs:plotArea3D>
  <cs:seriesAxis>
    <cs:lnRef idx="0"/>
    <cs:fillRef idx="0"/>
    <cs:effectRef idx="0"/>
    <cs:fontRef idx="minor"/>
  </cs:seriesAxis>
  <cs:seriesLine>
    <cs:lnRef idx="0"/>
    <cs:fillRef idx="0"/>
    <cs:effectRef idx="0"/>
    <cs:fontRef idx="minor"/>
  </cs:seriesLine>
  <cs:title>
    <cs:lnRef idx="0"/>
    <cs:fillRef idx="0"/>
    <cs:effectRef idx="0"/>
    <cs:fontRef idx="minor"/>
  </cs:title>
  <cs:trendline>
    <cs:lnRef idx="0"/>
    <cs:fillRef idx="0"/>
    <cs:effectRef idx="0"/>
    <cs:fontRef idx="minor"/>
  </cs:trendline>
  <cs:trendlineLabel>
    <cs:lnRef idx="0"/>
    <cs:fillRef idx="0"/>
    <cs:effectRef idx="0"/>
    <cs:fontRef idx="minor"/>
  </cs:trendlineLabel>
  <cs:upBar>
    <cs:lnRef idx="0"/>
    <cs:fillRef idx="0"/>
    <cs:effectRef idx="0"/>
    <cs:fontRef idx="minor"/>
  </cs:upBar>
  <cs:valueAxis>
    <cs:lnRef idx="0"/>
    <cs:fillRef idx="0"/>
    <cs:effectRef idx="0"/>
    <cs:fontRef idx="minor"/>
  </cs:valueAxis>
  <cs:wall>
    <cs:lnRef idx="0"/>
    <cs:fillRef idx="0"/>
    <cs:effectRef idx="0"/>
    <cs:fontRef idx="minor"/>
  </cs:wall>
</cs:chartStyle>
</file>

<file path=ppt/charts/style3.xml><?xml version="1.0" encoding="utf-8"?>
<cs:chartStyle xmlns:cs="http://schemas.microsoft.com/office/drawing/2012/chartStyle" xmlns:a="http://schemas.openxmlformats.org/drawingml/2006/main" id="419">
  <cs:axisTitle>
    <cs:lnRef idx="0"/>
    <cs:lineWidthScale>1</cs:lineWidthScale>
    <cs:fillRef idx="0"/>
    <cs:effectRef idx="0"/>
    <cs:fontRef idx="minor"/>
    <a:defRPr sz="1800" b="0"/>
  </cs:axisTitle>
  <cs:categoryAxis>
    <cs:lnRef idx="0"/>
    <cs:fillRef idx="0"/>
    <cs:effectRef idx="0"/>
    <cs:fontRef idx="minor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chartArea>
  <cs:dataLabel>
    <cs:lnRef idx="0"/>
    <cs:fillRef idx="0"/>
    <cs:effectRef idx="0"/>
    <cs:fontRef idx="minor"/>
  </cs:dataLabel>
  <cs:dataPoint>
    <cs:lnRef idx="0"/>
    <cs:fillRef idx="0">
      <cs:styleClr val="auto"/>
    </cs:fillRef>
    <cs:effectRef idx="0"/>
    <cs:fontRef idx="minor">
      <cs:schemeClr val="tx1"/>
    </cs:fontRef>
    <cs:spPr>
      <a:solidFill>
        <a:schemeClr val="phClr"/>
      </a:solidFill>
    </cs:spPr>
  </cs:dataPoint>
  <cs:dataPoint3D>
    <cs:lnRef idx="0"/>
    <cs:fillRef idx="0"/>
    <cs:effectRef idx="0"/>
    <cs:fontRef idx="minor"/>
  </cs:dataPoint3D>
  <cs:dataPointLine>
    <cs:lnRef idx="0"/>
    <cs:fillRef idx="0"/>
    <cs:effectRef idx="0"/>
    <cs:fontRef idx="minor"/>
  </cs:dataPointLine>
  <cs:dataPointMarker>
    <cs:lnRef idx="0"/>
    <cs:fillRef idx="0"/>
    <cs:effectRef idx="0"/>
    <cs:fontRef idx="minor"/>
  </cs:dataPointMarker>
  <cs:dataPointMarkerLayout>
    <cs:lnRef idx="0"/>
    <cs:fillRef idx="0"/>
    <cs:effectRef idx="0"/>
    <cs:fontRef idx="minor"/>
  </cs:dataPointMarkerLayout>
  <cs:dataPointWireframe>
    <cs:lnRef idx="0"/>
    <cs:fillRef idx="0"/>
    <cs:effectRef idx="0"/>
    <cs:fontRef idx="minor"/>
  </cs:dataPointWireframe>
  <cs:dataTable>
    <cs:lnRef idx="0"/>
    <cs:fillRef idx="0"/>
    <cs:effectRef idx="0"/>
    <cs:fontRef idx="minor"/>
  </cs:dataTable>
  <cs:downBar>
    <cs:lnRef idx="0"/>
    <cs:fillRef idx="0"/>
    <cs:effectRef idx="0"/>
    <cs:fontRef idx="minor"/>
  </cs:downBar>
  <cs:dropLine>
    <cs:lnRef idx="0"/>
    <cs:fillRef idx="0"/>
    <cs:effectRef idx="0"/>
    <cs:fontRef idx="minor"/>
  </cs:dropLine>
  <cs:errorBar>
    <cs:lnRef idx="0"/>
    <cs:fillRef idx="0"/>
    <cs:effectRef idx="0"/>
    <cs:fontRef idx="minor"/>
  </cs:errorBar>
  <cs:floor>
    <cs:lnRef idx="0"/>
    <cs:fillRef idx="0"/>
    <cs:effectRef idx="0"/>
    <cs:fontRef idx="minor"/>
  </cs:floor>
  <cs:gridlineMajor>
    <cs:lnRef idx="0"/>
    <cs:fillRef idx="0"/>
    <cs:effectRef idx="0"/>
    <cs:fontRef idx="minor"/>
  </cs:gridlineMajor>
  <cs:gridlineMinor>
    <cs:lnRef idx="0"/>
    <cs:fillRef idx="0"/>
    <cs:effectRef idx="0"/>
    <cs:fontRef idx="minor"/>
  </cs:gridlineMinor>
  <cs:hiLoLine>
    <cs:lnRef idx="0"/>
    <cs:fillRef idx="0"/>
    <cs:effectRef idx="0"/>
    <cs:fontRef idx="minor"/>
  </cs:hiLoLine>
  <cs:leaderLine>
    <cs:lnRef idx="0"/>
    <cs:fillRef idx="0"/>
    <cs:effectRef idx="0"/>
    <cs:fontRef idx="minor"/>
  </cs:leaderLine>
  <cs:legend>
    <cs:lnRef idx="0"/>
    <cs:fillRef idx="0"/>
    <cs:effectRef idx="0"/>
    <cs:fontRef idx="minor"/>
  </cs:legend>
  <cs:plotArea>
    <cs:lnRef idx="0"/>
    <cs:fillRef idx="0"/>
    <cs:effectRef idx="0"/>
    <cs:fontRef idx="minor"/>
  </cs:plotArea>
  <cs:plotArea3D>
    <cs:lnRef idx="0"/>
    <cs:fillRef idx="0"/>
    <cs:effectRef idx="0"/>
    <cs:fontRef idx="minor"/>
  </cs:plotArea3D>
  <cs:seriesAxis>
    <cs:lnRef idx="0"/>
    <cs:fillRef idx="0"/>
    <cs:effectRef idx="0"/>
    <cs:fontRef idx="minor"/>
  </cs:seriesAxis>
  <cs:seriesLine>
    <cs:lnRef idx="0"/>
    <cs:fillRef idx="0"/>
    <cs:effectRef idx="0"/>
    <cs:fontRef idx="minor"/>
  </cs:seriesLine>
  <cs:title>
    <cs:lnRef idx="0"/>
    <cs:fillRef idx="0"/>
    <cs:effectRef idx="0"/>
    <cs:fontRef idx="minor"/>
  </cs:title>
  <cs:trendline>
    <cs:lnRef idx="0"/>
    <cs:fillRef idx="0"/>
    <cs:effectRef idx="0"/>
    <cs:fontRef idx="minor"/>
  </cs:trendline>
  <cs:trendlineLabel>
    <cs:lnRef idx="0"/>
    <cs:fillRef idx="0"/>
    <cs:effectRef idx="0"/>
    <cs:fontRef idx="minor"/>
  </cs:trendlineLabel>
  <cs:upBar>
    <cs:lnRef idx="0"/>
    <cs:fillRef idx="0"/>
    <cs:effectRef idx="0"/>
    <cs:fontRef idx="minor"/>
  </cs:upBar>
  <cs:valueAxis>
    <cs:lnRef idx="0"/>
    <cs:fillRef idx="0"/>
    <cs:effectRef idx="0"/>
    <cs:fontRef idx="minor"/>
  </cs:valueAxis>
  <cs:wall>
    <cs:lnRef idx="0"/>
    <cs:fillRef idx="0"/>
    <cs:effectRef idx="0"/>
    <cs:fontRef idx="minor"/>
  </cs:wall>
</cs:chartStyle>
</file>

<file path=ppt/charts/style4.xml><?xml version="1.0" encoding="utf-8"?>
<cs:chartStyle xmlns:cs="http://schemas.microsoft.com/office/drawing/2012/chartStyle" xmlns:a="http://schemas.openxmlformats.org/drawingml/2006/main" id="419">
  <cs:axisTitle>
    <cs:lnRef idx="0"/>
    <cs:lineWidthScale>1</cs:lineWidthScale>
    <cs:fillRef idx="0"/>
    <cs:effectRef idx="0"/>
    <cs:fontRef idx="minor"/>
    <a:defRPr sz="1800" b="0"/>
  </cs:axisTitle>
  <cs:categoryAxis>
    <cs:lnRef idx="0"/>
    <cs:fillRef idx="0"/>
    <cs:effectRef idx="0"/>
    <cs:fontRef idx="minor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chartArea>
  <cs:dataLabel>
    <cs:lnRef idx="0"/>
    <cs:fillRef idx="0"/>
    <cs:effectRef idx="0"/>
    <cs:fontRef idx="minor"/>
  </cs:dataLabel>
  <cs:dataPoint>
    <cs:lnRef idx="0"/>
    <cs:fillRef idx="0">
      <cs:styleClr val="auto"/>
    </cs:fillRef>
    <cs:effectRef idx="0"/>
    <cs:fontRef idx="minor">
      <cs:schemeClr val="tx1"/>
    </cs:fontRef>
    <cs:spPr>
      <a:solidFill>
        <a:schemeClr val="phClr"/>
      </a:solidFill>
    </cs:spPr>
  </cs:dataPoint>
  <cs:dataPoint3D>
    <cs:lnRef idx="0"/>
    <cs:fillRef idx="0"/>
    <cs:effectRef idx="0"/>
    <cs:fontRef idx="minor"/>
  </cs:dataPoint3D>
  <cs:dataPointLine>
    <cs:lnRef idx="0"/>
    <cs:fillRef idx="0"/>
    <cs:effectRef idx="0"/>
    <cs:fontRef idx="minor"/>
  </cs:dataPointLine>
  <cs:dataPointMarker>
    <cs:lnRef idx="0"/>
    <cs:fillRef idx="0"/>
    <cs:effectRef idx="0"/>
    <cs:fontRef idx="minor"/>
  </cs:dataPointMarker>
  <cs:dataPointMarkerLayout>
    <cs:lnRef idx="0"/>
    <cs:fillRef idx="0"/>
    <cs:effectRef idx="0"/>
    <cs:fontRef idx="minor"/>
  </cs:dataPointMarkerLayout>
  <cs:dataPointWireframe>
    <cs:lnRef idx="0"/>
    <cs:fillRef idx="0"/>
    <cs:effectRef idx="0"/>
    <cs:fontRef idx="minor"/>
  </cs:dataPointWireframe>
  <cs:dataTable>
    <cs:lnRef idx="0"/>
    <cs:fillRef idx="0"/>
    <cs:effectRef idx="0"/>
    <cs:fontRef idx="minor"/>
  </cs:dataTable>
  <cs:downBar>
    <cs:lnRef idx="0"/>
    <cs:fillRef idx="0"/>
    <cs:effectRef idx="0"/>
    <cs:fontRef idx="minor"/>
  </cs:downBar>
  <cs:dropLine>
    <cs:lnRef idx="0"/>
    <cs:fillRef idx="0"/>
    <cs:effectRef idx="0"/>
    <cs:fontRef idx="minor"/>
  </cs:dropLine>
  <cs:errorBar>
    <cs:lnRef idx="0"/>
    <cs:fillRef idx="0"/>
    <cs:effectRef idx="0"/>
    <cs:fontRef idx="minor"/>
  </cs:errorBar>
  <cs:floor>
    <cs:lnRef idx="0"/>
    <cs:fillRef idx="0"/>
    <cs:effectRef idx="0"/>
    <cs:fontRef idx="minor"/>
  </cs:floor>
  <cs:gridlineMajor>
    <cs:lnRef idx="0"/>
    <cs:fillRef idx="0"/>
    <cs:effectRef idx="0"/>
    <cs:fontRef idx="minor"/>
  </cs:gridlineMajor>
  <cs:gridlineMinor>
    <cs:lnRef idx="0"/>
    <cs:fillRef idx="0"/>
    <cs:effectRef idx="0"/>
    <cs:fontRef idx="minor"/>
  </cs:gridlineMinor>
  <cs:hiLoLine>
    <cs:lnRef idx="0"/>
    <cs:fillRef idx="0"/>
    <cs:effectRef idx="0"/>
    <cs:fontRef idx="minor"/>
  </cs:hiLoLine>
  <cs:leaderLine>
    <cs:lnRef idx="0"/>
    <cs:fillRef idx="0"/>
    <cs:effectRef idx="0"/>
    <cs:fontRef idx="minor"/>
  </cs:leaderLine>
  <cs:legend>
    <cs:lnRef idx="0"/>
    <cs:fillRef idx="0"/>
    <cs:effectRef idx="0"/>
    <cs:fontRef idx="minor"/>
  </cs:legend>
  <cs:plotArea>
    <cs:lnRef idx="0"/>
    <cs:fillRef idx="0"/>
    <cs:effectRef idx="0"/>
    <cs:fontRef idx="minor"/>
  </cs:plotArea>
  <cs:plotArea3D>
    <cs:lnRef idx="0"/>
    <cs:fillRef idx="0"/>
    <cs:effectRef idx="0"/>
    <cs:fontRef idx="minor"/>
  </cs:plotArea3D>
  <cs:seriesAxis>
    <cs:lnRef idx="0"/>
    <cs:fillRef idx="0"/>
    <cs:effectRef idx="0"/>
    <cs:fontRef idx="minor"/>
  </cs:seriesAxis>
  <cs:seriesLine>
    <cs:lnRef idx="0"/>
    <cs:fillRef idx="0"/>
    <cs:effectRef idx="0"/>
    <cs:fontRef idx="minor"/>
  </cs:seriesLine>
  <cs:title>
    <cs:lnRef idx="0"/>
    <cs:fillRef idx="0"/>
    <cs:effectRef idx="0"/>
    <cs:fontRef idx="minor"/>
  </cs:title>
  <cs:trendline>
    <cs:lnRef idx="0"/>
    <cs:fillRef idx="0"/>
    <cs:effectRef idx="0"/>
    <cs:fontRef idx="minor"/>
  </cs:trendline>
  <cs:trendlineLabel>
    <cs:lnRef idx="0"/>
    <cs:fillRef idx="0"/>
    <cs:effectRef idx="0"/>
    <cs:fontRef idx="minor"/>
  </cs:trendlineLabel>
  <cs:upBar>
    <cs:lnRef idx="0"/>
    <cs:fillRef idx="0"/>
    <cs:effectRef idx="0"/>
    <cs:fontRef idx="minor"/>
  </cs:upBar>
  <cs:valueAxis>
    <cs:lnRef idx="0"/>
    <cs:fillRef idx="0"/>
    <cs:effectRef idx="0"/>
    <cs:fontRef idx="minor"/>
  </cs:valueAxis>
  <cs:wall>
    <cs:lnRef idx="0"/>
    <cs:fillRef idx="0"/>
    <cs:effectRef idx="0"/>
    <cs:fontRef idx="minor"/>
  </cs:wall>
</cs:chartStyle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r>
              <a:rPr lang="fr-FR" sz="1800" b="0" u="none" strike="noStrike">
                <a:solidFill>
                  <a:schemeClr val="dk1"/>
                </a:solidFill>
                <a:effectLst/>
                <a:uFillTx/>
                <a:latin typeface="Roboto"/>
              </a:rPr>
              <a:t>Click </a:t>
            </a:r>
            <a:r>
              <a:rPr lang="fr-FR" sz="1800" b="0" u="none" strike="noStrike">
                <a:solidFill>
                  <a:schemeClr val="dk1"/>
                </a:solidFill>
                <a:effectLst/>
                <a:uFillTx/>
                <a:latin typeface="Roboto"/>
              </a:rPr>
              <a:t>to </a:t>
            </a:r>
            <a:r>
              <a:rPr lang="fr-FR" sz="1800" b="0" u="none" strike="noStrike">
                <a:solidFill>
                  <a:schemeClr val="dk1"/>
                </a:solidFill>
                <a:effectLst/>
                <a:uFillTx/>
                <a:latin typeface="Roboto"/>
              </a:rPr>
              <a:t>mov</a:t>
            </a:r>
            <a:r>
              <a:rPr lang="fr-FR" sz="1800" b="0" u="none" strike="noStrike">
                <a:solidFill>
                  <a:schemeClr val="dk1"/>
                </a:solidFill>
                <a:effectLst/>
                <a:uFillTx/>
                <a:latin typeface="Roboto"/>
              </a:rPr>
              <a:t>e the </a:t>
            </a:r>
            <a:r>
              <a:rPr lang="fr-FR" sz="1800" b="0" u="none" strike="noStrike">
                <a:solidFill>
                  <a:schemeClr val="dk1"/>
                </a:solidFill>
                <a:effectLst/>
                <a:uFillTx/>
                <a:latin typeface="Roboto"/>
              </a:rPr>
              <a:t>slide</a:t>
            </a:r>
            <a:endParaRPr lang="fr-FR" sz="1800" b="0" u="none" strike="noStrike">
              <a:solidFill>
                <a:schemeClr val="dk1"/>
              </a:solidFill>
              <a:effectLst/>
              <a:uFillTx/>
              <a:latin typeface="Roboto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fr-F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</a:t>
            </a:r>
            <a:r>
              <a:rPr lang="fr-F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k to </a:t>
            </a:r>
            <a:r>
              <a:rPr lang="fr-F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edit </a:t>
            </a:r>
            <a:r>
              <a:rPr lang="fr-F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the </a:t>
            </a:r>
            <a:r>
              <a:rPr lang="fr-F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note</a:t>
            </a:r>
            <a:r>
              <a:rPr lang="fr-F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 </a:t>
            </a:r>
            <a:r>
              <a:rPr lang="fr-F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form</a:t>
            </a:r>
            <a:r>
              <a:rPr lang="fr-F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at</a:t>
            </a:r>
            <a:endParaRPr lang="fr-F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fr-F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" name="PlaceHolder 4"/>
          <p:cNvSpPr>
            <a:spLocks noGrp="1"/>
          </p:cNvSpPr>
          <p:nvPr>
            <p:ph type="dt" idx="1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buNone/>
              <a:defRPr lang="fr-F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fr-F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" name="PlaceHolder 5"/>
          <p:cNvSpPr>
            <a:spLocks noGrp="1"/>
          </p:cNvSpPr>
          <p:nvPr>
            <p:ph type="ftr" idx="2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l">
              <a:buNone/>
              <a:defRPr lang="fr-F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fr-F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" name="PlaceHolder 6"/>
          <p:cNvSpPr>
            <a:spLocks noGrp="1"/>
          </p:cNvSpPr>
          <p:nvPr>
            <p:ph type="sldNum" idx="3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r">
              <a:buNone/>
              <a:defRPr lang="fr-F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FDB8C9AD-666B-424E-A1E2-87D1B23B7263}" type="slidenum"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1</a:t>
            </a:fld>
            <a:endParaRPr lang="fr-F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
</Relationships>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
</Relationships>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
</Relationships>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
</Relationships>
</file>

<file path=ppt/notesSlides/_rels/notesSlide6.xml.rels><?xml version="1.0" encoding="UTF-8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
</Relationships>
</file>

<file path=ppt/notesSlides/_rels/notesSlide7.xml.rels><?xml version="1.0" encoding="UTF-8"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
</Relationships>
</file>

<file path=ppt/notesSlides/_rels/notesSlide8.xml.rels><?xml version="1.0" encoding="UTF-8"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
</Relationships>
</file>

<file path=ppt/notesSlides/_rels/notesSlide9.xml.rels><?xml version="1.0" encoding="UTF-8"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
</Relationships>
</file>

<file path=ppt/notesSlides/_rels/notesSlide10.xml.rels><?xml version="1.0" encoding="UTF-8"?>
<Relationships xmlns="http://schemas.openxmlformats.org/package/2006/relationships"><Relationship Id="rId1" Type="http://schemas.openxmlformats.org/officeDocument/2006/relationships/slide" Target="../slides/slide10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4240" cy="3084120"/>
          </a:xfrm>
          <a:prstGeom prst="rect">
            <a:avLst/>
          </a:prstGeom>
          <a:ln w="0">
            <a:noFill/>
          </a:ln>
        </p:spPr>
      </p:sp>
      <p:sp>
        <p:nvSpPr>
          <p:cNvPr id="105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240" cy="3598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53" name="PlaceHolder 3"/>
          <p:cNvSpPr>
            <a:spLocks noGrp="1"/>
          </p:cNvSpPr>
          <p:nvPr>
            <p:ph type="sldNum" idx="4"/>
          </p:nvPr>
        </p:nvSpPr>
        <p:spPr>
          <a:xfrm>
            <a:off x="3884760" y="8685360"/>
            <a:ext cx="2969640" cy="4564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06926367-C886-4254-9279-5D38A6F482DC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fr-F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4240" cy="3084120"/>
          </a:xfrm>
          <a:prstGeom prst="rect">
            <a:avLst/>
          </a:prstGeom>
          <a:ln w="0">
            <a:noFill/>
          </a:ln>
        </p:spPr>
      </p:sp>
      <p:sp>
        <p:nvSpPr>
          <p:cNvPr id="105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240" cy="3598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56" name="PlaceHolder 3"/>
          <p:cNvSpPr>
            <a:spLocks noGrp="1"/>
          </p:cNvSpPr>
          <p:nvPr>
            <p:ph type="sldNum" idx="5"/>
          </p:nvPr>
        </p:nvSpPr>
        <p:spPr>
          <a:xfrm>
            <a:off x="3884760" y="8685360"/>
            <a:ext cx="2969640" cy="4564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9BB5E88A-3C9A-496D-A88C-CA17BB851C25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fr-F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4240" cy="3084120"/>
          </a:xfrm>
          <a:prstGeom prst="rect">
            <a:avLst/>
          </a:prstGeom>
          <a:ln w="0">
            <a:noFill/>
          </a:ln>
        </p:spPr>
      </p:sp>
      <p:sp>
        <p:nvSpPr>
          <p:cNvPr id="105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240" cy="3598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59" name="PlaceHolder 3"/>
          <p:cNvSpPr>
            <a:spLocks noGrp="1"/>
          </p:cNvSpPr>
          <p:nvPr>
            <p:ph type="sldNum" idx="6"/>
          </p:nvPr>
        </p:nvSpPr>
        <p:spPr>
          <a:xfrm>
            <a:off x="3884760" y="8685360"/>
            <a:ext cx="2969640" cy="4564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C753C194-DF09-49E9-8D41-6530C8B7075D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fr-F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4240" cy="3084120"/>
          </a:xfrm>
          <a:prstGeom prst="rect">
            <a:avLst/>
          </a:prstGeom>
          <a:ln w="0">
            <a:noFill/>
          </a:ln>
        </p:spPr>
      </p:sp>
      <p:sp>
        <p:nvSpPr>
          <p:cNvPr id="106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240" cy="3598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62" name="PlaceHolder 3"/>
          <p:cNvSpPr>
            <a:spLocks noGrp="1"/>
          </p:cNvSpPr>
          <p:nvPr>
            <p:ph type="sldNum" idx="7"/>
          </p:nvPr>
        </p:nvSpPr>
        <p:spPr>
          <a:xfrm>
            <a:off x="3884760" y="8685360"/>
            <a:ext cx="2969640" cy="4564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83A07DFA-82E5-447B-A3F2-43262CBE66A9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fr-F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4240" cy="3084120"/>
          </a:xfrm>
          <a:prstGeom prst="rect">
            <a:avLst/>
          </a:prstGeom>
          <a:ln w="0">
            <a:noFill/>
          </a:ln>
        </p:spPr>
      </p:sp>
      <p:sp>
        <p:nvSpPr>
          <p:cNvPr id="106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240" cy="3598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65" name="PlaceHolder 3"/>
          <p:cNvSpPr>
            <a:spLocks noGrp="1"/>
          </p:cNvSpPr>
          <p:nvPr>
            <p:ph type="sldNum" idx="8"/>
          </p:nvPr>
        </p:nvSpPr>
        <p:spPr>
          <a:xfrm>
            <a:off x="3884760" y="8685360"/>
            <a:ext cx="2969640" cy="4564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94A28418-9B8E-4E72-9753-C440D445C625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fr-F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4240" cy="3084120"/>
          </a:xfrm>
          <a:prstGeom prst="rect">
            <a:avLst/>
          </a:prstGeom>
          <a:ln w="0">
            <a:noFill/>
          </a:ln>
        </p:spPr>
      </p:sp>
      <p:sp>
        <p:nvSpPr>
          <p:cNvPr id="106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240" cy="3598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68" name="PlaceHolder 3"/>
          <p:cNvSpPr>
            <a:spLocks noGrp="1"/>
          </p:cNvSpPr>
          <p:nvPr>
            <p:ph type="sldNum" idx="9"/>
          </p:nvPr>
        </p:nvSpPr>
        <p:spPr>
          <a:xfrm>
            <a:off x="3884760" y="8685360"/>
            <a:ext cx="2969640" cy="4564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21C87FD6-1A20-4D89-BE49-C6F0EF5E599E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fr-F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4240" cy="3084120"/>
          </a:xfrm>
          <a:prstGeom prst="rect">
            <a:avLst/>
          </a:prstGeom>
          <a:ln w="0">
            <a:noFill/>
          </a:ln>
        </p:spPr>
      </p:sp>
      <p:sp>
        <p:nvSpPr>
          <p:cNvPr id="107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240" cy="3598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71" name="PlaceHolder 3"/>
          <p:cNvSpPr>
            <a:spLocks noGrp="1"/>
          </p:cNvSpPr>
          <p:nvPr>
            <p:ph type="sldNum" idx="10"/>
          </p:nvPr>
        </p:nvSpPr>
        <p:spPr>
          <a:xfrm>
            <a:off x="3884760" y="8685360"/>
            <a:ext cx="2969640" cy="4564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703A9D27-99AD-48D2-B3B0-86F80D5694CE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fr-F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4240" cy="3084120"/>
          </a:xfrm>
          <a:prstGeom prst="rect">
            <a:avLst/>
          </a:prstGeom>
          <a:ln w="0">
            <a:noFill/>
          </a:ln>
        </p:spPr>
      </p:sp>
      <p:sp>
        <p:nvSpPr>
          <p:cNvPr id="107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240" cy="3598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74" name="PlaceHolder 3"/>
          <p:cNvSpPr>
            <a:spLocks noGrp="1"/>
          </p:cNvSpPr>
          <p:nvPr>
            <p:ph type="sldNum" idx="11"/>
          </p:nvPr>
        </p:nvSpPr>
        <p:spPr>
          <a:xfrm>
            <a:off x="3884760" y="8685360"/>
            <a:ext cx="2969640" cy="4564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F4D75005-BEA0-4B35-813A-515F565CABBB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fr-F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4240" cy="3084120"/>
          </a:xfrm>
          <a:prstGeom prst="rect">
            <a:avLst/>
          </a:prstGeom>
          <a:ln w="0">
            <a:noFill/>
          </a:ln>
        </p:spPr>
      </p:sp>
      <p:sp>
        <p:nvSpPr>
          <p:cNvPr id="107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240" cy="3598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77" name="PlaceHolder 3"/>
          <p:cNvSpPr>
            <a:spLocks noGrp="1"/>
          </p:cNvSpPr>
          <p:nvPr>
            <p:ph type="sldNum" idx="12"/>
          </p:nvPr>
        </p:nvSpPr>
        <p:spPr>
          <a:xfrm>
            <a:off x="3884760" y="8685360"/>
            <a:ext cx="2969640" cy="4564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C394A76A-AB4B-479A-A876-743B15AE7640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fr-F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4240" cy="3084120"/>
          </a:xfrm>
          <a:prstGeom prst="rect">
            <a:avLst/>
          </a:prstGeom>
          <a:ln w="0">
            <a:noFill/>
          </a:ln>
        </p:spPr>
      </p:sp>
      <p:sp>
        <p:nvSpPr>
          <p:cNvPr id="107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240" cy="3598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80" name="PlaceHolder 3"/>
          <p:cNvSpPr>
            <a:spLocks noGrp="1"/>
          </p:cNvSpPr>
          <p:nvPr>
            <p:ph type="sldNum" idx="13"/>
          </p:nvPr>
        </p:nvSpPr>
        <p:spPr>
          <a:xfrm>
            <a:off x="3884760" y="8685360"/>
            <a:ext cx="2969640" cy="4564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83B963DD-0E72-4CCA-9AFD-CAFE5001AC81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fr-F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>
              <a:buNone/>
              <a:tabLst>
                <a:tab pos="0" algn="l"/>
              </a:tabLst>
              <a:defRPr lang="fr-FR" sz="1800" b="0" u="none" strike="noStrike">
                <a:solidFill>
                  <a:schemeClr val="dk1"/>
                </a:solidFill>
                <a:effectLst/>
                <a:uFillTx/>
                <a:latin typeface="Roboto"/>
              </a:defRPr>
            </a:lvl1pPr>
          </a:lstStyle>
          <a:p>
            <a:pPr indent="0" algn="l">
              <a:buNone/>
              <a:tabLst>
                <a:tab pos="0" algn="l"/>
              </a:tabLst>
            </a:pPr>
            <a:r>
              <a:rPr lang="fr-FR" sz="1800" b="0" u="none" strike="noStrike">
                <a:solidFill>
                  <a:schemeClr val="dk1"/>
                </a:solidFill>
                <a:effectLst/>
                <a:uFillTx/>
                <a:latin typeface="Roboto"/>
              </a:rPr>
              <a:t>Click </a:t>
            </a:r>
            <a:r>
              <a:rPr lang="fr-FR" sz="1800" b="0" u="none" strike="noStrike">
                <a:solidFill>
                  <a:schemeClr val="dk1"/>
                </a:solidFill>
                <a:effectLst/>
                <a:uFillTx/>
                <a:latin typeface="Roboto"/>
              </a:rPr>
              <a:t>to </a:t>
            </a:r>
            <a:r>
              <a:rPr lang="fr-FR" sz="1800" b="0" u="none" strike="noStrike">
                <a:solidFill>
                  <a:schemeClr val="dk1"/>
                </a:solidFill>
                <a:effectLst/>
                <a:uFillTx/>
                <a:latin typeface="Roboto"/>
              </a:rPr>
              <a:t>edit </a:t>
            </a:r>
            <a:r>
              <a:rPr lang="fr-FR" sz="1800" b="0" u="none" strike="noStrike">
                <a:solidFill>
                  <a:schemeClr val="dk1"/>
                </a:solidFill>
                <a:effectLst/>
                <a:uFillTx/>
                <a:latin typeface="Roboto"/>
              </a:rPr>
              <a:t>the </a:t>
            </a:r>
            <a:r>
              <a:rPr lang="fr-FR" sz="1800" b="0" u="none" strike="noStrike">
                <a:solidFill>
                  <a:schemeClr val="dk1"/>
                </a:solidFill>
                <a:effectLst/>
                <a:uFillTx/>
                <a:latin typeface="Roboto"/>
              </a:rPr>
              <a:t>title </a:t>
            </a:r>
            <a:r>
              <a:rPr lang="fr-FR" sz="1800" b="0" u="none" strike="noStrike">
                <a:solidFill>
                  <a:schemeClr val="dk1"/>
                </a:solidFill>
                <a:effectLst/>
                <a:uFillTx/>
                <a:latin typeface="Roboto"/>
              </a:rPr>
              <a:t>text </a:t>
            </a:r>
            <a:r>
              <a:rPr lang="fr-FR" sz="1800" b="0" u="none" strike="noStrike">
                <a:solidFill>
                  <a:schemeClr val="dk1"/>
                </a:solidFill>
                <a:effectLst/>
                <a:uFillTx/>
                <a:latin typeface="Roboto"/>
              </a:rPr>
              <a:t>form</a:t>
            </a:r>
            <a:r>
              <a:rPr lang="fr-FR" sz="1800" b="0" u="none" strike="noStrike">
                <a:solidFill>
                  <a:schemeClr val="dk1"/>
                </a:solidFill>
                <a:effectLst/>
                <a:uFillTx/>
                <a:latin typeface="Roboto"/>
              </a:rPr>
              <a:t>at</a:t>
            </a:r>
            <a:endParaRPr lang="fr-FR" sz="1800" b="0" u="none" strike="noStrike">
              <a:solidFill>
                <a:schemeClr val="dk1"/>
              </a:solidFill>
              <a:effectLst/>
              <a:uFillTx/>
              <a:latin typeface="Roboto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fr-FR" sz="3200" b="0" u="none" strike="noStrike">
                <a:solidFill>
                  <a:schemeClr val="dk1"/>
                </a:solidFill>
                <a:effectLst/>
                <a:uFillTx/>
                <a:latin typeface="Roboto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fr-FR" sz="2400" b="0" u="none" strike="noStrike">
                <a:solidFill>
                  <a:schemeClr val="dk1"/>
                </a:solidFill>
                <a:effectLst/>
                <a:uFillTx/>
                <a:latin typeface="Roboto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fr-FR" sz="2000" b="0" u="none" strike="noStrike">
                <a:solidFill>
                  <a:schemeClr val="dk1"/>
                </a:solidFill>
                <a:effectLst/>
                <a:uFillTx/>
                <a:latin typeface="Roboto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fr-FR" sz="2000" b="0" u="none" strike="noStrike">
                <a:solidFill>
                  <a:schemeClr val="dk1"/>
                </a:solidFill>
                <a:effectLst/>
                <a:uFillTx/>
                <a:latin typeface="Roboto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fr-FR" sz="2000" b="0" u="none" strike="noStrike">
                <a:solidFill>
                  <a:schemeClr val="dk1"/>
                </a:solidFill>
                <a:effectLst/>
                <a:uFillTx/>
                <a:latin typeface="Roboto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fr-FR" sz="2000" b="0" u="none" strike="noStrike">
                <a:solidFill>
                  <a:schemeClr val="dk1"/>
                </a:solidFill>
                <a:effectLst/>
                <a:uFillTx/>
                <a:latin typeface="Roboto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fr-FR" sz="2000" b="0" u="none" strike="noStrike">
                <a:solidFill>
                  <a:schemeClr val="dk1"/>
                </a:solidFill>
                <a:effectLst/>
                <a:uFillTx/>
                <a:latin typeface="Roboto"/>
              </a:defRPr>
            </a:lvl7pPr>
          </a:lstStyle>
          <a:p>
            <a:pPr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3200" b="0" u="none" strike="noStrike">
                <a:solidFill>
                  <a:schemeClr val="dk1"/>
                </a:solidFill>
                <a:effectLst/>
                <a:uFillTx/>
                <a:latin typeface="Roboto"/>
              </a:rPr>
              <a:t>Click to edit the outline text format</a:t>
            </a:r>
            <a:endParaRPr lang="fr-FR" sz="3200" b="0" u="none" strike="noStrike">
              <a:solidFill>
                <a:schemeClr val="dk1"/>
              </a:solidFill>
              <a:effectLst/>
              <a:uFillTx/>
              <a:latin typeface="Roboto"/>
            </a:endParaRPr>
          </a:p>
          <a:p>
            <a:pPr marL="864000" lvl="1" indent="-3240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2400" b="0" u="none" strike="noStrike">
                <a:solidFill>
                  <a:schemeClr val="dk1"/>
                </a:solidFill>
                <a:effectLst/>
                <a:uFillTx/>
                <a:latin typeface="Roboto"/>
              </a:rPr>
              <a:t>Second Outline Level</a:t>
            </a:r>
            <a:endParaRPr lang="fr-FR" sz="2400" b="0" u="none" strike="noStrike">
              <a:solidFill>
                <a:schemeClr val="dk1"/>
              </a:solidFill>
              <a:effectLst/>
              <a:uFillTx/>
              <a:latin typeface="Roboto"/>
            </a:endParaRPr>
          </a:p>
          <a:p>
            <a:pPr marL="1296000" lvl="2" indent="-2880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2000" b="0" u="none" strike="noStrike">
                <a:solidFill>
                  <a:schemeClr val="dk1"/>
                </a:solidFill>
                <a:effectLst/>
                <a:uFillTx/>
                <a:latin typeface="Roboto"/>
              </a:rPr>
              <a:t>Third Outline Level</a:t>
            </a:r>
            <a:endParaRPr lang="fr-FR" sz="2000" b="0" u="none" strike="noStrike">
              <a:solidFill>
                <a:schemeClr val="dk1"/>
              </a:solidFill>
              <a:effectLst/>
              <a:uFillTx/>
              <a:latin typeface="Roboto"/>
            </a:endParaRPr>
          </a:p>
          <a:p>
            <a:pPr marL="1728000" lvl="3" indent="-2160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2000" b="0" u="none" strike="noStrike">
                <a:solidFill>
                  <a:schemeClr val="dk1"/>
                </a:solidFill>
                <a:effectLst/>
                <a:uFillTx/>
                <a:latin typeface="Roboto"/>
              </a:rPr>
              <a:t>Fourth Outline Level</a:t>
            </a:r>
            <a:endParaRPr lang="fr-FR" sz="2000" b="0" u="none" strike="noStrike">
              <a:solidFill>
                <a:schemeClr val="dk1"/>
              </a:solidFill>
              <a:effectLst/>
              <a:uFillTx/>
              <a:latin typeface="Roboto"/>
            </a:endParaRPr>
          </a:p>
          <a:p>
            <a:pPr marL="2160000" lvl="4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2000" b="0" u="none" strike="noStrike">
                <a:solidFill>
                  <a:schemeClr val="dk1"/>
                </a:solidFill>
                <a:effectLst/>
                <a:uFillTx/>
                <a:latin typeface="Roboto"/>
              </a:rPr>
              <a:t>Fifth Outline Level</a:t>
            </a:r>
            <a:endParaRPr lang="fr-FR" sz="2000" b="0" u="none" strike="noStrike">
              <a:solidFill>
                <a:schemeClr val="dk1"/>
              </a:solidFill>
              <a:effectLst/>
              <a:uFillTx/>
              <a:latin typeface="Roboto"/>
            </a:endParaRPr>
          </a:p>
          <a:p>
            <a:pPr marL="2592000" lvl="5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2000" b="0" u="none" strike="noStrike">
                <a:solidFill>
                  <a:schemeClr val="dk1"/>
                </a:solidFill>
                <a:effectLst/>
                <a:uFillTx/>
                <a:latin typeface="Roboto"/>
              </a:rPr>
              <a:t>Sixth Outline Level</a:t>
            </a:r>
            <a:endParaRPr lang="fr-FR" sz="2000" b="0" u="none" strike="noStrike">
              <a:solidFill>
                <a:schemeClr val="dk1"/>
              </a:solidFill>
              <a:effectLst/>
              <a:uFillTx/>
              <a:latin typeface="Roboto"/>
            </a:endParaRPr>
          </a:p>
          <a:p>
            <a:pPr marL="3024000" lvl="6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2000" b="0" u="none" strike="noStrike">
                <a:solidFill>
                  <a:schemeClr val="dk1"/>
                </a:solidFill>
                <a:effectLst/>
                <a:uFillTx/>
                <a:latin typeface="Roboto"/>
              </a:rPr>
              <a:t>Seventh Outline Level</a:t>
            </a:r>
            <a:endParaRPr lang="fr-FR" sz="2000" b="0" u="none" strike="noStrike">
              <a:solidFill>
                <a:schemeClr val="dk1"/>
              </a:solidFill>
              <a:effectLst/>
              <a:uFillTx/>
              <a:latin typeface="Roboto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chart" Target="..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chart" Target="../charts/chart2.xml"/><Relationship Id="rId2" Type="http://schemas.openxmlformats.org/officeDocument/2006/relationships/chart" Target="../charts/chart3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chart" Target="../charts/chart4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hape 0"/>
          <p:cNvSpPr/>
          <p:nvPr/>
        </p:nvSpPr>
        <p:spPr>
          <a:xfrm>
            <a:off x="0" y="0"/>
            <a:ext cx="360" cy="6858000"/>
          </a:xfrm>
          <a:prstGeom prst="line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0" tIns="45000" rIns="0" bIns="45000" anchor="t" anchorCtr="1">
            <a:noAutofit/>
          </a:bodyPr>
          <a:p>
            <a:endParaRPr lang="fr-FR" sz="1800" b="0" u="none" strike="noStrike">
              <a:solidFill>
                <a:srgbClr val="FFFFFF"/>
              </a:solidFill>
              <a:effectLst/>
              <a:uFillTx/>
              <a:latin typeface="Roboto"/>
            </a:endParaRPr>
          </a:p>
        </p:txBody>
      </p:sp>
      <p:sp>
        <p:nvSpPr>
          <p:cNvPr id="11" name="Shape 1"/>
          <p:cNvSpPr/>
          <p:nvPr/>
        </p:nvSpPr>
        <p:spPr>
          <a:xfrm>
            <a:off x="304560" y="0"/>
            <a:ext cx="360" cy="6858000"/>
          </a:xfrm>
          <a:prstGeom prst="line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0" tIns="45000" rIns="0" bIns="45000" anchor="t" anchorCtr="1">
            <a:noAutofit/>
          </a:bodyPr>
          <a:p>
            <a:endParaRPr lang="fr-FR" sz="1800" b="0" u="none" strike="noStrike">
              <a:solidFill>
                <a:srgbClr val="FFFFFF"/>
              </a:solidFill>
              <a:effectLst/>
              <a:uFillTx/>
              <a:latin typeface="Roboto"/>
            </a:endParaRPr>
          </a:p>
        </p:txBody>
      </p:sp>
      <p:sp>
        <p:nvSpPr>
          <p:cNvPr id="12" name="Shape 2"/>
          <p:cNvSpPr/>
          <p:nvPr/>
        </p:nvSpPr>
        <p:spPr>
          <a:xfrm>
            <a:off x="609480" y="0"/>
            <a:ext cx="360" cy="6858000"/>
          </a:xfrm>
          <a:prstGeom prst="line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0" tIns="45000" rIns="0" bIns="45000" anchor="t" anchorCtr="1">
            <a:noAutofit/>
          </a:bodyPr>
          <a:p>
            <a:endParaRPr lang="fr-FR" sz="1800" b="0" u="none" strike="noStrike">
              <a:solidFill>
                <a:srgbClr val="FFFFFF"/>
              </a:solidFill>
              <a:effectLst/>
              <a:uFillTx/>
              <a:latin typeface="Roboto"/>
            </a:endParaRPr>
          </a:p>
        </p:txBody>
      </p:sp>
      <p:sp>
        <p:nvSpPr>
          <p:cNvPr id="13" name="Shape 3"/>
          <p:cNvSpPr/>
          <p:nvPr/>
        </p:nvSpPr>
        <p:spPr>
          <a:xfrm>
            <a:off x="914040" y="0"/>
            <a:ext cx="360" cy="6858000"/>
          </a:xfrm>
          <a:prstGeom prst="line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0" tIns="45000" rIns="0" bIns="45000" anchor="t" anchorCtr="1">
            <a:noAutofit/>
          </a:bodyPr>
          <a:p>
            <a:endParaRPr lang="fr-FR" sz="1800" b="0" u="none" strike="noStrike">
              <a:solidFill>
                <a:srgbClr val="FFFFFF"/>
              </a:solidFill>
              <a:effectLst/>
              <a:uFillTx/>
              <a:latin typeface="Roboto"/>
            </a:endParaRPr>
          </a:p>
        </p:txBody>
      </p:sp>
      <p:sp>
        <p:nvSpPr>
          <p:cNvPr id="14" name="Shape 4"/>
          <p:cNvSpPr/>
          <p:nvPr/>
        </p:nvSpPr>
        <p:spPr>
          <a:xfrm>
            <a:off x="1218960" y="0"/>
            <a:ext cx="360" cy="6858000"/>
          </a:xfrm>
          <a:prstGeom prst="line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0" tIns="45000" rIns="0" bIns="45000" anchor="t" anchorCtr="1">
            <a:noAutofit/>
          </a:bodyPr>
          <a:p>
            <a:endParaRPr lang="fr-FR" sz="1800" b="0" u="none" strike="noStrike">
              <a:solidFill>
                <a:srgbClr val="FFFFFF"/>
              </a:solidFill>
              <a:effectLst/>
              <a:uFillTx/>
              <a:latin typeface="Roboto"/>
            </a:endParaRPr>
          </a:p>
        </p:txBody>
      </p:sp>
      <p:sp>
        <p:nvSpPr>
          <p:cNvPr id="15" name="Shape 5"/>
          <p:cNvSpPr/>
          <p:nvPr/>
        </p:nvSpPr>
        <p:spPr>
          <a:xfrm>
            <a:off x="1523520" y="0"/>
            <a:ext cx="360" cy="6858000"/>
          </a:xfrm>
          <a:prstGeom prst="line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0" tIns="45000" rIns="0" bIns="45000" anchor="t" anchorCtr="1">
            <a:noAutofit/>
          </a:bodyPr>
          <a:p>
            <a:endParaRPr lang="fr-FR" sz="1800" b="0" u="none" strike="noStrike">
              <a:solidFill>
                <a:srgbClr val="FFFFFF"/>
              </a:solidFill>
              <a:effectLst/>
              <a:uFillTx/>
              <a:latin typeface="Roboto"/>
            </a:endParaRPr>
          </a:p>
        </p:txBody>
      </p:sp>
      <p:sp>
        <p:nvSpPr>
          <p:cNvPr id="16" name="Shape 6"/>
          <p:cNvSpPr/>
          <p:nvPr/>
        </p:nvSpPr>
        <p:spPr>
          <a:xfrm>
            <a:off x="1828440" y="0"/>
            <a:ext cx="360" cy="6858000"/>
          </a:xfrm>
          <a:prstGeom prst="line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0" tIns="45000" rIns="0" bIns="45000" anchor="t" anchorCtr="1">
            <a:noAutofit/>
          </a:bodyPr>
          <a:p>
            <a:endParaRPr lang="fr-FR" sz="1800" b="0" u="none" strike="noStrike">
              <a:solidFill>
                <a:srgbClr val="FFFFFF"/>
              </a:solidFill>
              <a:effectLst/>
              <a:uFillTx/>
              <a:latin typeface="Roboto"/>
            </a:endParaRPr>
          </a:p>
        </p:txBody>
      </p:sp>
      <p:sp>
        <p:nvSpPr>
          <p:cNvPr id="17" name="Shape 7"/>
          <p:cNvSpPr/>
          <p:nvPr/>
        </p:nvSpPr>
        <p:spPr>
          <a:xfrm>
            <a:off x="2133360" y="0"/>
            <a:ext cx="360" cy="6858000"/>
          </a:xfrm>
          <a:prstGeom prst="line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0" tIns="45000" rIns="0" bIns="45000" anchor="t" anchorCtr="1">
            <a:noAutofit/>
          </a:bodyPr>
          <a:p>
            <a:endParaRPr lang="fr-FR" sz="1800" b="0" u="none" strike="noStrike">
              <a:solidFill>
                <a:srgbClr val="FFFFFF"/>
              </a:solidFill>
              <a:effectLst/>
              <a:uFillTx/>
              <a:latin typeface="Roboto"/>
            </a:endParaRPr>
          </a:p>
        </p:txBody>
      </p:sp>
      <p:sp>
        <p:nvSpPr>
          <p:cNvPr id="18" name="Shape 8"/>
          <p:cNvSpPr/>
          <p:nvPr/>
        </p:nvSpPr>
        <p:spPr>
          <a:xfrm>
            <a:off x="2437920" y="0"/>
            <a:ext cx="360" cy="6858000"/>
          </a:xfrm>
          <a:prstGeom prst="line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0" tIns="45000" rIns="0" bIns="45000" anchor="t" anchorCtr="1">
            <a:noAutofit/>
          </a:bodyPr>
          <a:p>
            <a:endParaRPr lang="fr-FR" sz="1800" b="0" u="none" strike="noStrike">
              <a:solidFill>
                <a:srgbClr val="FFFFFF"/>
              </a:solidFill>
              <a:effectLst/>
              <a:uFillTx/>
              <a:latin typeface="Roboto"/>
            </a:endParaRPr>
          </a:p>
        </p:txBody>
      </p:sp>
      <p:sp>
        <p:nvSpPr>
          <p:cNvPr id="19" name="Shape 9"/>
          <p:cNvSpPr/>
          <p:nvPr/>
        </p:nvSpPr>
        <p:spPr>
          <a:xfrm>
            <a:off x="2742840" y="0"/>
            <a:ext cx="360" cy="6858000"/>
          </a:xfrm>
          <a:prstGeom prst="line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0" tIns="45000" rIns="0" bIns="45000" anchor="t" anchorCtr="1">
            <a:noAutofit/>
          </a:bodyPr>
          <a:p>
            <a:endParaRPr lang="fr-FR" sz="1800" b="0" u="none" strike="noStrike">
              <a:solidFill>
                <a:srgbClr val="FFFFFF"/>
              </a:solidFill>
              <a:effectLst/>
              <a:uFillTx/>
              <a:latin typeface="Roboto"/>
            </a:endParaRPr>
          </a:p>
        </p:txBody>
      </p:sp>
      <p:sp>
        <p:nvSpPr>
          <p:cNvPr id="20" name="Shape 10"/>
          <p:cNvSpPr/>
          <p:nvPr/>
        </p:nvSpPr>
        <p:spPr>
          <a:xfrm>
            <a:off x="3047400" y="0"/>
            <a:ext cx="360" cy="6858000"/>
          </a:xfrm>
          <a:prstGeom prst="line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0" tIns="45000" rIns="0" bIns="45000" anchor="t" anchorCtr="1">
            <a:noAutofit/>
          </a:bodyPr>
          <a:p>
            <a:endParaRPr lang="fr-FR" sz="1800" b="0" u="none" strike="noStrike">
              <a:solidFill>
                <a:srgbClr val="FFFFFF"/>
              </a:solidFill>
              <a:effectLst/>
              <a:uFillTx/>
              <a:latin typeface="Roboto"/>
            </a:endParaRPr>
          </a:p>
        </p:txBody>
      </p:sp>
      <p:sp>
        <p:nvSpPr>
          <p:cNvPr id="21" name="Shape 11"/>
          <p:cNvSpPr/>
          <p:nvPr/>
        </p:nvSpPr>
        <p:spPr>
          <a:xfrm>
            <a:off x="3352320" y="0"/>
            <a:ext cx="360" cy="6858000"/>
          </a:xfrm>
          <a:prstGeom prst="line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0" tIns="45000" rIns="0" bIns="45000" anchor="t" anchorCtr="1">
            <a:noAutofit/>
          </a:bodyPr>
          <a:p>
            <a:endParaRPr lang="fr-FR" sz="1800" b="0" u="none" strike="noStrike">
              <a:solidFill>
                <a:srgbClr val="FFFFFF"/>
              </a:solidFill>
              <a:effectLst/>
              <a:uFillTx/>
              <a:latin typeface="Roboto"/>
            </a:endParaRPr>
          </a:p>
        </p:txBody>
      </p:sp>
      <p:sp>
        <p:nvSpPr>
          <p:cNvPr id="22" name="Shape 12"/>
          <p:cNvSpPr/>
          <p:nvPr/>
        </p:nvSpPr>
        <p:spPr>
          <a:xfrm>
            <a:off x="3656880" y="0"/>
            <a:ext cx="360" cy="6858000"/>
          </a:xfrm>
          <a:prstGeom prst="line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0" tIns="45000" rIns="0" bIns="45000" anchor="t" anchorCtr="1">
            <a:noAutofit/>
          </a:bodyPr>
          <a:p>
            <a:endParaRPr lang="fr-FR" sz="1800" b="0" u="none" strike="noStrike">
              <a:solidFill>
                <a:srgbClr val="FFFFFF"/>
              </a:solidFill>
              <a:effectLst/>
              <a:uFillTx/>
              <a:latin typeface="Roboto"/>
            </a:endParaRPr>
          </a:p>
        </p:txBody>
      </p:sp>
      <p:sp>
        <p:nvSpPr>
          <p:cNvPr id="23" name="Shape 13"/>
          <p:cNvSpPr/>
          <p:nvPr/>
        </p:nvSpPr>
        <p:spPr>
          <a:xfrm>
            <a:off x="3961800" y="0"/>
            <a:ext cx="360" cy="6858000"/>
          </a:xfrm>
          <a:prstGeom prst="line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0" tIns="45000" rIns="0" bIns="45000" anchor="t" anchorCtr="1">
            <a:noAutofit/>
          </a:bodyPr>
          <a:p>
            <a:endParaRPr lang="fr-FR" sz="1800" b="0" u="none" strike="noStrike">
              <a:solidFill>
                <a:srgbClr val="FFFFFF"/>
              </a:solidFill>
              <a:effectLst/>
              <a:uFillTx/>
              <a:latin typeface="Roboto"/>
            </a:endParaRPr>
          </a:p>
        </p:txBody>
      </p:sp>
      <p:sp>
        <p:nvSpPr>
          <p:cNvPr id="24" name="Shape 14"/>
          <p:cNvSpPr/>
          <p:nvPr/>
        </p:nvSpPr>
        <p:spPr>
          <a:xfrm>
            <a:off x="4266720" y="0"/>
            <a:ext cx="360" cy="6858000"/>
          </a:xfrm>
          <a:prstGeom prst="line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0" tIns="45000" rIns="0" bIns="45000" anchor="t" anchorCtr="1">
            <a:noAutofit/>
          </a:bodyPr>
          <a:p>
            <a:endParaRPr lang="fr-FR" sz="1800" b="0" u="none" strike="noStrike">
              <a:solidFill>
                <a:srgbClr val="FFFFFF"/>
              </a:solidFill>
              <a:effectLst/>
              <a:uFillTx/>
              <a:latin typeface="Roboto"/>
            </a:endParaRPr>
          </a:p>
        </p:txBody>
      </p:sp>
      <p:sp>
        <p:nvSpPr>
          <p:cNvPr id="25" name="Shape 15"/>
          <p:cNvSpPr/>
          <p:nvPr/>
        </p:nvSpPr>
        <p:spPr>
          <a:xfrm>
            <a:off x="4571280" y="0"/>
            <a:ext cx="360" cy="6858000"/>
          </a:xfrm>
          <a:prstGeom prst="line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0" tIns="45000" rIns="0" bIns="45000" anchor="t" anchorCtr="1">
            <a:noAutofit/>
          </a:bodyPr>
          <a:p>
            <a:endParaRPr lang="fr-FR" sz="1800" b="0" u="none" strike="noStrike">
              <a:solidFill>
                <a:srgbClr val="FFFFFF"/>
              </a:solidFill>
              <a:effectLst/>
              <a:uFillTx/>
              <a:latin typeface="Roboto"/>
            </a:endParaRPr>
          </a:p>
        </p:txBody>
      </p:sp>
      <p:sp>
        <p:nvSpPr>
          <p:cNvPr id="26" name="Shape 16"/>
          <p:cNvSpPr/>
          <p:nvPr/>
        </p:nvSpPr>
        <p:spPr>
          <a:xfrm>
            <a:off x="4876200" y="0"/>
            <a:ext cx="360" cy="6858000"/>
          </a:xfrm>
          <a:prstGeom prst="line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0" tIns="45000" rIns="0" bIns="45000" anchor="t" anchorCtr="1">
            <a:noAutofit/>
          </a:bodyPr>
          <a:p>
            <a:endParaRPr lang="fr-FR" sz="1800" b="0" u="none" strike="noStrike">
              <a:solidFill>
                <a:srgbClr val="FFFFFF"/>
              </a:solidFill>
              <a:effectLst/>
              <a:uFillTx/>
              <a:latin typeface="Roboto"/>
            </a:endParaRPr>
          </a:p>
        </p:txBody>
      </p:sp>
      <p:sp>
        <p:nvSpPr>
          <p:cNvPr id="27" name="Shape 17"/>
          <p:cNvSpPr/>
          <p:nvPr/>
        </p:nvSpPr>
        <p:spPr>
          <a:xfrm>
            <a:off x="5180760" y="0"/>
            <a:ext cx="360" cy="6858000"/>
          </a:xfrm>
          <a:prstGeom prst="line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0" tIns="45000" rIns="0" bIns="45000" anchor="t" anchorCtr="1">
            <a:noAutofit/>
          </a:bodyPr>
          <a:p>
            <a:endParaRPr lang="fr-FR" sz="1800" b="0" u="none" strike="noStrike">
              <a:solidFill>
                <a:srgbClr val="FFFFFF"/>
              </a:solidFill>
              <a:effectLst/>
              <a:uFillTx/>
              <a:latin typeface="Roboto"/>
            </a:endParaRPr>
          </a:p>
        </p:txBody>
      </p:sp>
      <p:sp>
        <p:nvSpPr>
          <p:cNvPr id="28" name="Shape 18"/>
          <p:cNvSpPr/>
          <p:nvPr/>
        </p:nvSpPr>
        <p:spPr>
          <a:xfrm>
            <a:off x="5485680" y="0"/>
            <a:ext cx="360" cy="6858000"/>
          </a:xfrm>
          <a:prstGeom prst="line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0" tIns="45000" rIns="0" bIns="45000" anchor="t" anchorCtr="1">
            <a:noAutofit/>
          </a:bodyPr>
          <a:p>
            <a:endParaRPr lang="fr-FR" sz="1800" b="0" u="none" strike="noStrike">
              <a:solidFill>
                <a:srgbClr val="FFFFFF"/>
              </a:solidFill>
              <a:effectLst/>
              <a:uFillTx/>
              <a:latin typeface="Roboto"/>
            </a:endParaRPr>
          </a:p>
        </p:txBody>
      </p:sp>
      <p:sp>
        <p:nvSpPr>
          <p:cNvPr id="29" name="Shape 19"/>
          <p:cNvSpPr/>
          <p:nvPr/>
        </p:nvSpPr>
        <p:spPr>
          <a:xfrm>
            <a:off x="5790600" y="0"/>
            <a:ext cx="360" cy="6858000"/>
          </a:xfrm>
          <a:prstGeom prst="line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0" tIns="45000" rIns="0" bIns="45000" anchor="t" anchorCtr="1">
            <a:noAutofit/>
          </a:bodyPr>
          <a:p>
            <a:endParaRPr lang="fr-FR" sz="1800" b="0" u="none" strike="noStrike">
              <a:solidFill>
                <a:srgbClr val="FFFFFF"/>
              </a:solidFill>
              <a:effectLst/>
              <a:uFillTx/>
              <a:latin typeface="Roboto"/>
            </a:endParaRPr>
          </a:p>
        </p:txBody>
      </p:sp>
      <p:sp>
        <p:nvSpPr>
          <p:cNvPr id="30" name="Shape 20"/>
          <p:cNvSpPr/>
          <p:nvPr/>
        </p:nvSpPr>
        <p:spPr>
          <a:xfrm>
            <a:off x="6095160" y="0"/>
            <a:ext cx="360" cy="6858000"/>
          </a:xfrm>
          <a:prstGeom prst="line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0" tIns="45000" rIns="0" bIns="45000" anchor="t" anchorCtr="1">
            <a:noAutofit/>
          </a:bodyPr>
          <a:p>
            <a:endParaRPr lang="fr-FR" sz="1800" b="0" u="none" strike="noStrike">
              <a:solidFill>
                <a:srgbClr val="FFFFFF"/>
              </a:solidFill>
              <a:effectLst/>
              <a:uFillTx/>
              <a:latin typeface="Roboto"/>
            </a:endParaRPr>
          </a:p>
        </p:txBody>
      </p:sp>
      <p:sp>
        <p:nvSpPr>
          <p:cNvPr id="31" name="Shape 21"/>
          <p:cNvSpPr/>
          <p:nvPr/>
        </p:nvSpPr>
        <p:spPr>
          <a:xfrm>
            <a:off x="6400080" y="0"/>
            <a:ext cx="360" cy="6858000"/>
          </a:xfrm>
          <a:prstGeom prst="line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0" tIns="45000" rIns="0" bIns="45000" anchor="t" anchorCtr="1">
            <a:noAutofit/>
          </a:bodyPr>
          <a:p>
            <a:endParaRPr lang="fr-FR" sz="1800" b="0" u="none" strike="noStrike">
              <a:solidFill>
                <a:srgbClr val="FFFFFF"/>
              </a:solidFill>
              <a:effectLst/>
              <a:uFillTx/>
              <a:latin typeface="Roboto"/>
            </a:endParaRPr>
          </a:p>
        </p:txBody>
      </p:sp>
      <p:sp>
        <p:nvSpPr>
          <p:cNvPr id="32" name="Shape 22"/>
          <p:cNvSpPr/>
          <p:nvPr/>
        </p:nvSpPr>
        <p:spPr>
          <a:xfrm>
            <a:off x="6704640" y="0"/>
            <a:ext cx="360" cy="6858000"/>
          </a:xfrm>
          <a:prstGeom prst="line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0" tIns="45000" rIns="0" bIns="45000" anchor="t" anchorCtr="1">
            <a:noAutofit/>
          </a:bodyPr>
          <a:p>
            <a:endParaRPr lang="fr-FR" sz="1800" b="0" u="none" strike="noStrike">
              <a:solidFill>
                <a:srgbClr val="FFFFFF"/>
              </a:solidFill>
              <a:effectLst/>
              <a:uFillTx/>
              <a:latin typeface="Roboto"/>
            </a:endParaRPr>
          </a:p>
        </p:txBody>
      </p:sp>
      <p:sp>
        <p:nvSpPr>
          <p:cNvPr id="33" name="Shape 23"/>
          <p:cNvSpPr/>
          <p:nvPr/>
        </p:nvSpPr>
        <p:spPr>
          <a:xfrm>
            <a:off x="7009560" y="0"/>
            <a:ext cx="360" cy="6858000"/>
          </a:xfrm>
          <a:prstGeom prst="line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0" tIns="45000" rIns="0" bIns="45000" anchor="t" anchorCtr="1">
            <a:noAutofit/>
          </a:bodyPr>
          <a:p>
            <a:endParaRPr lang="fr-FR" sz="1800" b="0" u="none" strike="noStrike">
              <a:solidFill>
                <a:srgbClr val="FFFFFF"/>
              </a:solidFill>
              <a:effectLst/>
              <a:uFillTx/>
              <a:latin typeface="Roboto"/>
            </a:endParaRPr>
          </a:p>
        </p:txBody>
      </p:sp>
      <p:sp>
        <p:nvSpPr>
          <p:cNvPr id="34" name="Shape 24"/>
          <p:cNvSpPr/>
          <p:nvPr/>
        </p:nvSpPr>
        <p:spPr>
          <a:xfrm>
            <a:off x="7314120" y="0"/>
            <a:ext cx="360" cy="6858000"/>
          </a:xfrm>
          <a:prstGeom prst="line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0" tIns="45000" rIns="0" bIns="45000" anchor="t" anchorCtr="1">
            <a:noAutofit/>
          </a:bodyPr>
          <a:p>
            <a:endParaRPr lang="fr-FR" sz="1800" b="0" u="none" strike="noStrike">
              <a:solidFill>
                <a:srgbClr val="FFFFFF"/>
              </a:solidFill>
              <a:effectLst/>
              <a:uFillTx/>
              <a:latin typeface="Roboto"/>
            </a:endParaRPr>
          </a:p>
        </p:txBody>
      </p:sp>
      <p:sp>
        <p:nvSpPr>
          <p:cNvPr id="35" name="Shape 25"/>
          <p:cNvSpPr/>
          <p:nvPr/>
        </p:nvSpPr>
        <p:spPr>
          <a:xfrm>
            <a:off x="7619040" y="0"/>
            <a:ext cx="360" cy="6858000"/>
          </a:xfrm>
          <a:prstGeom prst="line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0" tIns="45000" rIns="0" bIns="45000" anchor="t" anchorCtr="1">
            <a:noAutofit/>
          </a:bodyPr>
          <a:p>
            <a:endParaRPr lang="fr-FR" sz="1800" b="0" u="none" strike="noStrike">
              <a:solidFill>
                <a:srgbClr val="FFFFFF"/>
              </a:solidFill>
              <a:effectLst/>
              <a:uFillTx/>
              <a:latin typeface="Roboto"/>
            </a:endParaRPr>
          </a:p>
        </p:txBody>
      </p:sp>
      <p:sp>
        <p:nvSpPr>
          <p:cNvPr id="36" name="Shape 26"/>
          <p:cNvSpPr/>
          <p:nvPr/>
        </p:nvSpPr>
        <p:spPr>
          <a:xfrm>
            <a:off x="7923960" y="0"/>
            <a:ext cx="360" cy="6858000"/>
          </a:xfrm>
          <a:prstGeom prst="line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0" tIns="45000" rIns="0" bIns="45000" anchor="t" anchorCtr="1">
            <a:noAutofit/>
          </a:bodyPr>
          <a:p>
            <a:endParaRPr lang="fr-FR" sz="1800" b="0" u="none" strike="noStrike">
              <a:solidFill>
                <a:srgbClr val="FFFFFF"/>
              </a:solidFill>
              <a:effectLst/>
              <a:uFillTx/>
              <a:latin typeface="Roboto"/>
            </a:endParaRPr>
          </a:p>
        </p:txBody>
      </p:sp>
      <p:sp>
        <p:nvSpPr>
          <p:cNvPr id="37" name="Shape 27"/>
          <p:cNvSpPr/>
          <p:nvPr/>
        </p:nvSpPr>
        <p:spPr>
          <a:xfrm>
            <a:off x="8228520" y="0"/>
            <a:ext cx="360" cy="6858000"/>
          </a:xfrm>
          <a:prstGeom prst="line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0" tIns="45000" rIns="0" bIns="45000" anchor="t" anchorCtr="1">
            <a:noAutofit/>
          </a:bodyPr>
          <a:p>
            <a:endParaRPr lang="fr-FR" sz="1800" b="0" u="none" strike="noStrike">
              <a:solidFill>
                <a:srgbClr val="FFFFFF"/>
              </a:solidFill>
              <a:effectLst/>
              <a:uFillTx/>
              <a:latin typeface="Roboto"/>
            </a:endParaRPr>
          </a:p>
        </p:txBody>
      </p:sp>
      <p:sp>
        <p:nvSpPr>
          <p:cNvPr id="38" name="Shape 28"/>
          <p:cNvSpPr/>
          <p:nvPr/>
        </p:nvSpPr>
        <p:spPr>
          <a:xfrm>
            <a:off x="8533440" y="0"/>
            <a:ext cx="360" cy="6858000"/>
          </a:xfrm>
          <a:prstGeom prst="line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0" tIns="45000" rIns="0" bIns="45000" anchor="t" anchorCtr="1">
            <a:noAutofit/>
          </a:bodyPr>
          <a:p>
            <a:endParaRPr lang="fr-FR" sz="1800" b="0" u="none" strike="noStrike">
              <a:solidFill>
                <a:srgbClr val="FFFFFF"/>
              </a:solidFill>
              <a:effectLst/>
              <a:uFillTx/>
              <a:latin typeface="Roboto"/>
            </a:endParaRPr>
          </a:p>
        </p:txBody>
      </p:sp>
      <p:sp>
        <p:nvSpPr>
          <p:cNvPr id="39" name="Shape 29"/>
          <p:cNvSpPr/>
          <p:nvPr/>
        </p:nvSpPr>
        <p:spPr>
          <a:xfrm>
            <a:off x="8838000" y="0"/>
            <a:ext cx="360" cy="6858000"/>
          </a:xfrm>
          <a:prstGeom prst="line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0" tIns="45000" rIns="0" bIns="45000" anchor="t" anchorCtr="1">
            <a:noAutofit/>
          </a:bodyPr>
          <a:p>
            <a:endParaRPr lang="fr-FR" sz="1800" b="0" u="none" strike="noStrike">
              <a:solidFill>
                <a:srgbClr val="FFFFFF"/>
              </a:solidFill>
              <a:effectLst/>
              <a:uFillTx/>
              <a:latin typeface="Roboto"/>
            </a:endParaRPr>
          </a:p>
        </p:txBody>
      </p:sp>
      <p:sp>
        <p:nvSpPr>
          <p:cNvPr id="40" name="Shape 30"/>
          <p:cNvSpPr/>
          <p:nvPr/>
        </p:nvSpPr>
        <p:spPr>
          <a:xfrm>
            <a:off x="9142920" y="0"/>
            <a:ext cx="360" cy="6858000"/>
          </a:xfrm>
          <a:prstGeom prst="line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0" tIns="45000" rIns="0" bIns="45000" anchor="t" anchorCtr="1">
            <a:noAutofit/>
          </a:bodyPr>
          <a:p>
            <a:endParaRPr lang="fr-FR" sz="1800" b="0" u="none" strike="noStrike">
              <a:solidFill>
                <a:srgbClr val="FFFFFF"/>
              </a:solidFill>
              <a:effectLst/>
              <a:uFillTx/>
              <a:latin typeface="Roboto"/>
            </a:endParaRPr>
          </a:p>
        </p:txBody>
      </p:sp>
      <p:sp>
        <p:nvSpPr>
          <p:cNvPr id="41" name="Shape 31"/>
          <p:cNvSpPr/>
          <p:nvPr/>
        </p:nvSpPr>
        <p:spPr>
          <a:xfrm>
            <a:off x="9447840" y="0"/>
            <a:ext cx="360" cy="6858000"/>
          </a:xfrm>
          <a:prstGeom prst="line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0" tIns="45000" rIns="0" bIns="45000" anchor="t" anchorCtr="1">
            <a:noAutofit/>
          </a:bodyPr>
          <a:p>
            <a:endParaRPr lang="fr-FR" sz="1800" b="0" u="none" strike="noStrike">
              <a:solidFill>
                <a:srgbClr val="FFFFFF"/>
              </a:solidFill>
              <a:effectLst/>
              <a:uFillTx/>
              <a:latin typeface="Roboto"/>
            </a:endParaRPr>
          </a:p>
        </p:txBody>
      </p:sp>
      <p:sp>
        <p:nvSpPr>
          <p:cNvPr id="42" name="Shape 32"/>
          <p:cNvSpPr/>
          <p:nvPr/>
        </p:nvSpPr>
        <p:spPr>
          <a:xfrm>
            <a:off x="9752400" y="0"/>
            <a:ext cx="360" cy="6858000"/>
          </a:xfrm>
          <a:prstGeom prst="line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0" tIns="45000" rIns="0" bIns="45000" anchor="t" anchorCtr="1">
            <a:noAutofit/>
          </a:bodyPr>
          <a:p>
            <a:endParaRPr lang="fr-FR" sz="1800" b="0" u="none" strike="noStrike">
              <a:solidFill>
                <a:srgbClr val="FFFFFF"/>
              </a:solidFill>
              <a:effectLst/>
              <a:uFillTx/>
              <a:latin typeface="Roboto"/>
            </a:endParaRPr>
          </a:p>
        </p:txBody>
      </p:sp>
      <p:sp>
        <p:nvSpPr>
          <p:cNvPr id="43" name="Shape 33"/>
          <p:cNvSpPr/>
          <p:nvPr/>
        </p:nvSpPr>
        <p:spPr>
          <a:xfrm>
            <a:off x="10057320" y="0"/>
            <a:ext cx="360" cy="6858000"/>
          </a:xfrm>
          <a:prstGeom prst="line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0" tIns="45000" rIns="0" bIns="45000" anchor="t" anchorCtr="1">
            <a:noAutofit/>
          </a:bodyPr>
          <a:p>
            <a:endParaRPr lang="fr-FR" sz="1800" b="0" u="none" strike="noStrike">
              <a:solidFill>
                <a:srgbClr val="FFFFFF"/>
              </a:solidFill>
              <a:effectLst/>
              <a:uFillTx/>
              <a:latin typeface="Roboto"/>
            </a:endParaRPr>
          </a:p>
        </p:txBody>
      </p:sp>
      <p:sp>
        <p:nvSpPr>
          <p:cNvPr id="44" name="Shape 34"/>
          <p:cNvSpPr/>
          <p:nvPr/>
        </p:nvSpPr>
        <p:spPr>
          <a:xfrm>
            <a:off x="10361880" y="0"/>
            <a:ext cx="360" cy="6858000"/>
          </a:xfrm>
          <a:prstGeom prst="line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0" tIns="45000" rIns="0" bIns="45000" anchor="t" anchorCtr="1">
            <a:noAutofit/>
          </a:bodyPr>
          <a:p>
            <a:endParaRPr lang="fr-FR" sz="1800" b="0" u="none" strike="noStrike">
              <a:solidFill>
                <a:srgbClr val="FFFFFF"/>
              </a:solidFill>
              <a:effectLst/>
              <a:uFillTx/>
              <a:latin typeface="Roboto"/>
            </a:endParaRPr>
          </a:p>
        </p:txBody>
      </p:sp>
      <p:sp>
        <p:nvSpPr>
          <p:cNvPr id="45" name="Shape 35"/>
          <p:cNvSpPr/>
          <p:nvPr/>
        </p:nvSpPr>
        <p:spPr>
          <a:xfrm>
            <a:off x="10666800" y="0"/>
            <a:ext cx="360" cy="6858000"/>
          </a:xfrm>
          <a:prstGeom prst="line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0" tIns="45000" rIns="0" bIns="45000" anchor="t" anchorCtr="1">
            <a:noAutofit/>
          </a:bodyPr>
          <a:p>
            <a:endParaRPr lang="fr-FR" sz="1800" b="0" u="none" strike="noStrike">
              <a:solidFill>
                <a:srgbClr val="FFFFFF"/>
              </a:solidFill>
              <a:effectLst/>
              <a:uFillTx/>
              <a:latin typeface="Roboto"/>
            </a:endParaRPr>
          </a:p>
        </p:txBody>
      </p:sp>
      <p:sp>
        <p:nvSpPr>
          <p:cNvPr id="46" name="Shape 36"/>
          <p:cNvSpPr/>
          <p:nvPr/>
        </p:nvSpPr>
        <p:spPr>
          <a:xfrm>
            <a:off x="10971360" y="0"/>
            <a:ext cx="360" cy="6858000"/>
          </a:xfrm>
          <a:prstGeom prst="line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0" tIns="45000" rIns="0" bIns="45000" anchor="t" anchorCtr="1">
            <a:noAutofit/>
          </a:bodyPr>
          <a:p>
            <a:endParaRPr lang="fr-FR" sz="1800" b="0" u="none" strike="noStrike">
              <a:solidFill>
                <a:srgbClr val="FFFFFF"/>
              </a:solidFill>
              <a:effectLst/>
              <a:uFillTx/>
              <a:latin typeface="Roboto"/>
            </a:endParaRPr>
          </a:p>
        </p:txBody>
      </p:sp>
      <p:sp>
        <p:nvSpPr>
          <p:cNvPr id="47" name="Shape 37"/>
          <p:cNvSpPr/>
          <p:nvPr/>
        </p:nvSpPr>
        <p:spPr>
          <a:xfrm>
            <a:off x="11276280" y="0"/>
            <a:ext cx="360" cy="6858000"/>
          </a:xfrm>
          <a:prstGeom prst="line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0" tIns="45000" rIns="0" bIns="45000" anchor="t" anchorCtr="1">
            <a:noAutofit/>
          </a:bodyPr>
          <a:p>
            <a:endParaRPr lang="fr-FR" sz="1800" b="0" u="none" strike="noStrike">
              <a:solidFill>
                <a:srgbClr val="FFFFFF"/>
              </a:solidFill>
              <a:effectLst/>
              <a:uFillTx/>
              <a:latin typeface="Roboto"/>
            </a:endParaRPr>
          </a:p>
        </p:txBody>
      </p:sp>
      <p:sp>
        <p:nvSpPr>
          <p:cNvPr id="48" name="Shape 38"/>
          <p:cNvSpPr/>
          <p:nvPr/>
        </p:nvSpPr>
        <p:spPr>
          <a:xfrm>
            <a:off x="11581200" y="0"/>
            <a:ext cx="360" cy="6858000"/>
          </a:xfrm>
          <a:prstGeom prst="line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0" tIns="45000" rIns="0" bIns="45000" anchor="t" anchorCtr="1">
            <a:noAutofit/>
          </a:bodyPr>
          <a:p>
            <a:endParaRPr lang="fr-FR" sz="1800" b="0" u="none" strike="noStrike">
              <a:solidFill>
                <a:srgbClr val="FFFFFF"/>
              </a:solidFill>
              <a:effectLst/>
              <a:uFillTx/>
              <a:latin typeface="Roboto"/>
            </a:endParaRPr>
          </a:p>
        </p:txBody>
      </p:sp>
      <p:sp>
        <p:nvSpPr>
          <p:cNvPr id="49" name="Shape 39"/>
          <p:cNvSpPr/>
          <p:nvPr/>
        </p:nvSpPr>
        <p:spPr>
          <a:xfrm>
            <a:off x="11885760" y="0"/>
            <a:ext cx="360" cy="6858000"/>
          </a:xfrm>
          <a:prstGeom prst="line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0" tIns="45000" rIns="0" bIns="45000" anchor="t" anchorCtr="1">
            <a:noAutofit/>
          </a:bodyPr>
          <a:p>
            <a:endParaRPr lang="fr-FR" sz="1800" b="0" u="none" strike="noStrike">
              <a:solidFill>
                <a:srgbClr val="FFFFFF"/>
              </a:solidFill>
              <a:effectLst/>
              <a:uFillTx/>
              <a:latin typeface="Roboto"/>
            </a:endParaRPr>
          </a:p>
        </p:txBody>
      </p:sp>
      <p:sp>
        <p:nvSpPr>
          <p:cNvPr id="50" name="Shape 40"/>
          <p:cNvSpPr/>
          <p:nvPr/>
        </p:nvSpPr>
        <p:spPr>
          <a:xfrm>
            <a:off x="12190680" y="0"/>
            <a:ext cx="360" cy="6858000"/>
          </a:xfrm>
          <a:prstGeom prst="line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0" tIns="45000" rIns="0" bIns="45000" anchor="t" anchorCtr="1">
            <a:noAutofit/>
          </a:bodyPr>
          <a:p>
            <a:endParaRPr lang="fr-FR" sz="1800" b="0" u="none" strike="noStrike">
              <a:solidFill>
                <a:srgbClr val="FFFFFF"/>
              </a:solidFill>
              <a:effectLst/>
              <a:uFillTx/>
              <a:latin typeface="Roboto"/>
            </a:endParaRPr>
          </a:p>
        </p:txBody>
      </p:sp>
      <p:sp>
        <p:nvSpPr>
          <p:cNvPr id="51" name="Shape 41"/>
          <p:cNvSpPr/>
          <p:nvPr/>
        </p:nvSpPr>
        <p:spPr>
          <a:xfrm>
            <a:off x="0" y="0"/>
            <a:ext cx="12191400" cy="360"/>
          </a:xfrm>
          <a:prstGeom prst="line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fr-FR" sz="1800" b="0" u="none" strike="noStrike">
              <a:solidFill>
                <a:srgbClr val="FFFFFF"/>
              </a:solidFill>
              <a:effectLst/>
              <a:uFillTx/>
              <a:latin typeface="Roboto"/>
            </a:endParaRPr>
          </a:p>
        </p:txBody>
      </p:sp>
      <p:sp>
        <p:nvSpPr>
          <p:cNvPr id="52" name="Shape 42"/>
          <p:cNvSpPr/>
          <p:nvPr/>
        </p:nvSpPr>
        <p:spPr>
          <a:xfrm>
            <a:off x="0" y="304560"/>
            <a:ext cx="12191400" cy="360"/>
          </a:xfrm>
          <a:prstGeom prst="line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fr-FR" sz="1800" b="0" u="none" strike="noStrike">
              <a:solidFill>
                <a:srgbClr val="FFFFFF"/>
              </a:solidFill>
              <a:effectLst/>
              <a:uFillTx/>
              <a:latin typeface="Roboto"/>
            </a:endParaRPr>
          </a:p>
        </p:txBody>
      </p:sp>
      <p:sp>
        <p:nvSpPr>
          <p:cNvPr id="53" name="Shape 43"/>
          <p:cNvSpPr/>
          <p:nvPr/>
        </p:nvSpPr>
        <p:spPr>
          <a:xfrm>
            <a:off x="0" y="609480"/>
            <a:ext cx="12191400" cy="360"/>
          </a:xfrm>
          <a:prstGeom prst="line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fr-FR" sz="1800" b="0" u="none" strike="noStrike">
              <a:solidFill>
                <a:srgbClr val="FFFFFF"/>
              </a:solidFill>
              <a:effectLst/>
              <a:uFillTx/>
              <a:latin typeface="Roboto"/>
            </a:endParaRPr>
          </a:p>
        </p:txBody>
      </p:sp>
      <p:sp>
        <p:nvSpPr>
          <p:cNvPr id="54" name="Shape 44"/>
          <p:cNvSpPr/>
          <p:nvPr/>
        </p:nvSpPr>
        <p:spPr>
          <a:xfrm>
            <a:off x="0" y="914040"/>
            <a:ext cx="12191400" cy="360"/>
          </a:xfrm>
          <a:prstGeom prst="line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fr-FR" sz="1800" b="0" u="none" strike="noStrike">
              <a:solidFill>
                <a:srgbClr val="FFFFFF"/>
              </a:solidFill>
              <a:effectLst/>
              <a:uFillTx/>
              <a:latin typeface="Roboto"/>
            </a:endParaRPr>
          </a:p>
        </p:txBody>
      </p:sp>
      <p:sp>
        <p:nvSpPr>
          <p:cNvPr id="55" name="Shape 45"/>
          <p:cNvSpPr/>
          <p:nvPr/>
        </p:nvSpPr>
        <p:spPr>
          <a:xfrm>
            <a:off x="0" y="1218960"/>
            <a:ext cx="12191400" cy="360"/>
          </a:xfrm>
          <a:prstGeom prst="line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fr-FR" sz="1800" b="0" u="none" strike="noStrike">
              <a:solidFill>
                <a:srgbClr val="FFFFFF"/>
              </a:solidFill>
              <a:effectLst/>
              <a:uFillTx/>
              <a:latin typeface="Roboto"/>
            </a:endParaRPr>
          </a:p>
        </p:txBody>
      </p:sp>
      <p:sp>
        <p:nvSpPr>
          <p:cNvPr id="56" name="Shape 46"/>
          <p:cNvSpPr/>
          <p:nvPr/>
        </p:nvSpPr>
        <p:spPr>
          <a:xfrm>
            <a:off x="0" y="1523520"/>
            <a:ext cx="12191400" cy="360"/>
          </a:xfrm>
          <a:prstGeom prst="line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fr-FR" sz="1800" b="0" u="none" strike="noStrike">
              <a:solidFill>
                <a:srgbClr val="FFFFFF"/>
              </a:solidFill>
              <a:effectLst/>
              <a:uFillTx/>
              <a:latin typeface="Roboto"/>
            </a:endParaRPr>
          </a:p>
        </p:txBody>
      </p:sp>
      <p:sp>
        <p:nvSpPr>
          <p:cNvPr id="57" name="Shape 47"/>
          <p:cNvSpPr/>
          <p:nvPr/>
        </p:nvSpPr>
        <p:spPr>
          <a:xfrm>
            <a:off x="0" y="1828440"/>
            <a:ext cx="12191400" cy="360"/>
          </a:xfrm>
          <a:prstGeom prst="line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fr-FR" sz="1800" b="0" u="none" strike="noStrike">
              <a:solidFill>
                <a:srgbClr val="FFFFFF"/>
              </a:solidFill>
              <a:effectLst/>
              <a:uFillTx/>
              <a:latin typeface="Roboto"/>
            </a:endParaRPr>
          </a:p>
        </p:txBody>
      </p:sp>
      <p:sp>
        <p:nvSpPr>
          <p:cNvPr id="58" name="Shape 48"/>
          <p:cNvSpPr/>
          <p:nvPr/>
        </p:nvSpPr>
        <p:spPr>
          <a:xfrm>
            <a:off x="0" y="2133360"/>
            <a:ext cx="12191400" cy="360"/>
          </a:xfrm>
          <a:prstGeom prst="line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fr-FR" sz="1800" b="0" u="none" strike="noStrike">
              <a:solidFill>
                <a:srgbClr val="FFFFFF"/>
              </a:solidFill>
              <a:effectLst/>
              <a:uFillTx/>
              <a:latin typeface="Roboto"/>
            </a:endParaRPr>
          </a:p>
        </p:txBody>
      </p:sp>
      <p:sp>
        <p:nvSpPr>
          <p:cNvPr id="59" name="Shape 49"/>
          <p:cNvSpPr/>
          <p:nvPr/>
        </p:nvSpPr>
        <p:spPr>
          <a:xfrm>
            <a:off x="0" y="2437920"/>
            <a:ext cx="12191400" cy="360"/>
          </a:xfrm>
          <a:prstGeom prst="line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fr-FR" sz="1800" b="0" u="none" strike="noStrike">
              <a:solidFill>
                <a:srgbClr val="FFFFFF"/>
              </a:solidFill>
              <a:effectLst/>
              <a:uFillTx/>
              <a:latin typeface="Roboto"/>
            </a:endParaRPr>
          </a:p>
        </p:txBody>
      </p:sp>
      <p:sp>
        <p:nvSpPr>
          <p:cNvPr id="60" name="Shape 50"/>
          <p:cNvSpPr/>
          <p:nvPr/>
        </p:nvSpPr>
        <p:spPr>
          <a:xfrm>
            <a:off x="0" y="2742840"/>
            <a:ext cx="12191400" cy="360"/>
          </a:xfrm>
          <a:prstGeom prst="line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fr-FR" sz="1800" b="0" u="none" strike="noStrike">
              <a:solidFill>
                <a:srgbClr val="FFFFFF"/>
              </a:solidFill>
              <a:effectLst/>
              <a:uFillTx/>
              <a:latin typeface="Roboto"/>
            </a:endParaRPr>
          </a:p>
        </p:txBody>
      </p:sp>
      <p:sp>
        <p:nvSpPr>
          <p:cNvPr id="61" name="Shape 51"/>
          <p:cNvSpPr/>
          <p:nvPr/>
        </p:nvSpPr>
        <p:spPr>
          <a:xfrm>
            <a:off x="0" y="3047400"/>
            <a:ext cx="12191400" cy="360"/>
          </a:xfrm>
          <a:prstGeom prst="line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fr-FR" sz="1800" b="0" u="none" strike="noStrike">
              <a:solidFill>
                <a:srgbClr val="FFFFFF"/>
              </a:solidFill>
              <a:effectLst/>
              <a:uFillTx/>
              <a:latin typeface="Roboto"/>
            </a:endParaRPr>
          </a:p>
        </p:txBody>
      </p:sp>
      <p:sp>
        <p:nvSpPr>
          <p:cNvPr id="62" name="Shape 52"/>
          <p:cNvSpPr/>
          <p:nvPr/>
        </p:nvSpPr>
        <p:spPr>
          <a:xfrm>
            <a:off x="0" y="3352320"/>
            <a:ext cx="12191400" cy="360"/>
          </a:xfrm>
          <a:prstGeom prst="line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fr-FR" sz="1800" b="0" u="none" strike="noStrike">
              <a:solidFill>
                <a:srgbClr val="FFFFFF"/>
              </a:solidFill>
              <a:effectLst/>
              <a:uFillTx/>
              <a:latin typeface="Roboto"/>
            </a:endParaRPr>
          </a:p>
        </p:txBody>
      </p:sp>
      <p:sp>
        <p:nvSpPr>
          <p:cNvPr id="63" name="Shape 53"/>
          <p:cNvSpPr/>
          <p:nvPr/>
        </p:nvSpPr>
        <p:spPr>
          <a:xfrm>
            <a:off x="0" y="3656880"/>
            <a:ext cx="12191400" cy="360"/>
          </a:xfrm>
          <a:prstGeom prst="line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fr-FR" sz="1800" b="0" u="none" strike="noStrike">
              <a:solidFill>
                <a:srgbClr val="FFFFFF"/>
              </a:solidFill>
              <a:effectLst/>
              <a:uFillTx/>
              <a:latin typeface="Roboto"/>
            </a:endParaRPr>
          </a:p>
        </p:txBody>
      </p:sp>
      <p:sp>
        <p:nvSpPr>
          <p:cNvPr id="64" name="Shape 54"/>
          <p:cNvSpPr/>
          <p:nvPr/>
        </p:nvSpPr>
        <p:spPr>
          <a:xfrm>
            <a:off x="0" y="3961800"/>
            <a:ext cx="12191400" cy="360"/>
          </a:xfrm>
          <a:prstGeom prst="line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fr-FR" sz="1800" b="0" u="none" strike="noStrike">
              <a:solidFill>
                <a:srgbClr val="FFFFFF"/>
              </a:solidFill>
              <a:effectLst/>
              <a:uFillTx/>
              <a:latin typeface="Roboto"/>
            </a:endParaRPr>
          </a:p>
        </p:txBody>
      </p:sp>
      <p:sp>
        <p:nvSpPr>
          <p:cNvPr id="65" name="Shape 55"/>
          <p:cNvSpPr/>
          <p:nvPr/>
        </p:nvSpPr>
        <p:spPr>
          <a:xfrm>
            <a:off x="0" y="4266720"/>
            <a:ext cx="12191400" cy="360"/>
          </a:xfrm>
          <a:prstGeom prst="line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fr-FR" sz="1800" b="0" u="none" strike="noStrike">
              <a:solidFill>
                <a:srgbClr val="FFFFFF"/>
              </a:solidFill>
              <a:effectLst/>
              <a:uFillTx/>
              <a:latin typeface="Roboto"/>
            </a:endParaRPr>
          </a:p>
        </p:txBody>
      </p:sp>
      <p:sp>
        <p:nvSpPr>
          <p:cNvPr id="66" name="Shape 56"/>
          <p:cNvSpPr/>
          <p:nvPr/>
        </p:nvSpPr>
        <p:spPr>
          <a:xfrm>
            <a:off x="0" y="4571280"/>
            <a:ext cx="12191400" cy="360"/>
          </a:xfrm>
          <a:prstGeom prst="line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fr-FR" sz="1800" b="0" u="none" strike="noStrike">
              <a:solidFill>
                <a:srgbClr val="FFFFFF"/>
              </a:solidFill>
              <a:effectLst/>
              <a:uFillTx/>
              <a:latin typeface="Roboto"/>
            </a:endParaRPr>
          </a:p>
        </p:txBody>
      </p:sp>
      <p:sp>
        <p:nvSpPr>
          <p:cNvPr id="67" name="Shape 57"/>
          <p:cNvSpPr/>
          <p:nvPr/>
        </p:nvSpPr>
        <p:spPr>
          <a:xfrm>
            <a:off x="0" y="4876200"/>
            <a:ext cx="12191400" cy="360"/>
          </a:xfrm>
          <a:prstGeom prst="line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fr-FR" sz="1800" b="0" u="none" strike="noStrike">
              <a:solidFill>
                <a:srgbClr val="FFFFFF"/>
              </a:solidFill>
              <a:effectLst/>
              <a:uFillTx/>
              <a:latin typeface="Roboto"/>
            </a:endParaRPr>
          </a:p>
        </p:txBody>
      </p:sp>
      <p:sp>
        <p:nvSpPr>
          <p:cNvPr id="68" name="Shape 58"/>
          <p:cNvSpPr/>
          <p:nvPr/>
        </p:nvSpPr>
        <p:spPr>
          <a:xfrm>
            <a:off x="0" y="5180760"/>
            <a:ext cx="12191400" cy="360"/>
          </a:xfrm>
          <a:prstGeom prst="line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fr-FR" sz="1800" b="0" u="none" strike="noStrike">
              <a:solidFill>
                <a:srgbClr val="FFFFFF"/>
              </a:solidFill>
              <a:effectLst/>
              <a:uFillTx/>
              <a:latin typeface="Roboto"/>
            </a:endParaRPr>
          </a:p>
        </p:txBody>
      </p:sp>
      <p:sp>
        <p:nvSpPr>
          <p:cNvPr id="69" name="Shape 59"/>
          <p:cNvSpPr/>
          <p:nvPr/>
        </p:nvSpPr>
        <p:spPr>
          <a:xfrm>
            <a:off x="0" y="5485680"/>
            <a:ext cx="12191400" cy="360"/>
          </a:xfrm>
          <a:prstGeom prst="line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fr-FR" sz="1800" b="0" u="none" strike="noStrike">
              <a:solidFill>
                <a:srgbClr val="FFFFFF"/>
              </a:solidFill>
              <a:effectLst/>
              <a:uFillTx/>
              <a:latin typeface="Roboto"/>
            </a:endParaRPr>
          </a:p>
        </p:txBody>
      </p:sp>
      <p:sp>
        <p:nvSpPr>
          <p:cNvPr id="70" name="Shape 60"/>
          <p:cNvSpPr/>
          <p:nvPr/>
        </p:nvSpPr>
        <p:spPr>
          <a:xfrm>
            <a:off x="0" y="5790600"/>
            <a:ext cx="12191400" cy="360"/>
          </a:xfrm>
          <a:prstGeom prst="line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fr-FR" sz="1800" b="0" u="none" strike="noStrike">
              <a:solidFill>
                <a:srgbClr val="FFFFFF"/>
              </a:solidFill>
              <a:effectLst/>
              <a:uFillTx/>
              <a:latin typeface="Roboto"/>
            </a:endParaRPr>
          </a:p>
        </p:txBody>
      </p:sp>
      <p:sp>
        <p:nvSpPr>
          <p:cNvPr id="71" name="Shape 61"/>
          <p:cNvSpPr/>
          <p:nvPr/>
        </p:nvSpPr>
        <p:spPr>
          <a:xfrm>
            <a:off x="0" y="6095160"/>
            <a:ext cx="12191400" cy="360"/>
          </a:xfrm>
          <a:prstGeom prst="line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fr-FR" sz="1800" b="0" u="none" strike="noStrike">
              <a:solidFill>
                <a:srgbClr val="FFFFFF"/>
              </a:solidFill>
              <a:effectLst/>
              <a:uFillTx/>
              <a:latin typeface="Roboto"/>
            </a:endParaRPr>
          </a:p>
        </p:txBody>
      </p:sp>
      <p:sp>
        <p:nvSpPr>
          <p:cNvPr id="72" name="Shape 62"/>
          <p:cNvSpPr/>
          <p:nvPr/>
        </p:nvSpPr>
        <p:spPr>
          <a:xfrm>
            <a:off x="0" y="6400080"/>
            <a:ext cx="12191400" cy="360"/>
          </a:xfrm>
          <a:prstGeom prst="line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fr-FR" sz="1800" b="0" u="none" strike="noStrike">
              <a:solidFill>
                <a:srgbClr val="FFFFFF"/>
              </a:solidFill>
              <a:effectLst/>
              <a:uFillTx/>
              <a:latin typeface="Roboto"/>
            </a:endParaRPr>
          </a:p>
        </p:txBody>
      </p:sp>
      <p:sp>
        <p:nvSpPr>
          <p:cNvPr id="73" name="Shape 63"/>
          <p:cNvSpPr/>
          <p:nvPr/>
        </p:nvSpPr>
        <p:spPr>
          <a:xfrm>
            <a:off x="0" y="6704640"/>
            <a:ext cx="12191400" cy="360"/>
          </a:xfrm>
          <a:prstGeom prst="line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fr-FR" sz="1800" b="0" u="none" strike="noStrike">
              <a:solidFill>
                <a:srgbClr val="FFFFFF"/>
              </a:solidFill>
              <a:effectLst/>
              <a:uFillTx/>
              <a:latin typeface="Roboto"/>
            </a:endParaRPr>
          </a:p>
        </p:txBody>
      </p:sp>
      <p:sp>
        <p:nvSpPr>
          <p:cNvPr id="74" name="Text 64"/>
          <p:cNvSpPr/>
          <p:nvPr/>
        </p:nvSpPr>
        <p:spPr>
          <a:xfrm>
            <a:off x="640080" y="1417320"/>
            <a:ext cx="7313040" cy="31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pc="300" strike="noStrike">
                <a:solidFill>
                  <a:srgbClr val="F2A65A"/>
                </a:solidFill>
                <a:effectLst/>
                <a:uFillTx/>
                <a:latin typeface="Roboto"/>
                <a:ea typeface="Roboto"/>
              </a:rPr>
              <a:t>SPEED DATING ANALYSIS</a:t>
            </a:r>
            <a:endParaRPr lang="fr-FR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5" name="Text 65"/>
          <p:cNvSpPr/>
          <p:nvPr/>
        </p:nvSpPr>
        <p:spPr>
          <a:xfrm>
            <a:off x="594360" y="1783080"/>
            <a:ext cx="10513440" cy="1278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5400" b="1" u="none" strike="noStrike">
                <a:solidFill>
                  <a:srgbClr val="FFFFFF"/>
                </a:solidFill>
                <a:effectLst/>
                <a:uFillTx/>
                <a:latin typeface="Roboto"/>
                <a:ea typeface="Roboto"/>
              </a:rPr>
              <a:t>What Drives a </a:t>
            </a:r>
            <a:r>
              <a:rPr lang="en-US" sz="5400" b="1" u="none" strike="noStrike">
                <a:solidFill>
                  <a:srgbClr val="F2A65A"/>
                </a:solidFill>
                <a:effectLst/>
                <a:uFillTx/>
                <a:latin typeface="Roboto"/>
                <a:ea typeface="Roboto"/>
              </a:rPr>
              <a:t>Match?</a:t>
            </a:r>
            <a:endParaRPr lang="fr-FR" sz="5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6" name="Text 66"/>
          <p:cNvSpPr/>
          <p:nvPr/>
        </p:nvSpPr>
        <p:spPr>
          <a:xfrm>
            <a:off x="640080" y="2926080"/>
            <a:ext cx="7587360" cy="683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25000"/>
              </a:lnSpc>
              <a:tabLst>
                <a:tab pos="0" algn="l"/>
              </a:tabLst>
            </a:pPr>
            <a:r>
              <a:rPr lang="en-US" sz="1500" b="0" u="none" strike="noStrike">
                <a:solidFill>
                  <a:srgbClr val="8B96AC"/>
                </a:solidFill>
                <a:effectLst/>
                <a:uFillTx/>
                <a:latin typeface="Roboto"/>
                <a:ea typeface="Roboto"/>
              </a:rPr>
              <a:t>Investigating what actually drives attraction and decisions from real speed-dating experiments, and whether it differs by gender.</a:t>
            </a:r>
            <a:endParaRPr lang="fr-FR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7" name="Shape 67"/>
          <p:cNvSpPr/>
          <p:nvPr/>
        </p:nvSpPr>
        <p:spPr>
          <a:xfrm>
            <a:off x="548640" y="4023360"/>
            <a:ext cx="2421000" cy="363600"/>
          </a:xfrm>
          <a:prstGeom prst="roundRect">
            <a:avLst>
              <a:gd name="adj" fmla="val 22500"/>
            </a:avLst>
          </a:prstGeom>
          <a:solidFill>
            <a:srgbClr val="111726"/>
          </a:solidFill>
          <a:ln w="12700">
            <a:solidFill>
              <a:srgbClr val="3D4B7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fr-FR" sz="1800" b="0" u="none" strike="noStrike">
              <a:solidFill>
                <a:srgbClr val="FFFFFF"/>
              </a:solidFill>
              <a:effectLst/>
              <a:uFillTx/>
              <a:latin typeface="Roboto"/>
            </a:endParaRPr>
          </a:p>
        </p:txBody>
      </p:sp>
      <p:sp>
        <p:nvSpPr>
          <p:cNvPr id="78" name="Text 68"/>
          <p:cNvSpPr/>
          <p:nvPr/>
        </p:nvSpPr>
        <p:spPr>
          <a:xfrm>
            <a:off x="548640" y="4023360"/>
            <a:ext cx="2421000" cy="36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FFFFFF"/>
                </a:solidFill>
                <a:effectLst/>
                <a:uFillTx/>
                <a:latin typeface="Roboto"/>
                <a:ea typeface="Roboto"/>
              </a:rPr>
              <a:t>8,378 dates recorded</a:t>
            </a:r>
            <a:endParaRPr lang="fr-FR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9" name="Shape 69"/>
          <p:cNvSpPr/>
          <p:nvPr/>
        </p:nvSpPr>
        <p:spPr>
          <a:xfrm>
            <a:off x="3108960" y="4023360"/>
            <a:ext cx="2421000" cy="363600"/>
          </a:xfrm>
          <a:prstGeom prst="roundRect">
            <a:avLst>
              <a:gd name="adj" fmla="val 22500"/>
            </a:avLst>
          </a:prstGeom>
          <a:solidFill>
            <a:srgbClr val="111726"/>
          </a:solidFill>
          <a:ln w="12700">
            <a:solidFill>
              <a:srgbClr val="3D4B7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fr-FR" sz="1800" b="0" u="none" strike="noStrike">
              <a:solidFill>
                <a:srgbClr val="FFFFFF"/>
              </a:solidFill>
              <a:effectLst/>
              <a:uFillTx/>
              <a:latin typeface="Roboto"/>
            </a:endParaRPr>
          </a:p>
        </p:txBody>
      </p:sp>
      <p:sp>
        <p:nvSpPr>
          <p:cNvPr id="80" name="Text 70"/>
          <p:cNvSpPr/>
          <p:nvPr/>
        </p:nvSpPr>
        <p:spPr>
          <a:xfrm>
            <a:off x="3108960" y="4023360"/>
            <a:ext cx="2421000" cy="36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FFFFFF"/>
                </a:solidFill>
                <a:effectLst/>
                <a:uFillTx/>
                <a:latin typeface="Roboto"/>
                <a:ea typeface="Roboto"/>
              </a:rPr>
              <a:t>551 participants</a:t>
            </a:r>
            <a:endParaRPr lang="fr-FR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1" name="Shape 71"/>
          <p:cNvSpPr/>
          <p:nvPr/>
        </p:nvSpPr>
        <p:spPr>
          <a:xfrm>
            <a:off x="548640" y="6263640"/>
            <a:ext cx="11091600" cy="360"/>
          </a:xfrm>
          <a:prstGeom prst="line">
            <a:avLst/>
          </a:prstGeom>
          <a:ln w="12700">
            <a:solidFill>
              <a:srgbClr val="3D4B7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fr-FR" sz="1800" b="0" u="none" strike="noStrike">
              <a:solidFill>
                <a:srgbClr val="FFFFFF"/>
              </a:solidFill>
              <a:effectLst/>
              <a:uFillTx/>
              <a:latin typeface="Roboto"/>
            </a:endParaRPr>
          </a:p>
        </p:txBody>
      </p:sp>
      <p:sp>
        <p:nvSpPr>
          <p:cNvPr id="82" name="Text 72"/>
          <p:cNvSpPr/>
          <p:nvPr/>
        </p:nvSpPr>
        <p:spPr>
          <a:xfrm>
            <a:off x="548640" y="6355080"/>
            <a:ext cx="8227440" cy="27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5C6684"/>
                </a:solidFill>
                <a:effectLst/>
                <a:uFillTx/>
                <a:latin typeface="Roboto"/>
                <a:ea typeface="Roboto"/>
              </a:rPr>
              <a:t>21 experiment waves · Six attributes rated face-to-face · Logistic regression by gender</a:t>
            </a:r>
            <a:endParaRPr lang="fr-FR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Shape 0"/>
          <p:cNvSpPr/>
          <p:nvPr/>
        </p:nvSpPr>
        <p:spPr>
          <a:xfrm>
            <a:off x="0" y="0"/>
            <a:ext cx="360" cy="6858000"/>
          </a:xfrm>
          <a:prstGeom prst="line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0" tIns="45000" rIns="0" bIns="45000" anchor="t" anchorCtr="1">
            <a:noAutofit/>
          </a:bodyPr>
          <a:p>
            <a:endParaRPr lang="fr-FR" sz="1800" b="0" u="none" strike="noStrike">
              <a:solidFill>
                <a:srgbClr val="FFFFFF"/>
              </a:solidFill>
              <a:effectLst/>
              <a:uFillTx/>
              <a:latin typeface="Roboto"/>
            </a:endParaRPr>
          </a:p>
        </p:txBody>
      </p:sp>
      <p:sp>
        <p:nvSpPr>
          <p:cNvPr id="84" name="Shape 1"/>
          <p:cNvSpPr/>
          <p:nvPr/>
        </p:nvSpPr>
        <p:spPr>
          <a:xfrm>
            <a:off x="304560" y="0"/>
            <a:ext cx="360" cy="6858000"/>
          </a:xfrm>
          <a:prstGeom prst="line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0" tIns="45000" rIns="0" bIns="45000" anchor="t" anchorCtr="1">
            <a:noAutofit/>
          </a:bodyPr>
          <a:p>
            <a:endParaRPr lang="fr-FR" sz="1800" b="0" u="none" strike="noStrike">
              <a:solidFill>
                <a:srgbClr val="FFFFFF"/>
              </a:solidFill>
              <a:effectLst/>
              <a:uFillTx/>
              <a:latin typeface="Roboto"/>
            </a:endParaRPr>
          </a:p>
        </p:txBody>
      </p:sp>
      <p:sp>
        <p:nvSpPr>
          <p:cNvPr id="85" name="Shape 2"/>
          <p:cNvSpPr/>
          <p:nvPr/>
        </p:nvSpPr>
        <p:spPr>
          <a:xfrm>
            <a:off x="609480" y="0"/>
            <a:ext cx="360" cy="6858000"/>
          </a:xfrm>
          <a:prstGeom prst="line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0" tIns="45000" rIns="0" bIns="45000" anchor="t" anchorCtr="1">
            <a:noAutofit/>
          </a:bodyPr>
          <a:p>
            <a:endParaRPr lang="fr-FR" sz="1800" b="0" u="none" strike="noStrike">
              <a:solidFill>
                <a:srgbClr val="FFFFFF"/>
              </a:solidFill>
              <a:effectLst/>
              <a:uFillTx/>
              <a:latin typeface="Roboto"/>
            </a:endParaRPr>
          </a:p>
        </p:txBody>
      </p:sp>
      <p:sp>
        <p:nvSpPr>
          <p:cNvPr id="86" name="Shape 3"/>
          <p:cNvSpPr/>
          <p:nvPr/>
        </p:nvSpPr>
        <p:spPr>
          <a:xfrm>
            <a:off x="914040" y="0"/>
            <a:ext cx="360" cy="6858000"/>
          </a:xfrm>
          <a:prstGeom prst="line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0" tIns="45000" rIns="0" bIns="45000" anchor="t" anchorCtr="1">
            <a:noAutofit/>
          </a:bodyPr>
          <a:p>
            <a:endParaRPr lang="fr-FR" sz="1800" b="0" u="none" strike="noStrike">
              <a:solidFill>
                <a:srgbClr val="FFFFFF"/>
              </a:solidFill>
              <a:effectLst/>
              <a:uFillTx/>
              <a:latin typeface="Roboto"/>
            </a:endParaRPr>
          </a:p>
        </p:txBody>
      </p:sp>
      <p:sp>
        <p:nvSpPr>
          <p:cNvPr id="87" name="Shape 4"/>
          <p:cNvSpPr/>
          <p:nvPr/>
        </p:nvSpPr>
        <p:spPr>
          <a:xfrm>
            <a:off x="1218960" y="0"/>
            <a:ext cx="360" cy="6858000"/>
          </a:xfrm>
          <a:prstGeom prst="line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0" tIns="45000" rIns="0" bIns="45000" anchor="t" anchorCtr="1">
            <a:noAutofit/>
          </a:bodyPr>
          <a:p>
            <a:endParaRPr lang="fr-FR" sz="1800" b="0" u="none" strike="noStrike">
              <a:solidFill>
                <a:srgbClr val="FFFFFF"/>
              </a:solidFill>
              <a:effectLst/>
              <a:uFillTx/>
              <a:latin typeface="Roboto"/>
            </a:endParaRPr>
          </a:p>
        </p:txBody>
      </p:sp>
      <p:sp>
        <p:nvSpPr>
          <p:cNvPr id="88" name="Shape 5"/>
          <p:cNvSpPr/>
          <p:nvPr/>
        </p:nvSpPr>
        <p:spPr>
          <a:xfrm>
            <a:off x="1523520" y="0"/>
            <a:ext cx="360" cy="6858000"/>
          </a:xfrm>
          <a:prstGeom prst="line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0" tIns="45000" rIns="0" bIns="45000" anchor="t" anchorCtr="1">
            <a:noAutofit/>
          </a:bodyPr>
          <a:p>
            <a:endParaRPr lang="fr-FR" sz="1800" b="0" u="none" strike="noStrike">
              <a:solidFill>
                <a:srgbClr val="FFFFFF"/>
              </a:solidFill>
              <a:effectLst/>
              <a:uFillTx/>
              <a:latin typeface="Roboto"/>
            </a:endParaRPr>
          </a:p>
        </p:txBody>
      </p:sp>
      <p:sp>
        <p:nvSpPr>
          <p:cNvPr id="89" name="Shape 6"/>
          <p:cNvSpPr/>
          <p:nvPr/>
        </p:nvSpPr>
        <p:spPr>
          <a:xfrm>
            <a:off x="1828440" y="0"/>
            <a:ext cx="360" cy="6858000"/>
          </a:xfrm>
          <a:prstGeom prst="line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0" tIns="45000" rIns="0" bIns="45000" anchor="t" anchorCtr="1">
            <a:noAutofit/>
          </a:bodyPr>
          <a:p>
            <a:endParaRPr lang="fr-FR" sz="1800" b="0" u="none" strike="noStrike">
              <a:solidFill>
                <a:srgbClr val="FFFFFF"/>
              </a:solidFill>
              <a:effectLst/>
              <a:uFillTx/>
              <a:latin typeface="Roboto"/>
            </a:endParaRPr>
          </a:p>
        </p:txBody>
      </p:sp>
      <p:sp>
        <p:nvSpPr>
          <p:cNvPr id="90" name="Shape 7"/>
          <p:cNvSpPr/>
          <p:nvPr/>
        </p:nvSpPr>
        <p:spPr>
          <a:xfrm>
            <a:off x="2133360" y="0"/>
            <a:ext cx="360" cy="6858000"/>
          </a:xfrm>
          <a:prstGeom prst="line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0" tIns="45000" rIns="0" bIns="45000" anchor="t" anchorCtr="1">
            <a:noAutofit/>
          </a:bodyPr>
          <a:p>
            <a:endParaRPr lang="fr-FR" sz="1800" b="0" u="none" strike="noStrike">
              <a:solidFill>
                <a:srgbClr val="FFFFFF"/>
              </a:solidFill>
              <a:effectLst/>
              <a:uFillTx/>
              <a:latin typeface="Roboto"/>
            </a:endParaRPr>
          </a:p>
        </p:txBody>
      </p:sp>
      <p:sp>
        <p:nvSpPr>
          <p:cNvPr id="91" name="Shape 8"/>
          <p:cNvSpPr/>
          <p:nvPr/>
        </p:nvSpPr>
        <p:spPr>
          <a:xfrm>
            <a:off x="2437920" y="0"/>
            <a:ext cx="360" cy="6858000"/>
          </a:xfrm>
          <a:prstGeom prst="line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0" tIns="45000" rIns="0" bIns="45000" anchor="t" anchorCtr="1">
            <a:noAutofit/>
          </a:bodyPr>
          <a:p>
            <a:endParaRPr lang="fr-FR" sz="1800" b="0" u="none" strike="noStrike">
              <a:solidFill>
                <a:srgbClr val="FFFFFF"/>
              </a:solidFill>
              <a:effectLst/>
              <a:uFillTx/>
              <a:latin typeface="Roboto"/>
            </a:endParaRPr>
          </a:p>
        </p:txBody>
      </p:sp>
      <p:sp>
        <p:nvSpPr>
          <p:cNvPr id="92" name="Shape 9"/>
          <p:cNvSpPr/>
          <p:nvPr/>
        </p:nvSpPr>
        <p:spPr>
          <a:xfrm>
            <a:off x="2742840" y="0"/>
            <a:ext cx="360" cy="6858000"/>
          </a:xfrm>
          <a:prstGeom prst="line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0" tIns="45000" rIns="0" bIns="45000" anchor="t" anchorCtr="1">
            <a:noAutofit/>
          </a:bodyPr>
          <a:p>
            <a:endParaRPr lang="fr-FR" sz="1800" b="0" u="none" strike="noStrike">
              <a:solidFill>
                <a:srgbClr val="FFFFFF"/>
              </a:solidFill>
              <a:effectLst/>
              <a:uFillTx/>
              <a:latin typeface="Roboto"/>
            </a:endParaRPr>
          </a:p>
        </p:txBody>
      </p:sp>
      <p:sp>
        <p:nvSpPr>
          <p:cNvPr id="93" name="Shape 10"/>
          <p:cNvSpPr/>
          <p:nvPr/>
        </p:nvSpPr>
        <p:spPr>
          <a:xfrm>
            <a:off x="3047400" y="0"/>
            <a:ext cx="360" cy="6858000"/>
          </a:xfrm>
          <a:prstGeom prst="line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0" tIns="45000" rIns="0" bIns="45000" anchor="t" anchorCtr="1">
            <a:noAutofit/>
          </a:bodyPr>
          <a:p>
            <a:endParaRPr lang="fr-FR" sz="1800" b="0" u="none" strike="noStrike">
              <a:solidFill>
                <a:srgbClr val="FFFFFF"/>
              </a:solidFill>
              <a:effectLst/>
              <a:uFillTx/>
              <a:latin typeface="Roboto"/>
            </a:endParaRPr>
          </a:p>
        </p:txBody>
      </p:sp>
      <p:sp>
        <p:nvSpPr>
          <p:cNvPr id="94" name="Shape 11"/>
          <p:cNvSpPr/>
          <p:nvPr/>
        </p:nvSpPr>
        <p:spPr>
          <a:xfrm>
            <a:off x="3352320" y="0"/>
            <a:ext cx="360" cy="6858000"/>
          </a:xfrm>
          <a:prstGeom prst="line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0" tIns="45000" rIns="0" bIns="45000" anchor="t" anchorCtr="1">
            <a:noAutofit/>
          </a:bodyPr>
          <a:p>
            <a:endParaRPr lang="fr-FR" sz="1800" b="0" u="none" strike="noStrike">
              <a:solidFill>
                <a:srgbClr val="FFFFFF"/>
              </a:solidFill>
              <a:effectLst/>
              <a:uFillTx/>
              <a:latin typeface="Roboto"/>
            </a:endParaRPr>
          </a:p>
        </p:txBody>
      </p:sp>
      <p:sp>
        <p:nvSpPr>
          <p:cNvPr id="95" name="Shape 12"/>
          <p:cNvSpPr/>
          <p:nvPr/>
        </p:nvSpPr>
        <p:spPr>
          <a:xfrm>
            <a:off x="3656880" y="0"/>
            <a:ext cx="360" cy="6858000"/>
          </a:xfrm>
          <a:prstGeom prst="line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0" tIns="45000" rIns="0" bIns="45000" anchor="t" anchorCtr="1">
            <a:noAutofit/>
          </a:bodyPr>
          <a:p>
            <a:endParaRPr lang="fr-FR" sz="1800" b="0" u="none" strike="noStrike">
              <a:solidFill>
                <a:srgbClr val="FFFFFF"/>
              </a:solidFill>
              <a:effectLst/>
              <a:uFillTx/>
              <a:latin typeface="Roboto"/>
            </a:endParaRPr>
          </a:p>
        </p:txBody>
      </p:sp>
      <p:sp>
        <p:nvSpPr>
          <p:cNvPr id="96" name="Shape 13"/>
          <p:cNvSpPr/>
          <p:nvPr/>
        </p:nvSpPr>
        <p:spPr>
          <a:xfrm>
            <a:off x="3961800" y="0"/>
            <a:ext cx="360" cy="6858000"/>
          </a:xfrm>
          <a:prstGeom prst="line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0" tIns="45000" rIns="0" bIns="45000" anchor="t" anchorCtr="1">
            <a:noAutofit/>
          </a:bodyPr>
          <a:p>
            <a:endParaRPr lang="fr-FR" sz="1800" b="0" u="none" strike="noStrike">
              <a:solidFill>
                <a:srgbClr val="FFFFFF"/>
              </a:solidFill>
              <a:effectLst/>
              <a:uFillTx/>
              <a:latin typeface="Roboto"/>
            </a:endParaRPr>
          </a:p>
        </p:txBody>
      </p:sp>
      <p:sp>
        <p:nvSpPr>
          <p:cNvPr id="97" name="Shape 14"/>
          <p:cNvSpPr/>
          <p:nvPr/>
        </p:nvSpPr>
        <p:spPr>
          <a:xfrm>
            <a:off x="4266720" y="0"/>
            <a:ext cx="360" cy="6858000"/>
          </a:xfrm>
          <a:prstGeom prst="line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0" tIns="45000" rIns="0" bIns="45000" anchor="t" anchorCtr="1">
            <a:noAutofit/>
          </a:bodyPr>
          <a:p>
            <a:endParaRPr lang="fr-FR" sz="1800" b="0" u="none" strike="noStrike">
              <a:solidFill>
                <a:srgbClr val="FFFFFF"/>
              </a:solidFill>
              <a:effectLst/>
              <a:uFillTx/>
              <a:latin typeface="Roboto"/>
            </a:endParaRPr>
          </a:p>
        </p:txBody>
      </p:sp>
      <p:sp>
        <p:nvSpPr>
          <p:cNvPr id="98" name="Shape 15"/>
          <p:cNvSpPr/>
          <p:nvPr/>
        </p:nvSpPr>
        <p:spPr>
          <a:xfrm>
            <a:off x="4571280" y="0"/>
            <a:ext cx="360" cy="6858000"/>
          </a:xfrm>
          <a:prstGeom prst="line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0" tIns="45000" rIns="0" bIns="45000" anchor="t" anchorCtr="1">
            <a:noAutofit/>
          </a:bodyPr>
          <a:p>
            <a:endParaRPr lang="fr-FR" sz="1800" b="0" u="none" strike="noStrike">
              <a:solidFill>
                <a:srgbClr val="FFFFFF"/>
              </a:solidFill>
              <a:effectLst/>
              <a:uFillTx/>
              <a:latin typeface="Roboto"/>
            </a:endParaRPr>
          </a:p>
        </p:txBody>
      </p:sp>
      <p:sp>
        <p:nvSpPr>
          <p:cNvPr id="99" name="Shape 16"/>
          <p:cNvSpPr/>
          <p:nvPr/>
        </p:nvSpPr>
        <p:spPr>
          <a:xfrm>
            <a:off x="4876200" y="0"/>
            <a:ext cx="360" cy="6858000"/>
          </a:xfrm>
          <a:prstGeom prst="line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0" tIns="45000" rIns="0" bIns="45000" anchor="t" anchorCtr="1">
            <a:noAutofit/>
          </a:bodyPr>
          <a:p>
            <a:endParaRPr lang="fr-FR" sz="1800" b="0" u="none" strike="noStrike">
              <a:solidFill>
                <a:srgbClr val="FFFFFF"/>
              </a:solidFill>
              <a:effectLst/>
              <a:uFillTx/>
              <a:latin typeface="Roboto"/>
            </a:endParaRPr>
          </a:p>
        </p:txBody>
      </p:sp>
      <p:sp>
        <p:nvSpPr>
          <p:cNvPr id="100" name="Shape 17"/>
          <p:cNvSpPr/>
          <p:nvPr/>
        </p:nvSpPr>
        <p:spPr>
          <a:xfrm>
            <a:off x="5180760" y="0"/>
            <a:ext cx="360" cy="6858000"/>
          </a:xfrm>
          <a:prstGeom prst="line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0" tIns="45000" rIns="0" bIns="45000" anchor="t" anchorCtr="1">
            <a:noAutofit/>
          </a:bodyPr>
          <a:p>
            <a:endParaRPr lang="fr-FR" sz="1800" b="0" u="none" strike="noStrike">
              <a:solidFill>
                <a:srgbClr val="FFFFFF"/>
              </a:solidFill>
              <a:effectLst/>
              <a:uFillTx/>
              <a:latin typeface="Roboto"/>
            </a:endParaRPr>
          </a:p>
        </p:txBody>
      </p:sp>
      <p:sp>
        <p:nvSpPr>
          <p:cNvPr id="101" name="Shape 18"/>
          <p:cNvSpPr/>
          <p:nvPr/>
        </p:nvSpPr>
        <p:spPr>
          <a:xfrm>
            <a:off x="5485680" y="0"/>
            <a:ext cx="360" cy="6858000"/>
          </a:xfrm>
          <a:prstGeom prst="line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0" tIns="45000" rIns="0" bIns="45000" anchor="t" anchorCtr="1">
            <a:noAutofit/>
          </a:bodyPr>
          <a:p>
            <a:endParaRPr lang="fr-FR" sz="1800" b="0" u="none" strike="noStrike">
              <a:solidFill>
                <a:srgbClr val="FFFFFF"/>
              </a:solidFill>
              <a:effectLst/>
              <a:uFillTx/>
              <a:latin typeface="Roboto"/>
            </a:endParaRPr>
          </a:p>
        </p:txBody>
      </p:sp>
      <p:sp>
        <p:nvSpPr>
          <p:cNvPr id="102" name="Shape 19"/>
          <p:cNvSpPr/>
          <p:nvPr/>
        </p:nvSpPr>
        <p:spPr>
          <a:xfrm>
            <a:off x="5790600" y="0"/>
            <a:ext cx="360" cy="6858000"/>
          </a:xfrm>
          <a:prstGeom prst="line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0" tIns="45000" rIns="0" bIns="45000" anchor="t" anchorCtr="1">
            <a:noAutofit/>
          </a:bodyPr>
          <a:p>
            <a:endParaRPr lang="fr-FR" sz="1800" b="0" u="none" strike="noStrike">
              <a:solidFill>
                <a:srgbClr val="FFFFFF"/>
              </a:solidFill>
              <a:effectLst/>
              <a:uFillTx/>
              <a:latin typeface="Roboto"/>
            </a:endParaRPr>
          </a:p>
        </p:txBody>
      </p:sp>
      <p:sp>
        <p:nvSpPr>
          <p:cNvPr id="103" name="Shape 20"/>
          <p:cNvSpPr/>
          <p:nvPr/>
        </p:nvSpPr>
        <p:spPr>
          <a:xfrm>
            <a:off x="6095160" y="0"/>
            <a:ext cx="360" cy="6858000"/>
          </a:xfrm>
          <a:prstGeom prst="line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0" tIns="45000" rIns="0" bIns="45000" anchor="t" anchorCtr="1">
            <a:noAutofit/>
          </a:bodyPr>
          <a:p>
            <a:endParaRPr lang="fr-FR" sz="1800" b="0" u="none" strike="noStrike">
              <a:solidFill>
                <a:srgbClr val="FFFFFF"/>
              </a:solidFill>
              <a:effectLst/>
              <a:uFillTx/>
              <a:latin typeface="Roboto"/>
            </a:endParaRPr>
          </a:p>
        </p:txBody>
      </p:sp>
      <p:sp>
        <p:nvSpPr>
          <p:cNvPr id="104" name="Shape 21"/>
          <p:cNvSpPr/>
          <p:nvPr/>
        </p:nvSpPr>
        <p:spPr>
          <a:xfrm>
            <a:off x="6400080" y="0"/>
            <a:ext cx="360" cy="6858000"/>
          </a:xfrm>
          <a:prstGeom prst="line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0" tIns="45000" rIns="0" bIns="45000" anchor="t" anchorCtr="1">
            <a:noAutofit/>
          </a:bodyPr>
          <a:p>
            <a:endParaRPr lang="fr-FR" sz="1800" b="0" u="none" strike="noStrike">
              <a:solidFill>
                <a:srgbClr val="FFFFFF"/>
              </a:solidFill>
              <a:effectLst/>
              <a:uFillTx/>
              <a:latin typeface="Roboto"/>
            </a:endParaRPr>
          </a:p>
        </p:txBody>
      </p:sp>
      <p:sp>
        <p:nvSpPr>
          <p:cNvPr id="105" name="Shape 22"/>
          <p:cNvSpPr/>
          <p:nvPr/>
        </p:nvSpPr>
        <p:spPr>
          <a:xfrm>
            <a:off x="6704640" y="0"/>
            <a:ext cx="360" cy="6858000"/>
          </a:xfrm>
          <a:prstGeom prst="line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0" tIns="45000" rIns="0" bIns="45000" anchor="t" anchorCtr="1">
            <a:noAutofit/>
          </a:bodyPr>
          <a:p>
            <a:endParaRPr lang="fr-FR" sz="1800" b="0" u="none" strike="noStrike">
              <a:solidFill>
                <a:srgbClr val="FFFFFF"/>
              </a:solidFill>
              <a:effectLst/>
              <a:uFillTx/>
              <a:latin typeface="Roboto"/>
            </a:endParaRPr>
          </a:p>
        </p:txBody>
      </p:sp>
      <p:sp>
        <p:nvSpPr>
          <p:cNvPr id="106" name="Shape 23"/>
          <p:cNvSpPr/>
          <p:nvPr/>
        </p:nvSpPr>
        <p:spPr>
          <a:xfrm>
            <a:off x="7009560" y="0"/>
            <a:ext cx="360" cy="6858000"/>
          </a:xfrm>
          <a:prstGeom prst="line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0" tIns="45000" rIns="0" bIns="45000" anchor="t" anchorCtr="1">
            <a:noAutofit/>
          </a:bodyPr>
          <a:p>
            <a:endParaRPr lang="fr-FR" sz="1800" b="0" u="none" strike="noStrike">
              <a:solidFill>
                <a:srgbClr val="FFFFFF"/>
              </a:solidFill>
              <a:effectLst/>
              <a:uFillTx/>
              <a:latin typeface="Roboto"/>
            </a:endParaRPr>
          </a:p>
        </p:txBody>
      </p:sp>
      <p:sp>
        <p:nvSpPr>
          <p:cNvPr id="107" name="Shape 24"/>
          <p:cNvSpPr/>
          <p:nvPr/>
        </p:nvSpPr>
        <p:spPr>
          <a:xfrm>
            <a:off x="7314120" y="0"/>
            <a:ext cx="360" cy="6858000"/>
          </a:xfrm>
          <a:prstGeom prst="line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0" tIns="45000" rIns="0" bIns="45000" anchor="t" anchorCtr="1">
            <a:noAutofit/>
          </a:bodyPr>
          <a:p>
            <a:endParaRPr lang="fr-FR" sz="1800" b="0" u="none" strike="noStrike">
              <a:solidFill>
                <a:srgbClr val="FFFFFF"/>
              </a:solidFill>
              <a:effectLst/>
              <a:uFillTx/>
              <a:latin typeface="Roboto"/>
            </a:endParaRPr>
          </a:p>
        </p:txBody>
      </p:sp>
      <p:sp>
        <p:nvSpPr>
          <p:cNvPr id="108" name="Shape 25"/>
          <p:cNvSpPr/>
          <p:nvPr/>
        </p:nvSpPr>
        <p:spPr>
          <a:xfrm>
            <a:off x="7619040" y="0"/>
            <a:ext cx="360" cy="6858000"/>
          </a:xfrm>
          <a:prstGeom prst="line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0" tIns="45000" rIns="0" bIns="45000" anchor="t" anchorCtr="1">
            <a:noAutofit/>
          </a:bodyPr>
          <a:p>
            <a:endParaRPr lang="fr-FR" sz="1800" b="0" u="none" strike="noStrike">
              <a:solidFill>
                <a:srgbClr val="FFFFFF"/>
              </a:solidFill>
              <a:effectLst/>
              <a:uFillTx/>
              <a:latin typeface="Roboto"/>
            </a:endParaRPr>
          </a:p>
        </p:txBody>
      </p:sp>
      <p:sp>
        <p:nvSpPr>
          <p:cNvPr id="109" name="Shape 26"/>
          <p:cNvSpPr/>
          <p:nvPr/>
        </p:nvSpPr>
        <p:spPr>
          <a:xfrm>
            <a:off x="7923960" y="0"/>
            <a:ext cx="360" cy="6858000"/>
          </a:xfrm>
          <a:prstGeom prst="line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0" tIns="45000" rIns="0" bIns="45000" anchor="t" anchorCtr="1">
            <a:noAutofit/>
          </a:bodyPr>
          <a:p>
            <a:endParaRPr lang="fr-FR" sz="1800" b="0" u="none" strike="noStrike">
              <a:solidFill>
                <a:srgbClr val="FFFFFF"/>
              </a:solidFill>
              <a:effectLst/>
              <a:uFillTx/>
              <a:latin typeface="Roboto"/>
            </a:endParaRPr>
          </a:p>
        </p:txBody>
      </p:sp>
      <p:sp>
        <p:nvSpPr>
          <p:cNvPr id="110" name="Shape 27"/>
          <p:cNvSpPr/>
          <p:nvPr/>
        </p:nvSpPr>
        <p:spPr>
          <a:xfrm>
            <a:off x="8228520" y="0"/>
            <a:ext cx="360" cy="6858000"/>
          </a:xfrm>
          <a:prstGeom prst="line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0" tIns="45000" rIns="0" bIns="45000" anchor="t" anchorCtr="1">
            <a:noAutofit/>
          </a:bodyPr>
          <a:p>
            <a:endParaRPr lang="fr-FR" sz="1800" b="0" u="none" strike="noStrike">
              <a:solidFill>
                <a:srgbClr val="FFFFFF"/>
              </a:solidFill>
              <a:effectLst/>
              <a:uFillTx/>
              <a:latin typeface="Roboto"/>
            </a:endParaRPr>
          </a:p>
        </p:txBody>
      </p:sp>
      <p:sp>
        <p:nvSpPr>
          <p:cNvPr id="111" name="Shape 28"/>
          <p:cNvSpPr/>
          <p:nvPr/>
        </p:nvSpPr>
        <p:spPr>
          <a:xfrm>
            <a:off x="8533440" y="0"/>
            <a:ext cx="360" cy="6858000"/>
          </a:xfrm>
          <a:prstGeom prst="line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0" tIns="45000" rIns="0" bIns="45000" anchor="t" anchorCtr="1">
            <a:noAutofit/>
          </a:bodyPr>
          <a:p>
            <a:endParaRPr lang="fr-FR" sz="1800" b="0" u="none" strike="noStrike">
              <a:solidFill>
                <a:srgbClr val="FFFFFF"/>
              </a:solidFill>
              <a:effectLst/>
              <a:uFillTx/>
              <a:latin typeface="Roboto"/>
            </a:endParaRPr>
          </a:p>
        </p:txBody>
      </p:sp>
      <p:sp>
        <p:nvSpPr>
          <p:cNvPr id="112" name="Shape 29"/>
          <p:cNvSpPr/>
          <p:nvPr/>
        </p:nvSpPr>
        <p:spPr>
          <a:xfrm>
            <a:off x="8838000" y="0"/>
            <a:ext cx="360" cy="6858000"/>
          </a:xfrm>
          <a:prstGeom prst="line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0" tIns="45000" rIns="0" bIns="45000" anchor="t" anchorCtr="1">
            <a:noAutofit/>
          </a:bodyPr>
          <a:p>
            <a:endParaRPr lang="fr-FR" sz="1800" b="0" u="none" strike="noStrike">
              <a:solidFill>
                <a:srgbClr val="FFFFFF"/>
              </a:solidFill>
              <a:effectLst/>
              <a:uFillTx/>
              <a:latin typeface="Roboto"/>
            </a:endParaRPr>
          </a:p>
        </p:txBody>
      </p:sp>
      <p:sp>
        <p:nvSpPr>
          <p:cNvPr id="113" name="Shape 30"/>
          <p:cNvSpPr/>
          <p:nvPr/>
        </p:nvSpPr>
        <p:spPr>
          <a:xfrm>
            <a:off x="9142920" y="0"/>
            <a:ext cx="360" cy="6858000"/>
          </a:xfrm>
          <a:prstGeom prst="line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0" tIns="45000" rIns="0" bIns="45000" anchor="t" anchorCtr="1">
            <a:noAutofit/>
          </a:bodyPr>
          <a:p>
            <a:endParaRPr lang="fr-FR" sz="1800" b="0" u="none" strike="noStrike">
              <a:solidFill>
                <a:srgbClr val="FFFFFF"/>
              </a:solidFill>
              <a:effectLst/>
              <a:uFillTx/>
              <a:latin typeface="Roboto"/>
            </a:endParaRPr>
          </a:p>
        </p:txBody>
      </p:sp>
      <p:sp>
        <p:nvSpPr>
          <p:cNvPr id="114" name="Shape 31"/>
          <p:cNvSpPr/>
          <p:nvPr/>
        </p:nvSpPr>
        <p:spPr>
          <a:xfrm>
            <a:off x="9447840" y="0"/>
            <a:ext cx="360" cy="6858000"/>
          </a:xfrm>
          <a:prstGeom prst="line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0" tIns="45000" rIns="0" bIns="45000" anchor="t" anchorCtr="1">
            <a:noAutofit/>
          </a:bodyPr>
          <a:p>
            <a:endParaRPr lang="fr-FR" sz="1800" b="0" u="none" strike="noStrike">
              <a:solidFill>
                <a:srgbClr val="FFFFFF"/>
              </a:solidFill>
              <a:effectLst/>
              <a:uFillTx/>
              <a:latin typeface="Roboto"/>
            </a:endParaRPr>
          </a:p>
        </p:txBody>
      </p:sp>
      <p:sp>
        <p:nvSpPr>
          <p:cNvPr id="115" name="Shape 32"/>
          <p:cNvSpPr/>
          <p:nvPr/>
        </p:nvSpPr>
        <p:spPr>
          <a:xfrm>
            <a:off x="9752400" y="0"/>
            <a:ext cx="360" cy="6858000"/>
          </a:xfrm>
          <a:prstGeom prst="line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0" tIns="45000" rIns="0" bIns="45000" anchor="t" anchorCtr="1">
            <a:noAutofit/>
          </a:bodyPr>
          <a:p>
            <a:endParaRPr lang="fr-FR" sz="1800" b="0" u="none" strike="noStrike">
              <a:solidFill>
                <a:srgbClr val="FFFFFF"/>
              </a:solidFill>
              <a:effectLst/>
              <a:uFillTx/>
              <a:latin typeface="Roboto"/>
            </a:endParaRPr>
          </a:p>
        </p:txBody>
      </p:sp>
      <p:sp>
        <p:nvSpPr>
          <p:cNvPr id="116" name="Shape 33"/>
          <p:cNvSpPr/>
          <p:nvPr/>
        </p:nvSpPr>
        <p:spPr>
          <a:xfrm>
            <a:off x="10057320" y="0"/>
            <a:ext cx="360" cy="6858000"/>
          </a:xfrm>
          <a:prstGeom prst="line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0" tIns="45000" rIns="0" bIns="45000" anchor="t" anchorCtr="1">
            <a:noAutofit/>
          </a:bodyPr>
          <a:p>
            <a:endParaRPr lang="fr-FR" sz="1800" b="0" u="none" strike="noStrike">
              <a:solidFill>
                <a:srgbClr val="FFFFFF"/>
              </a:solidFill>
              <a:effectLst/>
              <a:uFillTx/>
              <a:latin typeface="Roboto"/>
            </a:endParaRPr>
          </a:p>
        </p:txBody>
      </p:sp>
      <p:sp>
        <p:nvSpPr>
          <p:cNvPr id="117" name="Shape 34"/>
          <p:cNvSpPr/>
          <p:nvPr/>
        </p:nvSpPr>
        <p:spPr>
          <a:xfrm>
            <a:off x="10361880" y="0"/>
            <a:ext cx="360" cy="6858000"/>
          </a:xfrm>
          <a:prstGeom prst="line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0" tIns="45000" rIns="0" bIns="45000" anchor="t" anchorCtr="1">
            <a:noAutofit/>
          </a:bodyPr>
          <a:p>
            <a:endParaRPr lang="fr-FR" sz="1800" b="0" u="none" strike="noStrike">
              <a:solidFill>
                <a:srgbClr val="FFFFFF"/>
              </a:solidFill>
              <a:effectLst/>
              <a:uFillTx/>
              <a:latin typeface="Roboto"/>
            </a:endParaRPr>
          </a:p>
        </p:txBody>
      </p:sp>
      <p:sp>
        <p:nvSpPr>
          <p:cNvPr id="118" name="Shape 35"/>
          <p:cNvSpPr/>
          <p:nvPr/>
        </p:nvSpPr>
        <p:spPr>
          <a:xfrm>
            <a:off x="10666800" y="0"/>
            <a:ext cx="360" cy="6858000"/>
          </a:xfrm>
          <a:prstGeom prst="line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0" tIns="45000" rIns="0" bIns="45000" anchor="t" anchorCtr="1">
            <a:noAutofit/>
          </a:bodyPr>
          <a:p>
            <a:endParaRPr lang="fr-FR" sz="1800" b="0" u="none" strike="noStrike">
              <a:solidFill>
                <a:srgbClr val="FFFFFF"/>
              </a:solidFill>
              <a:effectLst/>
              <a:uFillTx/>
              <a:latin typeface="Roboto"/>
            </a:endParaRPr>
          </a:p>
        </p:txBody>
      </p:sp>
      <p:sp>
        <p:nvSpPr>
          <p:cNvPr id="119" name="Shape 36"/>
          <p:cNvSpPr/>
          <p:nvPr/>
        </p:nvSpPr>
        <p:spPr>
          <a:xfrm>
            <a:off x="10971360" y="0"/>
            <a:ext cx="360" cy="6858000"/>
          </a:xfrm>
          <a:prstGeom prst="line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0" tIns="45000" rIns="0" bIns="45000" anchor="t" anchorCtr="1">
            <a:noAutofit/>
          </a:bodyPr>
          <a:p>
            <a:endParaRPr lang="fr-FR" sz="1800" b="0" u="none" strike="noStrike">
              <a:solidFill>
                <a:srgbClr val="FFFFFF"/>
              </a:solidFill>
              <a:effectLst/>
              <a:uFillTx/>
              <a:latin typeface="Roboto"/>
            </a:endParaRPr>
          </a:p>
        </p:txBody>
      </p:sp>
      <p:sp>
        <p:nvSpPr>
          <p:cNvPr id="120" name="Shape 37"/>
          <p:cNvSpPr/>
          <p:nvPr/>
        </p:nvSpPr>
        <p:spPr>
          <a:xfrm>
            <a:off x="11276280" y="0"/>
            <a:ext cx="360" cy="6858000"/>
          </a:xfrm>
          <a:prstGeom prst="line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0" tIns="45000" rIns="0" bIns="45000" anchor="t" anchorCtr="1">
            <a:noAutofit/>
          </a:bodyPr>
          <a:p>
            <a:endParaRPr lang="fr-FR" sz="1800" b="0" u="none" strike="noStrike">
              <a:solidFill>
                <a:srgbClr val="FFFFFF"/>
              </a:solidFill>
              <a:effectLst/>
              <a:uFillTx/>
              <a:latin typeface="Roboto"/>
            </a:endParaRPr>
          </a:p>
        </p:txBody>
      </p:sp>
      <p:sp>
        <p:nvSpPr>
          <p:cNvPr id="121" name="Shape 38"/>
          <p:cNvSpPr/>
          <p:nvPr/>
        </p:nvSpPr>
        <p:spPr>
          <a:xfrm>
            <a:off x="11581200" y="0"/>
            <a:ext cx="360" cy="6858000"/>
          </a:xfrm>
          <a:prstGeom prst="line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0" tIns="45000" rIns="0" bIns="45000" anchor="t" anchorCtr="1">
            <a:noAutofit/>
          </a:bodyPr>
          <a:p>
            <a:endParaRPr lang="fr-FR" sz="1800" b="0" u="none" strike="noStrike">
              <a:solidFill>
                <a:srgbClr val="FFFFFF"/>
              </a:solidFill>
              <a:effectLst/>
              <a:uFillTx/>
              <a:latin typeface="Roboto"/>
            </a:endParaRPr>
          </a:p>
        </p:txBody>
      </p:sp>
      <p:sp>
        <p:nvSpPr>
          <p:cNvPr id="122" name="Shape 39"/>
          <p:cNvSpPr/>
          <p:nvPr/>
        </p:nvSpPr>
        <p:spPr>
          <a:xfrm>
            <a:off x="11885760" y="0"/>
            <a:ext cx="360" cy="6858000"/>
          </a:xfrm>
          <a:prstGeom prst="line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0" tIns="45000" rIns="0" bIns="45000" anchor="t" anchorCtr="1">
            <a:noAutofit/>
          </a:bodyPr>
          <a:p>
            <a:endParaRPr lang="fr-FR" sz="1800" b="0" u="none" strike="noStrike">
              <a:solidFill>
                <a:srgbClr val="FFFFFF"/>
              </a:solidFill>
              <a:effectLst/>
              <a:uFillTx/>
              <a:latin typeface="Roboto"/>
            </a:endParaRPr>
          </a:p>
        </p:txBody>
      </p:sp>
      <p:sp>
        <p:nvSpPr>
          <p:cNvPr id="123" name="Shape 40"/>
          <p:cNvSpPr/>
          <p:nvPr/>
        </p:nvSpPr>
        <p:spPr>
          <a:xfrm>
            <a:off x="12190680" y="0"/>
            <a:ext cx="360" cy="6858000"/>
          </a:xfrm>
          <a:prstGeom prst="line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0" tIns="45000" rIns="0" bIns="45000" anchor="t" anchorCtr="1">
            <a:noAutofit/>
          </a:bodyPr>
          <a:p>
            <a:endParaRPr lang="fr-FR" sz="1800" b="0" u="none" strike="noStrike">
              <a:solidFill>
                <a:srgbClr val="FFFFFF"/>
              </a:solidFill>
              <a:effectLst/>
              <a:uFillTx/>
              <a:latin typeface="Roboto"/>
            </a:endParaRPr>
          </a:p>
        </p:txBody>
      </p:sp>
      <p:sp>
        <p:nvSpPr>
          <p:cNvPr id="124" name="Shape 41"/>
          <p:cNvSpPr/>
          <p:nvPr/>
        </p:nvSpPr>
        <p:spPr>
          <a:xfrm>
            <a:off x="0" y="0"/>
            <a:ext cx="12191400" cy="360"/>
          </a:xfrm>
          <a:prstGeom prst="line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fr-FR" sz="1800" b="0" u="none" strike="noStrike">
              <a:solidFill>
                <a:srgbClr val="FFFFFF"/>
              </a:solidFill>
              <a:effectLst/>
              <a:uFillTx/>
              <a:latin typeface="Roboto"/>
            </a:endParaRPr>
          </a:p>
        </p:txBody>
      </p:sp>
      <p:sp>
        <p:nvSpPr>
          <p:cNvPr id="125" name="Shape 42"/>
          <p:cNvSpPr/>
          <p:nvPr/>
        </p:nvSpPr>
        <p:spPr>
          <a:xfrm>
            <a:off x="0" y="304560"/>
            <a:ext cx="12191400" cy="360"/>
          </a:xfrm>
          <a:prstGeom prst="line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fr-FR" sz="1800" b="0" u="none" strike="noStrike">
              <a:solidFill>
                <a:srgbClr val="FFFFFF"/>
              </a:solidFill>
              <a:effectLst/>
              <a:uFillTx/>
              <a:latin typeface="Roboto"/>
            </a:endParaRPr>
          </a:p>
        </p:txBody>
      </p:sp>
      <p:sp>
        <p:nvSpPr>
          <p:cNvPr id="126" name="Shape 43"/>
          <p:cNvSpPr/>
          <p:nvPr/>
        </p:nvSpPr>
        <p:spPr>
          <a:xfrm>
            <a:off x="0" y="609480"/>
            <a:ext cx="12191400" cy="360"/>
          </a:xfrm>
          <a:prstGeom prst="line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fr-FR" sz="1800" b="0" u="none" strike="noStrike">
              <a:solidFill>
                <a:srgbClr val="FFFFFF"/>
              </a:solidFill>
              <a:effectLst/>
              <a:uFillTx/>
              <a:latin typeface="Roboto"/>
            </a:endParaRPr>
          </a:p>
        </p:txBody>
      </p:sp>
      <p:sp>
        <p:nvSpPr>
          <p:cNvPr id="127" name="Shape 44"/>
          <p:cNvSpPr/>
          <p:nvPr/>
        </p:nvSpPr>
        <p:spPr>
          <a:xfrm>
            <a:off x="0" y="914040"/>
            <a:ext cx="12191400" cy="360"/>
          </a:xfrm>
          <a:prstGeom prst="line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fr-FR" sz="1800" b="0" u="none" strike="noStrike">
              <a:solidFill>
                <a:srgbClr val="FFFFFF"/>
              </a:solidFill>
              <a:effectLst/>
              <a:uFillTx/>
              <a:latin typeface="Roboto"/>
            </a:endParaRPr>
          </a:p>
        </p:txBody>
      </p:sp>
      <p:sp>
        <p:nvSpPr>
          <p:cNvPr id="128" name="Shape 45"/>
          <p:cNvSpPr/>
          <p:nvPr/>
        </p:nvSpPr>
        <p:spPr>
          <a:xfrm>
            <a:off x="0" y="1218960"/>
            <a:ext cx="12191400" cy="360"/>
          </a:xfrm>
          <a:prstGeom prst="line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fr-FR" sz="1800" b="0" u="none" strike="noStrike">
              <a:solidFill>
                <a:srgbClr val="FFFFFF"/>
              </a:solidFill>
              <a:effectLst/>
              <a:uFillTx/>
              <a:latin typeface="Roboto"/>
            </a:endParaRPr>
          </a:p>
        </p:txBody>
      </p:sp>
      <p:sp>
        <p:nvSpPr>
          <p:cNvPr id="129" name="Shape 46"/>
          <p:cNvSpPr/>
          <p:nvPr/>
        </p:nvSpPr>
        <p:spPr>
          <a:xfrm>
            <a:off x="0" y="1523520"/>
            <a:ext cx="12191400" cy="360"/>
          </a:xfrm>
          <a:prstGeom prst="line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fr-FR" sz="1800" b="0" u="none" strike="noStrike">
              <a:solidFill>
                <a:srgbClr val="FFFFFF"/>
              </a:solidFill>
              <a:effectLst/>
              <a:uFillTx/>
              <a:latin typeface="Roboto"/>
            </a:endParaRPr>
          </a:p>
        </p:txBody>
      </p:sp>
      <p:sp>
        <p:nvSpPr>
          <p:cNvPr id="130" name="Shape 47"/>
          <p:cNvSpPr/>
          <p:nvPr/>
        </p:nvSpPr>
        <p:spPr>
          <a:xfrm>
            <a:off x="0" y="1828440"/>
            <a:ext cx="12191400" cy="360"/>
          </a:xfrm>
          <a:prstGeom prst="line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fr-FR" sz="1800" b="0" u="none" strike="noStrike">
              <a:solidFill>
                <a:srgbClr val="FFFFFF"/>
              </a:solidFill>
              <a:effectLst/>
              <a:uFillTx/>
              <a:latin typeface="Roboto"/>
            </a:endParaRPr>
          </a:p>
        </p:txBody>
      </p:sp>
      <p:sp>
        <p:nvSpPr>
          <p:cNvPr id="131" name="Shape 48"/>
          <p:cNvSpPr/>
          <p:nvPr/>
        </p:nvSpPr>
        <p:spPr>
          <a:xfrm>
            <a:off x="0" y="2133360"/>
            <a:ext cx="12191400" cy="360"/>
          </a:xfrm>
          <a:prstGeom prst="line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fr-FR" sz="1800" b="0" u="none" strike="noStrike">
              <a:solidFill>
                <a:srgbClr val="FFFFFF"/>
              </a:solidFill>
              <a:effectLst/>
              <a:uFillTx/>
              <a:latin typeface="Roboto"/>
            </a:endParaRPr>
          </a:p>
        </p:txBody>
      </p:sp>
      <p:sp>
        <p:nvSpPr>
          <p:cNvPr id="132" name="Shape 49"/>
          <p:cNvSpPr/>
          <p:nvPr/>
        </p:nvSpPr>
        <p:spPr>
          <a:xfrm>
            <a:off x="0" y="2437920"/>
            <a:ext cx="12191400" cy="360"/>
          </a:xfrm>
          <a:prstGeom prst="line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fr-FR" sz="1800" b="0" u="none" strike="noStrike">
              <a:solidFill>
                <a:srgbClr val="FFFFFF"/>
              </a:solidFill>
              <a:effectLst/>
              <a:uFillTx/>
              <a:latin typeface="Roboto"/>
            </a:endParaRPr>
          </a:p>
        </p:txBody>
      </p:sp>
      <p:sp>
        <p:nvSpPr>
          <p:cNvPr id="133" name="Shape 50"/>
          <p:cNvSpPr/>
          <p:nvPr/>
        </p:nvSpPr>
        <p:spPr>
          <a:xfrm>
            <a:off x="0" y="2742840"/>
            <a:ext cx="12191400" cy="360"/>
          </a:xfrm>
          <a:prstGeom prst="line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fr-FR" sz="1800" b="0" u="none" strike="noStrike">
              <a:solidFill>
                <a:srgbClr val="FFFFFF"/>
              </a:solidFill>
              <a:effectLst/>
              <a:uFillTx/>
              <a:latin typeface="Roboto"/>
            </a:endParaRPr>
          </a:p>
        </p:txBody>
      </p:sp>
      <p:sp>
        <p:nvSpPr>
          <p:cNvPr id="134" name="Shape 51"/>
          <p:cNvSpPr/>
          <p:nvPr/>
        </p:nvSpPr>
        <p:spPr>
          <a:xfrm>
            <a:off x="0" y="3047400"/>
            <a:ext cx="12191400" cy="360"/>
          </a:xfrm>
          <a:prstGeom prst="line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fr-FR" sz="1800" b="0" u="none" strike="noStrike">
              <a:solidFill>
                <a:srgbClr val="FFFFFF"/>
              </a:solidFill>
              <a:effectLst/>
              <a:uFillTx/>
              <a:latin typeface="Roboto"/>
            </a:endParaRPr>
          </a:p>
        </p:txBody>
      </p:sp>
      <p:sp>
        <p:nvSpPr>
          <p:cNvPr id="135" name="Shape 52"/>
          <p:cNvSpPr/>
          <p:nvPr/>
        </p:nvSpPr>
        <p:spPr>
          <a:xfrm>
            <a:off x="0" y="3352320"/>
            <a:ext cx="12191400" cy="360"/>
          </a:xfrm>
          <a:prstGeom prst="line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fr-FR" sz="1800" b="0" u="none" strike="noStrike">
              <a:solidFill>
                <a:srgbClr val="FFFFFF"/>
              </a:solidFill>
              <a:effectLst/>
              <a:uFillTx/>
              <a:latin typeface="Roboto"/>
            </a:endParaRPr>
          </a:p>
        </p:txBody>
      </p:sp>
      <p:sp>
        <p:nvSpPr>
          <p:cNvPr id="136" name="Shape 53"/>
          <p:cNvSpPr/>
          <p:nvPr/>
        </p:nvSpPr>
        <p:spPr>
          <a:xfrm>
            <a:off x="0" y="3656880"/>
            <a:ext cx="12191400" cy="360"/>
          </a:xfrm>
          <a:prstGeom prst="line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fr-FR" sz="1800" b="0" u="none" strike="noStrike">
              <a:solidFill>
                <a:srgbClr val="FFFFFF"/>
              </a:solidFill>
              <a:effectLst/>
              <a:uFillTx/>
              <a:latin typeface="Roboto"/>
            </a:endParaRPr>
          </a:p>
        </p:txBody>
      </p:sp>
      <p:sp>
        <p:nvSpPr>
          <p:cNvPr id="137" name="Shape 54"/>
          <p:cNvSpPr/>
          <p:nvPr/>
        </p:nvSpPr>
        <p:spPr>
          <a:xfrm>
            <a:off x="0" y="3961800"/>
            <a:ext cx="12191400" cy="360"/>
          </a:xfrm>
          <a:prstGeom prst="line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fr-FR" sz="1800" b="0" u="none" strike="noStrike">
              <a:solidFill>
                <a:srgbClr val="FFFFFF"/>
              </a:solidFill>
              <a:effectLst/>
              <a:uFillTx/>
              <a:latin typeface="Roboto"/>
            </a:endParaRPr>
          </a:p>
        </p:txBody>
      </p:sp>
      <p:sp>
        <p:nvSpPr>
          <p:cNvPr id="138" name="Shape 55"/>
          <p:cNvSpPr/>
          <p:nvPr/>
        </p:nvSpPr>
        <p:spPr>
          <a:xfrm>
            <a:off x="0" y="4266720"/>
            <a:ext cx="12191400" cy="360"/>
          </a:xfrm>
          <a:prstGeom prst="line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fr-FR" sz="1800" b="0" u="none" strike="noStrike">
              <a:solidFill>
                <a:srgbClr val="FFFFFF"/>
              </a:solidFill>
              <a:effectLst/>
              <a:uFillTx/>
              <a:latin typeface="Roboto"/>
            </a:endParaRPr>
          </a:p>
        </p:txBody>
      </p:sp>
      <p:sp>
        <p:nvSpPr>
          <p:cNvPr id="139" name="Shape 56"/>
          <p:cNvSpPr/>
          <p:nvPr/>
        </p:nvSpPr>
        <p:spPr>
          <a:xfrm>
            <a:off x="0" y="4571280"/>
            <a:ext cx="12191400" cy="360"/>
          </a:xfrm>
          <a:prstGeom prst="line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fr-FR" sz="1800" b="0" u="none" strike="noStrike">
              <a:solidFill>
                <a:srgbClr val="FFFFFF"/>
              </a:solidFill>
              <a:effectLst/>
              <a:uFillTx/>
              <a:latin typeface="Roboto"/>
            </a:endParaRPr>
          </a:p>
        </p:txBody>
      </p:sp>
      <p:sp>
        <p:nvSpPr>
          <p:cNvPr id="140" name="Shape 57"/>
          <p:cNvSpPr/>
          <p:nvPr/>
        </p:nvSpPr>
        <p:spPr>
          <a:xfrm>
            <a:off x="0" y="4876200"/>
            <a:ext cx="12191400" cy="360"/>
          </a:xfrm>
          <a:prstGeom prst="line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fr-FR" sz="1800" b="0" u="none" strike="noStrike">
              <a:solidFill>
                <a:srgbClr val="FFFFFF"/>
              </a:solidFill>
              <a:effectLst/>
              <a:uFillTx/>
              <a:latin typeface="Roboto"/>
            </a:endParaRPr>
          </a:p>
        </p:txBody>
      </p:sp>
      <p:sp>
        <p:nvSpPr>
          <p:cNvPr id="141" name="Shape 58"/>
          <p:cNvSpPr/>
          <p:nvPr/>
        </p:nvSpPr>
        <p:spPr>
          <a:xfrm>
            <a:off x="0" y="5180760"/>
            <a:ext cx="12191400" cy="360"/>
          </a:xfrm>
          <a:prstGeom prst="line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fr-FR" sz="1800" b="0" u="none" strike="noStrike">
              <a:solidFill>
                <a:srgbClr val="FFFFFF"/>
              </a:solidFill>
              <a:effectLst/>
              <a:uFillTx/>
              <a:latin typeface="Roboto"/>
            </a:endParaRPr>
          </a:p>
        </p:txBody>
      </p:sp>
      <p:sp>
        <p:nvSpPr>
          <p:cNvPr id="142" name="Shape 59"/>
          <p:cNvSpPr/>
          <p:nvPr/>
        </p:nvSpPr>
        <p:spPr>
          <a:xfrm>
            <a:off x="0" y="5485680"/>
            <a:ext cx="12191400" cy="360"/>
          </a:xfrm>
          <a:prstGeom prst="line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fr-FR" sz="1800" b="0" u="none" strike="noStrike">
              <a:solidFill>
                <a:srgbClr val="FFFFFF"/>
              </a:solidFill>
              <a:effectLst/>
              <a:uFillTx/>
              <a:latin typeface="Roboto"/>
            </a:endParaRPr>
          </a:p>
        </p:txBody>
      </p:sp>
      <p:sp>
        <p:nvSpPr>
          <p:cNvPr id="143" name="Shape 60"/>
          <p:cNvSpPr/>
          <p:nvPr/>
        </p:nvSpPr>
        <p:spPr>
          <a:xfrm>
            <a:off x="0" y="5790600"/>
            <a:ext cx="12191400" cy="360"/>
          </a:xfrm>
          <a:prstGeom prst="line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fr-FR" sz="1800" b="0" u="none" strike="noStrike">
              <a:solidFill>
                <a:srgbClr val="FFFFFF"/>
              </a:solidFill>
              <a:effectLst/>
              <a:uFillTx/>
              <a:latin typeface="Roboto"/>
            </a:endParaRPr>
          </a:p>
        </p:txBody>
      </p:sp>
      <p:sp>
        <p:nvSpPr>
          <p:cNvPr id="144" name="Shape 61"/>
          <p:cNvSpPr/>
          <p:nvPr/>
        </p:nvSpPr>
        <p:spPr>
          <a:xfrm>
            <a:off x="0" y="6095160"/>
            <a:ext cx="12191400" cy="360"/>
          </a:xfrm>
          <a:prstGeom prst="line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fr-FR" sz="1800" b="0" u="none" strike="noStrike">
              <a:solidFill>
                <a:srgbClr val="FFFFFF"/>
              </a:solidFill>
              <a:effectLst/>
              <a:uFillTx/>
              <a:latin typeface="Roboto"/>
            </a:endParaRPr>
          </a:p>
        </p:txBody>
      </p:sp>
      <p:sp>
        <p:nvSpPr>
          <p:cNvPr id="145" name="Shape 62"/>
          <p:cNvSpPr/>
          <p:nvPr/>
        </p:nvSpPr>
        <p:spPr>
          <a:xfrm>
            <a:off x="0" y="6400080"/>
            <a:ext cx="12191400" cy="360"/>
          </a:xfrm>
          <a:prstGeom prst="line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fr-FR" sz="1800" b="0" u="none" strike="noStrike">
              <a:solidFill>
                <a:srgbClr val="FFFFFF"/>
              </a:solidFill>
              <a:effectLst/>
              <a:uFillTx/>
              <a:latin typeface="Roboto"/>
            </a:endParaRPr>
          </a:p>
        </p:txBody>
      </p:sp>
      <p:sp>
        <p:nvSpPr>
          <p:cNvPr id="146" name="Shape 63"/>
          <p:cNvSpPr/>
          <p:nvPr/>
        </p:nvSpPr>
        <p:spPr>
          <a:xfrm>
            <a:off x="0" y="6704640"/>
            <a:ext cx="12191400" cy="360"/>
          </a:xfrm>
          <a:prstGeom prst="line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fr-FR" sz="1800" b="0" u="none" strike="noStrike">
              <a:solidFill>
                <a:srgbClr val="FFFFFF"/>
              </a:solidFill>
              <a:effectLst/>
              <a:uFillTx/>
              <a:latin typeface="Roboto"/>
            </a:endParaRPr>
          </a:p>
        </p:txBody>
      </p:sp>
      <p:sp>
        <p:nvSpPr>
          <p:cNvPr id="147" name="Text 64"/>
          <p:cNvSpPr/>
          <p:nvPr/>
        </p:nvSpPr>
        <p:spPr>
          <a:xfrm>
            <a:off x="457200" y="384120"/>
            <a:ext cx="9141840" cy="253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pc="201" strike="noStrike">
                <a:solidFill>
                  <a:srgbClr val="F2A65A"/>
                </a:solidFill>
                <a:effectLst/>
                <a:uFillTx/>
                <a:latin typeface="Roboto"/>
                <a:ea typeface="Roboto"/>
              </a:rPr>
              <a:t>01 · OVERVIEW</a:t>
            </a:r>
            <a:endParaRPr lang="fr-FR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8" name="Text 65"/>
          <p:cNvSpPr/>
          <p:nvPr/>
        </p:nvSpPr>
        <p:spPr>
          <a:xfrm>
            <a:off x="457200" y="640080"/>
            <a:ext cx="10513440" cy="54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000" b="1" u="none" strike="noStrike">
                <a:solidFill>
                  <a:srgbClr val="FFFFFF"/>
                </a:solidFill>
                <a:effectLst/>
                <a:uFillTx/>
                <a:latin typeface="Roboto"/>
                <a:ea typeface="Roboto"/>
              </a:rPr>
              <a:t>The Question</a:t>
            </a:r>
            <a:endParaRPr lang="fr-FR" sz="3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9" name="Text 66"/>
          <p:cNvSpPr/>
          <p:nvPr/>
        </p:nvSpPr>
        <p:spPr>
          <a:xfrm>
            <a:off x="457200" y="1508760"/>
            <a:ext cx="6032880" cy="146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30000"/>
              </a:lnSpc>
              <a:tabLst>
                <a:tab pos="0" algn="l"/>
              </a:tabLst>
            </a:pPr>
            <a:r>
              <a:rPr lang="en-US" sz="1450" b="0" u="none" strike="noStrike">
                <a:solidFill>
                  <a:srgbClr val="FFFFFF"/>
                </a:solidFill>
                <a:effectLst/>
                <a:uFillTx/>
                <a:latin typeface="Roboto"/>
                <a:ea typeface="Roboto"/>
              </a:rPr>
              <a:t>Participants met for four-minute speed dates, rated each other on six attributes, and decided whether they'd want to meet again. They also stated upfront what they thought they were looking for.</a:t>
            </a:r>
            <a:endParaRPr lang="fr-FR" sz="14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0" name="Text 67"/>
          <p:cNvSpPr/>
          <p:nvPr/>
        </p:nvSpPr>
        <p:spPr>
          <a:xfrm>
            <a:off x="457200" y="2880360"/>
            <a:ext cx="6032880" cy="912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30000"/>
              </a:lnSpc>
              <a:tabLst>
                <a:tab pos="0" algn="l"/>
              </a:tabLst>
            </a:pPr>
            <a:r>
              <a:rPr lang="en-US" sz="1500" b="0" u="none" strike="noStrike">
                <a:solidFill>
                  <a:srgbClr val="8B96AC"/>
                </a:solidFill>
                <a:effectLst/>
                <a:uFillTx/>
                <a:latin typeface="Roboto"/>
                <a:ea typeface="Roboto"/>
              </a:rPr>
              <a:t>The central question: </a:t>
            </a:r>
            <a:r>
              <a:rPr lang="en-US" sz="1500" b="1" i="1" u="none" strike="noStrike">
                <a:solidFill>
                  <a:srgbClr val="F2A65A"/>
                </a:solidFill>
                <a:effectLst/>
                <a:uFillTx/>
                <a:latin typeface="Roboto"/>
                <a:ea typeface="Roboto"/>
              </a:rPr>
              <a:t>what actually drives people's decisions, and does it differ by gender?</a:t>
            </a:r>
            <a:endParaRPr lang="fr-FR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1" name="Text 68"/>
          <p:cNvSpPr/>
          <p:nvPr/>
        </p:nvSpPr>
        <p:spPr>
          <a:xfrm>
            <a:off x="457200" y="3977640"/>
            <a:ext cx="5484240" cy="226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pc="150" strike="noStrike">
                <a:solidFill>
                  <a:srgbClr val="F2A65A"/>
                </a:solidFill>
                <a:effectLst/>
                <a:uFillTx/>
                <a:latin typeface="Roboto"/>
                <a:ea typeface="Roboto"/>
              </a:rPr>
              <a:t>DATA PREP</a:t>
            </a:r>
            <a:endParaRPr lang="fr-FR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2" name="Text 69"/>
          <p:cNvSpPr/>
          <p:nvPr/>
        </p:nvSpPr>
        <p:spPr>
          <a:xfrm>
            <a:off x="457200" y="4251960"/>
            <a:ext cx="6032880" cy="1003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25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8B96AC"/>
                </a:solidFill>
                <a:effectLst/>
                <a:uFillTx/>
                <a:latin typeface="Roboto"/>
                <a:ea typeface="Roboto"/>
              </a:rPr>
              <a:t>Raw file has 195 columns, trimmed to what's needed for EDA and modeling. Rating scales differ by wave (1-10 vs. 100-pt allocation) and are normalized so every wave is comparable.</a:t>
            </a:r>
            <a:endParaRPr lang="fr-FR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3" name="Shape 70"/>
          <p:cNvSpPr/>
          <p:nvPr/>
        </p:nvSpPr>
        <p:spPr>
          <a:xfrm>
            <a:off x="6766560" y="1508760"/>
            <a:ext cx="4962960" cy="866520"/>
          </a:xfrm>
          <a:prstGeom prst="roundRect">
            <a:avLst>
              <a:gd name="adj" fmla="val 9474"/>
            </a:avLst>
          </a:prstGeom>
          <a:solidFill>
            <a:srgbClr val="263659"/>
          </a:solidFill>
          <a:ln w="12700">
            <a:solidFill>
              <a:srgbClr val="3D4B72"/>
            </a:solidFill>
            <a:round/>
          </a:ln>
          <a:effectLst>
            <a:outerShdw algn="bl" blurRad="101520" dir="5400000" dist="38160" kx="0" ky="0" rotWithShape="0" sx="100000" sy="10000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fr-FR" sz="1800" b="0" u="none" strike="noStrike">
              <a:solidFill>
                <a:srgbClr val="FFFFFF"/>
              </a:solidFill>
              <a:effectLst/>
              <a:uFillTx/>
              <a:latin typeface="Roboto"/>
            </a:endParaRPr>
          </a:p>
        </p:txBody>
      </p:sp>
      <p:sp>
        <p:nvSpPr>
          <p:cNvPr id="154" name="Text 71"/>
          <p:cNvSpPr/>
          <p:nvPr/>
        </p:nvSpPr>
        <p:spPr>
          <a:xfrm>
            <a:off x="7040880" y="1581840"/>
            <a:ext cx="1826640" cy="683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000" b="1" u="none" strike="noStrike">
                <a:solidFill>
                  <a:srgbClr val="F2A65A"/>
                </a:solidFill>
                <a:effectLst/>
                <a:uFillTx/>
                <a:latin typeface="Roboto"/>
                <a:ea typeface="Roboto"/>
              </a:rPr>
              <a:t>8,378</a:t>
            </a:r>
            <a:endParaRPr lang="fr-FR" sz="3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5" name="Text 72"/>
          <p:cNvSpPr/>
          <p:nvPr/>
        </p:nvSpPr>
        <p:spPr>
          <a:xfrm>
            <a:off x="8869680" y="1508760"/>
            <a:ext cx="2649600" cy="866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10000"/>
              </a:lnSpc>
              <a:tabLst>
                <a:tab pos="0" algn="l"/>
              </a:tabLst>
            </a:pPr>
            <a:r>
              <a:rPr lang="en-US" sz="1100" b="0" u="none" spc="51" strike="noStrike">
                <a:solidFill>
                  <a:srgbClr val="8B96AC"/>
                </a:solidFill>
                <a:effectLst/>
                <a:uFillTx/>
                <a:latin typeface="Roboto"/>
                <a:ea typeface="Roboto"/>
              </a:rPr>
              <a:t>RAW DATE RECORDS</a:t>
            </a:r>
            <a:endParaRPr lang="fr-FR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6" name="Shape 73"/>
          <p:cNvSpPr/>
          <p:nvPr/>
        </p:nvSpPr>
        <p:spPr>
          <a:xfrm>
            <a:off x="6766560" y="2560320"/>
            <a:ext cx="4962960" cy="866520"/>
          </a:xfrm>
          <a:prstGeom prst="roundRect">
            <a:avLst>
              <a:gd name="adj" fmla="val 9474"/>
            </a:avLst>
          </a:prstGeom>
          <a:solidFill>
            <a:srgbClr val="263659"/>
          </a:solidFill>
          <a:ln w="12700">
            <a:solidFill>
              <a:srgbClr val="3D4B72"/>
            </a:solidFill>
            <a:round/>
          </a:ln>
          <a:effectLst>
            <a:outerShdw algn="bl" blurRad="101520" dir="5400000" dist="38160" kx="0" ky="0" rotWithShape="0" sx="100000" sy="10000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fr-FR" sz="1800" b="0" u="none" strike="noStrike">
              <a:solidFill>
                <a:srgbClr val="FFFFFF"/>
              </a:solidFill>
              <a:effectLst/>
              <a:uFillTx/>
              <a:latin typeface="Roboto"/>
            </a:endParaRPr>
          </a:p>
        </p:txBody>
      </p:sp>
      <p:sp>
        <p:nvSpPr>
          <p:cNvPr id="157" name="Text 74"/>
          <p:cNvSpPr/>
          <p:nvPr/>
        </p:nvSpPr>
        <p:spPr>
          <a:xfrm>
            <a:off x="7040880" y="2633400"/>
            <a:ext cx="1826640" cy="683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000" b="1" u="none" strike="noStrike">
                <a:solidFill>
                  <a:srgbClr val="F2A65A"/>
                </a:solidFill>
                <a:effectLst/>
                <a:uFillTx/>
                <a:latin typeface="Roboto"/>
                <a:ea typeface="Roboto"/>
              </a:rPr>
              <a:t>551</a:t>
            </a:r>
            <a:endParaRPr lang="fr-FR" sz="3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8" name="Text 75"/>
          <p:cNvSpPr/>
          <p:nvPr/>
        </p:nvSpPr>
        <p:spPr>
          <a:xfrm>
            <a:off x="8869680" y="2560320"/>
            <a:ext cx="2649600" cy="866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10000"/>
              </a:lnSpc>
              <a:tabLst>
                <a:tab pos="0" algn="l"/>
              </a:tabLst>
            </a:pPr>
            <a:r>
              <a:rPr lang="en-US" sz="1100" b="0" u="none" spc="51" strike="noStrike">
                <a:solidFill>
                  <a:srgbClr val="8B96AC"/>
                </a:solidFill>
                <a:effectLst/>
                <a:uFillTx/>
                <a:latin typeface="Roboto"/>
                <a:ea typeface="Roboto"/>
              </a:rPr>
              <a:t>UNIQUE PARTICIPANTS</a:t>
            </a:r>
            <a:endParaRPr lang="fr-FR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9" name="Shape 76"/>
          <p:cNvSpPr/>
          <p:nvPr/>
        </p:nvSpPr>
        <p:spPr>
          <a:xfrm>
            <a:off x="6766560" y="3611880"/>
            <a:ext cx="4962960" cy="866520"/>
          </a:xfrm>
          <a:prstGeom prst="roundRect">
            <a:avLst>
              <a:gd name="adj" fmla="val 9474"/>
            </a:avLst>
          </a:prstGeom>
          <a:solidFill>
            <a:srgbClr val="263659"/>
          </a:solidFill>
          <a:ln w="12700">
            <a:solidFill>
              <a:srgbClr val="3D4B72"/>
            </a:solidFill>
            <a:round/>
          </a:ln>
          <a:effectLst>
            <a:outerShdw algn="bl" blurRad="101520" dir="5400000" dist="38160" kx="0" ky="0" rotWithShape="0" sx="100000" sy="10000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fr-FR" sz="1800" b="0" u="none" strike="noStrike">
              <a:solidFill>
                <a:srgbClr val="FFFFFF"/>
              </a:solidFill>
              <a:effectLst/>
              <a:uFillTx/>
              <a:latin typeface="Roboto"/>
            </a:endParaRPr>
          </a:p>
        </p:txBody>
      </p:sp>
      <p:sp>
        <p:nvSpPr>
          <p:cNvPr id="160" name="Text 77"/>
          <p:cNvSpPr/>
          <p:nvPr/>
        </p:nvSpPr>
        <p:spPr>
          <a:xfrm>
            <a:off x="7040880" y="3684960"/>
            <a:ext cx="1826640" cy="683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000" b="1" u="none" strike="noStrike">
                <a:solidFill>
                  <a:srgbClr val="F2A65A"/>
                </a:solidFill>
                <a:effectLst/>
                <a:uFillTx/>
                <a:latin typeface="Roboto"/>
                <a:ea typeface="Roboto"/>
              </a:rPr>
              <a:t>6</a:t>
            </a:r>
            <a:endParaRPr lang="fr-FR" sz="3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1" name="Text 78"/>
          <p:cNvSpPr/>
          <p:nvPr/>
        </p:nvSpPr>
        <p:spPr>
          <a:xfrm>
            <a:off x="8869680" y="3611880"/>
            <a:ext cx="2649600" cy="866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10000"/>
              </a:lnSpc>
              <a:tabLst>
                <a:tab pos="0" algn="l"/>
              </a:tabLst>
            </a:pPr>
            <a:r>
              <a:rPr lang="en-US" sz="1100" b="0" u="none" spc="51" strike="noStrike">
                <a:solidFill>
                  <a:srgbClr val="8B96AC"/>
                </a:solidFill>
                <a:effectLst/>
                <a:uFillTx/>
                <a:latin typeface="Roboto"/>
                <a:ea typeface="Roboto"/>
              </a:rPr>
              <a:t>RATED ATTRIBUTES PER DATE</a:t>
            </a:r>
            <a:endParaRPr lang="fr-FR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2" name="Text 79"/>
          <p:cNvSpPr/>
          <p:nvPr/>
        </p:nvSpPr>
        <p:spPr>
          <a:xfrm>
            <a:off x="457200" y="5257800"/>
            <a:ext cx="5484240" cy="226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pc="150" strike="noStrike">
                <a:solidFill>
                  <a:srgbClr val="F2A65A"/>
                </a:solidFill>
                <a:effectLst/>
                <a:uFillTx/>
                <a:latin typeface="Roboto"/>
                <a:ea typeface="Roboto"/>
              </a:rPr>
              <a:t>THE SIX ATTRIBUTES</a:t>
            </a:r>
            <a:endParaRPr lang="fr-FR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3" name="Shape 80"/>
          <p:cNvSpPr/>
          <p:nvPr/>
        </p:nvSpPr>
        <p:spPr>
          <a:xfrm>
            <a:off x="457200" y="5550480"/>
            <a:ext cx="1755000" cy="455040"/>
          </a:xfrm>
          <a:prstGeom prst="roundRect">
            <a:avLst>
              <a:gd name="adj" fmla="val 18000"/>
            </a:avLst>
          </a:prstGeom>
          <a:solidFill>
            <a:srgbClr val="111726"/>
          </a:solidFill>
          <a:ln w="12700">
            <a:solidFill>
              <a:srgbClr val="3D4B7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fr-FR" sz="1800" b="0" u="none" strike="noStrike">
              <a:solidFill>
                <a:srgbClr val="FFFFFF"/>
              </a:solidFill>
              <a:effectLst/>
              <a:uFillTx/>
              <a:latin typeface="Roboto"/>
            </a:endParaRPr>
          </a:p>
        </p:txBody>
      </p:sp>
      <p:sp>
        <p:nvSpPr>
          <p:cNvPr id="164" name="Text 81"/>
          <p:cNvSpPr/>
          <p:nvPr/>
        </p:nvSpPr>
        <p:spPr>
          <a:xfrm>
            <a:off x="457200" y="5550480"/>
            <a:ext cx="1755000" cy="45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1" u="none" strike="noStrike">
                <a:solidFill>
                  <a:srgbClr val="FFFFFF"/>
                </a:solidFill>
                <a:effectLst/>
                <a:uFillTx/>
                <a:latin typeface="Roboto"/>
                <a:ea typeface="Roboto"/>
              </a:rPr>
              <a:t>Attractiveness</a:t>
            </a:r>
            <a:endParaRPr lang="fr-FR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5" name="Shape 82"/>
          <p:cNvSpPr/>
          <p:nvPr/>
        </p:nvSpPr>
        <p:spPr>
          <a:xfrm>
            <a:off x="2360520" y="5550480"/>
            <a:ext cx="1755000" cy="455040"/>
          </a:xfrm>
          <a:prstGeom prst="roundRect">
            <a:avLst>
              <a:gd name="adj" fmla="val 18000"/>
            </a:avLst>
          </a:prstGeom>
          <a:solidFill>
            <a:srgbClr val="111726"/>
          </a:solidFill>
          <a:ln w="12700">
            <a:solidFill>
              <a:srgbClr val="3D4B7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fr-FR" sz="1800" b="0" u="none" strike="noStrike">
              <a:solidFill>
                <a:srgbClr val="FFFFFF"/>
              </a:solidFill>
              <a:effectLst/>
              <a:uFillTx/>
              <a:latin typeface="Roboto"/>
            </a:endParaRPr>
          </a:p>
        </p:txBody>
      </p:sp>
      <p:sp>
        <p:nvSpPr>
          <p:cNvPr id="166" name="Text 83"/>
          <p:cNvSpPr/>
          <p:nvPr/>
        </p:nvSpPr>
        <p:spPr>
          <a:xfrm>
            <a:off x="2360520" y="5550480"/>
            <a:ext cx="1755000" cy="45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1" u="none" strike="noStrike">
                <a:solidFill>
                  <a:srgbClr val="FFFFFF"/>
                </a:solidFill>
                <a:effectLst/>
                <a:uFillTx/>
                <a:latin typeface="Roboto"/>
                <a:ea typeface="Roboto"/>
              </a:rPr>
              <a:t>Sincerity</a:t>
            </a:r>
            <a:endParaRPr lang="fr-FR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7" name="Shape 84"/>
          <p:cNvSpPr/>
          <p:nvPr/>
        </p:nvSpPr>
        <p:spPr>
          <a:xfrm>
            <a:off x="4264200" y="5550480"/>
            <a:ext cx="1755000" cy="455040"/>
          </a:xfrm>
          <a:prstGeom prst="roundRect">
            <a:avLst>
              <a:gd name="adj" fmla="val 18000"/>
            </a:avLst>
          </a:prstGeom>
          <a:solidFill>
            <a:srgbClr val="111726"/>
          </a:solidFill>
          <a:ln w="12700">
            <a:solidFill>
              <a:srgbClr val="3D4B7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fr-FR" sz="1800" b="0" u="none" strike="noStrike">
              <a:solidFill>
                <a:srgbClr val="FFFFFF"/>
              </a:solidFill>
              <a:effectLst/>
              <a:uFillTx/>
              <a:latin typeface="Roboto"/>
            </a:endParaRPr>
          </a:p>
        </p:txBody>
      </p:sp>
      <p:sp>
        <p:nvSpPr>
          <p:cNvPr id="168" name="Text 85"/>
          <p:cNvSpPr/>
          <p:nvPr/>
        </p:nvSpPr>
        <p:spPr>
          <a:xfrm>
            <a:off x="4264200" y="5550480"/>
            <a:ext cx="1755000" cy="45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1" u="none" strike="noStrike">
                <a:solidFill>
                  <a:srgbClr val="FFFFFF"/>
                </a:solidFill>
                <a:effectLst/>
                <a:uFillTx/>
                <a:latin typeface="Roboto"/>
                <a:ea typeface="Roboto"/>
              </a:rPr>
              <a:t>Intelligence</a:t>
            </a:r>
            <a:endParaRPr lang="fr-FR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9" name="Shape 86"/>
          <p:cNvSpPr/>
          <p:nvPr/>
        </p:nvSpPr>
        <p:spPr>
          <a:xfrm>
            <a:off x="6167520" y="5550480"/>
            <a:ext cx="1755000" cy="455040"/>
          </a:xfrm>
          <a:prstGeom prst="roundRect">
            <a:avLst>
              <a:gd name="adj" fmla="val 18000"/>
            </a:avLst>
          </a:prstGeom>
          <a:solidFill>
            <a:srgbClr val="111726"/>
          </a:solidFill>
          <a:ln w="12700">
            <a:solidFill>
              <a:srgbClr val="3D4B7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fr-FR" sz="1800" b="0" u="none" strike="noStrike">
              <a:solidFill>
                <a:srgbClr val="FFFFFF"/>
              </a:solidFill>
              <a:effectLst/>
              <a:uFillTx/>
              <a:latin typeface="Roboto"/>
            </a:endParaRPr>
          </a:p>
        </p:txBody>
      </p:sp>
      <p:sp>
        <p:nvSpPr>
          <p:cNvPr id="170" name="Text 87"/>
          <p:cNvSpPr/>
          <p:nvPr/>
        </p:nvSpPr>
        <p:spPr>
          <a:xfrm>
            <a:off x="6167520" y="5550480"/>
            <a:ext cx="1755000" cy="45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1" u="none" strike="noStrike">
                <a:solidFill>
                  <a:srgbClr val="FFFFFF"/>
                </a:solidFill>
                <a:effectLst/>
                <a:uFillTx/>
                <a:latin typeface="Roboto"/>
                <a:ea typeface="Roboto"/>
              </a:rPr>
              <a:t>Fun</a:t>
            </a:r>
            <a:endParaRPr lang="fr-FR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1" name="Shape 88"/>
          <p:cNvSpPr/>
          <p:nvPr/>
        </p:nvSpPr>
        <p:spPr>
          <a:xfrm>
            <a:off x="8071200" y="5550480"/>
            <a:ext cx="1755000" cy="455040"/>
          </a:xfrm>
          <a:prstGeom prst="roundRect">
            <a:avLst>
              <a:gd name="adj" fmla="val 18000"/>
            </a:avLst>
          </a:prstGeom>
          <a:solidFill>
            <a:srgbClr val="111726"/>
          </a:solidFill>
          <a:ln w="12700">
            <a:solidFill>
              <a:srgbClr val="3D4B7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fr-FR" sz="1800" b="0" u="none" strike="noStrike">
              <a:solidFill>
                <a:srgbClr val="FFFFFF"/>
              </a:solidFill>
              <a:effectLst/>
              <a:uFillTx/>
              <a:latin typeface="Roboto"/>
            </a:endParaRPr>
          </a:p>
        </p:txBody>
      </p:sp>
      <p:sp>
        <p:nvSpPr>
          <p:cNvPr id="172" name="Text 89"/>
          <p:cNvSpPr/>
          <p:nvPr/>
        </p:nvSpPr>
        <p:spPr>
          <a:xfrm>
            <a:off x="8071200" y="5550480"/>
            <a:ext cx="1755000" cy="45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1" u="none" strike="noStrike">
                <a:solidFill>
                  <a:srgbClr val="FFFFFF"/>
                </a:solidFill>
                <a:effectLst/>
                <a:uFillTx/>
                <a:latin typeface="Roboto"/>
                <a:ea typeface="Roboto"/>
              </a:rPr>
              <a:t>Ambition</a:t>
            </a:r>
            <a:endParaRPr lang="fr-FR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3" name="Shape 90"/>
          <p:cNvSpPr/>
          <p:nvPr/>
        </p:nvSpPr>
        <p:spPr>
          <a:xfrm>
            <a:off x="9974520" y="5550480"/>
            <a:ext cx="1755000" cy="455040"/>
          </a:xfrm>
          <a:prstGeom prst="roundRect">
            <a:avLst>
              <a:gd name="adj" fmla="val 18000"/>
            </a:avLst>
          </a:prstGeom>
          <a:solidFill>
            <a:srgbClr val="111726"/>
          </a:solidFill>
          <a:ln w="12700">
            <a:solidFill>
              <a:srgbClr val="3D4B7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fr-FR" sz="1800" b="0" u="none" strike="noStrike">
              <a:solidFill>
                <a:srgbClr val="FFFFFF"/>
              </a:solidFill>
              <a:effectLst/>
              <a:uFillTx/>
              <a:latin typeface="Roboto"/>
            </a:endParaRPr>
          </a:p>
        </p:txBody>
      </p:sp>
      <p:sp>
        <p:nvSpPr>
          <p:cNvPr id="174" name="Text 91"/>
          <p:cNvSpPr/>
          <p:nvPr/>
        </p:nvSpPr>
        <p:spPr>
          <a:xfrm>
            <a:off x="9974520" y="5550480"/>
            <a:ext cx="1755000" cy="45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1" u="none" strike="noStrike">
                <a:solidFill>
                  <a:srgbClr val="FFFFFF"/>
                </a:solidFill>
                <a:effectLst/>
                <a:uFillTx/>
                <a:latin typeface="Roboto"/>
                <a:ea typeface="Roboto"/>
              </a:rPr>
              <a:t>Shared Interests</a:t>
            </a:r>
            <a:endParaRPr lang="fr-FR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5" name="Shape 92"/>
          <p:cNvSpPr/>
          <p:nvPr/>
        </p:nvSpPr>
        <p:spPr>
          <a:xfrm>
            <a:off x="548640" y="6263640"/>
            <a:ext cx="11091600" cy="360"/>
          </a:xfrm>
          <a:prstGeom prst="line">
            <a:avLst/>
          </a:prstGeom>
          <a:ln w="12700">
            <a:solidFill>
              <a:srgbClr val="3D4B7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fr-FR" sz="1800" b="0" u="none" strike="noStrike">
              <a:solidFill>
                <a:srgbClr val="FFFFFF"/>
              </a:solidFill>
              <a:effectLst/>
              <a:uFillTx/>
              <a:latin typeface="Roboto"/>
            </a:endParaRPr>
          </a:p>
        </p:txBody>
      </p:sp>
      <p:sp>
        <p:nvSpPr>
          <p:cNvPr id="176" name="Text 93"/>
          <p:cNvSpPr/>
          <p:nvPr/>
        </p:nvSpPr>
        <p:spPr>
          <a:xfrm>
            <a:off x="457200" y="6355080"/>
            <a:ext cx="8227440" cy="27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5C6684"/>
                </a:solidFill>
                <a:effectLst/>
                <a:uFillTx/>
                <a:latin typeface="Roboto"/>
                <a:ea typeface="Roboto"/>
              </a:rPr>
              <a:t>Speed dating experiment · Attraction, preferences &amp; machine learning</a:t>
            </a:r>
            <a:endParaRPr lang="fr-FR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7" name="Text 94"/>
          <p:cNvSpPr/>
          <p:nvPr/>
        </p:nvSpPr>
        <p:spPr>
          <a:xfrm>
            <a:off x="11274480" y="6355080"/>
            <a:ext cx="455040" cy="27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5C6684"/>
                </a:solidFill>
                <a:effectLst/>
                <a:uFillTx/>
                <a:latin typeface="Roboto"/>
                <a:ea typeface="Roboto"/>
              </a:rPr>
              <a:t>02</a:t>
            </a:r>
            <a:endParaRPr lang="fr-FR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Shape 0"/>
          <p:cNvSpPr/>
          <p:nvPr/>
        </p:nvSpPr>
        <p:spPr>
          <a:xfrm>
            <a:off x="0" y="0"/>
            <a:ext cx="360" cy="6858000"/>
          </a:xfrm>
          <a:prstGeom prst="line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0" tIns="45000" rIns="0" bIns="45000" anchor="t" anchorCtr="1">
            <a:noAutofit/>
          </a:bodyPr>
          <a:p>
            <a:endParaRPr lang="fr-FR" sz="1800" b="0" u="none" strike="noStrike">
              <a:solidFill>
                <a:srgbClr val="FFFFFF"/>
              </a:solidFill>
              <a:effectLst/>
              <a:uFillTx/>
              <a:latin typeface="Roboto"/>
            </a:endParaRPr>
          </a:p>
        </p:txBody>
      </p:sp>
      <p:sp>
        <p:nvSpPr>
          <p:cNvPr id="179" name="Shape 1"/>
          <p:cNvSpPr/>
          <p:nvPr/>
        </p:nvSpPr>
        <p:spPr>
          <a:xfrm>
            <a:off x="304560" y="0"/>
            <a:ext cx="360" cy="6858000"/>
          </a:xfrm>
          <a:prstGeom prst="line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0" tIns="45000" rIns="0" bIns="45000" anchor="t" anchorCtr="1">
            <a:noAutofit/>
          </a:bodyPr>
          <a:p>
            <a:endParaRPr lang="fr-FR" sz="1800" b="0" u="none" strike="noStrike">
              <a:solidFill>
                <a:srgbClr val="FFFFFF"/>
              </a:solidFill>
              <a:effectLst/>
              <a:uFillTx/>
              <a:latin typeface="Roboto"/>
            </a:endParaRPr>
          </a:p>
        </p:txBody>
      </p:sp>
      <p:sp>
        <p:nvSpPr>
          <p:cNvPr id="180" name="Shape 2"/>
          <p:cNvSpPr/>
          <p:nvPr/>
        </p:nvSpPr>
        <p:spPr>
          <a:xfrm>
            <a:off x="609480" y="0"/>
            <a:ext cx="360" cy="6858000"/>
          </a:xfrm>
          <a:prstGeom prst="line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0" tIns="45000" rIns="0" bIns="45000" anchor="t" anchorCtr="1">
            <a:noAutofit/>
          </a:bodyPr>
          <a:p>
            <a:endParaRPr lang="fr-FR" sz="1800" b="0" u="none" strike="noStrike">
              <a:solidFill>
                <a:srgbClr val="FFFFFF"/>
              </a:solidFill>
              <a:effectLst/>
              <a:uFillTx/>
              <a:latin typeface="Roboto"/>
            </a:endParaRPr>
          </a:p>
        </p:txBody>
      </p:sp>
      <p:sp>
        <p:nvSpPr>
          <p:cNvPr id="181" name="Shape 3"/>
          <p:cNvSpPr/>
          <p:nvPr/>
        </p:nvSpPr>
        <p:spPr>
          <a:xfrm>
            <a:off x="914040" y="0"/>
            <a:ext cx="360" cy="6858000"/>
          </a:xfrm>
          <a:prstGeom prst="line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0" tIns="45000" rIns="0" bIns="45000" anchor="t" anchorCtr="1">
            <a:noAutofit/>
          </a:bodyPr>
          <a:p>
            <a:endParaRPr lang="fr-FR" sz="1800" b="0" u="none" strike="noStrike">
              <a:solidFill>
                <a:srgbClr val="FFFFFF"/>
              </a:solidFill>
              <a:effectLst/>
              <a:uFillTx/>
              <a:latin typeface="Roboto"/>
            </a:endParaRPr>
          </a:p>
        </p:txBody>
      </p:sp>
      <p:sp>
        <p:nvSpPr>
          <p:cNvPr id="182" name="Shape 4"/>
          <p:cNvSpPr/>
          <p:nvPr/>
        </p:nvSpPr>
        <p:spPr>
          <a:xfrm>
            <a:off x="1218960" y="0"/>
            <a:ext cx="360" cy="6858000"/>
          </a:xfrm>
          <a:prstGeom prst="line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0" tIns="45000" rIns="0" bIns="45000" anchor="t" anchorCtr="1">
            <a:noAutofit/>
          </a:bodyPr>
          <a:p>
            <a:endParaRPr lang="fr-FR" sz="1800" b="0" u="none" strike="noStrike">
              <a:solidFill>
                <a:srgbClr val="FFFFFF"/>
              </a:solidFill>
              <a:effectLst/>
              <a:uFillTx/>
              <a:latin typeface="Roboto"/>
            </a:endParaRPr>
          </a:p>
        </p:txBody>
      </p:sp>
      <p:sp>
        <p:nvSpPr>
          <p:cNvPr id="183" name="Shape 5"/>
          <p:cNvSpPr/>
          <p:nvPr/>
        </p:nvSpPr>
        <p:spPr>
          <a:xfrm>
            <a:off x="1523520" y="0"/>
            <a:ext cx="360" cy="6858000"/>
          </a:xfrm>
          <a:prstGeom prst="line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0" tIns="45000" rIns="0" bIns="45000" anchor="t" anchorCtr="1">
            <a:noAutofit/>
          </a:bodyPr>
          <a:p>
            <a:endParaRPr lang="fr-FR" sz="1800" b="0" u="none" strike="noStrike">
              <a:solidFill>
                <a:srgbClr val="FFFFFF"/>
              </a:solidFill>
              <a:effectLst/>
              <a:uFillTx/>
              <a:latin typeface="Roboto"/>
            </a:endParaRPr>
          </a:p>
        </p:txBody>
      </p:sp>
      <p:sp>
        <p:nvSpPr>
          <p:cNvPr id="184" name="Shape 6"/>
          <p:cNvSpPr/>
          <p:nvPr/>
        </p:nvSpPr>
        <p:spPr>
          <a:xfrm>
            <a:off x="1828440" y="0"/>
            <a:ext cx="360" cy="6858000"/>
          </a:xfrm>
          <a:prstGeom prst="line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0" tIns="45000" rIns="0" bIns="45000" anchor="t" anchorCtr="1">
            <a:noAutofit/>
          </a:bodyPr>
          <a:p>
            <a:endParaRPr lang="fr-FR" sz="1800" b="0" u="none" strike="noStrike">
              <a:solidFill>
                <a:srgbClr val="FFFFFF"/>
              </a:solidFill>
              <a:effectLst/>
              <a:uFillTx/>
              <a:latin typeface="Roboto"/>
            </a:endParaRPr>
          </a:p>
        </p:txBody>
      </p:sp>
      <p:sp>
        <p:nvSpPr>
          <p:cNvPr id="185" name="Shape 7"/>
          <p:cNvSpPr/>
          <p:nvPr/>
        </p:nvSpPr>
        <p:spPr>
          <a:xfrm>
            <a:off x="2133360" y="0"/>
            <a:ext cx="360" cy="6858000"/>
          </a:xfrm>
          <a:prstGeom prst="line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0" tIns="45000" rIns="0" bIns="45000" anchor="t" anchorCtr="1">
            <a:noAutofit/>
          </a:bodyPr>
          <a:p>
            <a:endParaRPr lang="fr-FR" sz="1800" b="0" u="none" strike="noStrike">
              <a:solidFill>
                <a:srgbClr val="FFFFFF"/>
              </a:solidFill>
              <a:effectLst/>
              <a:uFillTx/>
              <a:latin typeface="Roboto"/>
            </a:endParaRPr>
          </a:p>
        </p:txBody>
      </p:sp>
      <p:sp>
        <p:nvSpPr>
          <p:cNvPr id="186" name="Shape 8"/>
          <p:cNvSpPr/>
          <p:nvPr/>
        </p:nvSpPr>
        <p:spPr>
          <a:xfrm>
            <a:off x="2437920" y="0"/>
            <a:ext cx="360" cy="6858000"/>
          </a:xfrm>
          <a:prstGeom prst="line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0" tIns="45000" rIns="0" bIns="45000" anchor="t" anchorCtr="1">
            <a:noAutofit/>
          </a:bodyPr>
          <a:p>
            <a:endParaRPr lang="fr-FR" sz="1800" b="0" u="none" strike="noStrike">
              <a:solidFill>
                <a:srgbClr val="FFFFFF"/>
              </a:solidFill>
              <a:effectLst/>
              <a:uFillTx/>
              <a:latin typeface="Roboto"/>
            </a:endParaRPr>
          </a:p>
        </p:txBody>
      </p:sp>
      <p:sp>
        <p:nvSpPr>
          <p:cNvPr id="187" name="Shape 9"/>
          <p:cNvSpPr/>
          <p:nvPr/>
        </p:nvSpPr>
        <p:spPr>
          <a:xfrm>
            <a:off x="2742840" y="0"/>
            <a:ext cx="360" cy="6858000"/>
          </a:xfrm>
          <a:prstGeom prst="line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0" tIns="45000" rIns="0" bIns="45000" anchor="t" anchorCtr="1">
            <a:noAutofit/>
          </a:bodyPr>
          <a:p>
            <a:endParaRPr lang="fr-FR" sz="1800" b="0" u="none" strike="noStrike">
              <a:solidFill>
                <a:srgbClr val="FFFFFF"/>
              </a:solidFill>
              <a:effectLst/>
              <a:uFillTx/>
              <a:latin typeface="Roboto"/>
            </a:endParaRPr>
          </a:p>
        </p:txBody>
      </p:sp>
      <p:sp>
        <p:nvSpPr>
          <p:cNvPr id="188" name="Shape 10"/>
          <p:cNvSpPr/>
          <p:nvPr/>
        </p:nvSpPr>
        <p:spPr>
          <a:xfrm>
            <a:off x="3047400" y="0"/>
            <a:ext cx="360" cy="6858000"/>
          </a:xfrm>
          <a:prstGeom prst="line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0" tIns="45000" rIns="0" bIns="45000" anchor="t" anchorCtr="1">
            <a:noAutofit/>
          </a:bodyPr>
          <a:p>
            <a:endParaRPr lang="fr-FR" sz="1800" b="0" u="none" strike="noStrike">
              <a:solidFill>
                <a:srgbClr val="FFFFFF"/>
              </a:solidFill>
              <a:effectLst/>
              <a:uFillTx/>
              <a:latin typeface="Roboto"/>
            </a:endParaRPr>
          </a:p>
        </p:txBody>
      </p:sp>
      <p:sp>
        <p:nvSpPr>
          <p:cNvPr id="189" name="Shape 11"/>
          <p:cNvSpPr/>
          <p:nvPr/>
        </p:nvSpPr>
        <p:spPr>
          <a:xfrm>
            <a:off x="3352320" y="0"/>
            <a:ext cx="360" cy="6858000"/>
          </a:xfrm>
          <a:prstGeom prst="line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0" tIns="45000" rIns="0" bIns="45000" anchor="t" anchorCtr="1">
            <a:noAutofit/>
          </a:bodyPr>
          <a:p>
            <a:endParaRPr lang="fr-FR" sz="1800" b="0" u="none" strike="noStrike">
              <a:solidFill>
                <a:srgbClr val="FFFFFF"/>
              </a:solidFill>
              <a:effectLst/>
              <a:uFillTx/>
              <a:latin typeface="Roboto"/>
            </a:endParaRPr>
          </a:p>
        </p:txBody>
      </p:sp>
      <p:sp>
        <p:nvSpPr>
          <p:cNvPr id="190" name="Shape 12"/>
          <p:cNvSpPr/>
          <p:nvPr/>
        </p:nvSpPr>
        <p:spPr>
          <a:xfrm>
            <a:off x="3656880" y="0"/>
            <a:ext cx="360" cy="6858000"/>
          </a:xfrm>
          <a:prstGeom prst="line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0" tIns="45000" rIns="0" bIns="45000" anchor="t" anchorCtr="1">
            <a:noAutofit/>
          </a:bodyPr>
          <a:p>
            <a:endParaRPr lang="fr-FR" sz="1800" b="0" u="none" strike="noStrike">
              <a:solidFill>
                <a:srgbClr val="FFFFFF"/>
              </a:solidFill>
              <a:effectLst/>
              <a:uFillTx/>
              <a:latin typeface="Roboto"/>
            </a:endParaRPr>
          </a:p>
        </p:txBody>
      </p:sp>
      <p:sp>
        <p:nvSpPr>
          <p:cNvPr id="191" name="Shape 13"/>
          <p:cNvSpPr/>
          <p:nvPr/>
        </p:nvSpPr>
        <p:spPr>
          <a:xfrm>
            <a:off x="3961800" y="0"/>
            <a:ext cx="360" cy="6858000"/>
          </a:xfrm>
          <a:prstGeom prst="line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0" tIns="45000" rIns="0" bIns="45000" anchor="t" anchorCtr="1">
            <a:noAutofit/>
          </a:bodyPr>
          <a:p>
            <a:endParaRPr lang="fr-FR" sz="1800" b="0" u="none" strike="noStrike">
              <a:solidFill>
                <a:srgbClr val="FFFFFF"/>
              </a:solidFill>
              <a:effectLst/>
              <a:uFillTx/>
              <a:latin typeface="Roboto"/>
            </a:endParaRPr>
          </a:p>
        </p:txBody>
      </p:sp>
      <p:sp>
        <p:nvSpPr>
          <p:cNvPr id="192" name="Shape 14"/>
          <p:cNvSpPr/>
          <p:nvPr/>
        </p:nvSpPr>
        <p:spPr>
          <a:xfrm>
            <a:off x="4266720" y="0"/>
            <a:ext cx="360" cy="6858000"/>
          </a:xfrm>
          <a:prstGeom prst="line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0" tIns="45000" rIns="0" bIns="45000" anchor="t" anchorCtr="1">
            <a:noAutofit/>
          </a:bodyPr>
          <a:p>
            <a:endParaRPr lang="fr-FR" sz="1800" b="0" u="none" strike="noStrike">
              <a:solidFill>
                <a:srgbClr val="FFFFFF"/>
              </a:solidFill>
              <a:effectLst/>
              <a:uFillTx/>
              <a:latin typeface="Roboto"/>
            </a:endParaRPr>
          </a:p>
        </p:txBody>
      </p:sp>
      <p:sp>
        <p:nvSpPr>
          <p:cNvPr id="193" name="Shape 15"/>
          <p:cNvSpPr/>
          <p:nvPr/>
        </p:nvSpPr>
        <p:spPr>
          <a:xfrm>
            <a:off x="4571280" y="0"/>
            <a:ext cx="360" cy="6858000"/>
          </a:xfrm>
          <a:prstGeom prst="line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0" tIns="45000" rIns="0" bIns="45000" anchor="t" anchorCtr="1">
            <a:noAutofit/>
          </a:bodyPr>
          <a:p>
            <a:endParaRPr lang="fr-FR" sz="1800" b="0" u="none" strike="noStrike">
              <a:solidFill>
                <a:srgbClr val="FFFFFF"/>
              </a:solidFill>
              <a:effectLst/>
              <a:uFillTx/>
              <a:latin typeface="Roboto"/>
            </a:endParaRPr>
          </a:p>
        </p:txBody>
      </p:sp>
      <p:sp>
        <p:nvSpPr>
          <p:cNvPr id="194" name="Shape 16"/>
          <p:cNvSpPr/>
          <p:nvPr/>
        </p:nvSpPr>
        <p:spPr>
          <a:xfrm>
            <a:off x="4876200" y="0"/>
            <a:ext cx="360" cy="6858000"/>
          </a:xfrm>
          <a:prstGeom prst="line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0" tIns="45000" rIns="0" bIns="45000" anchor="t" anchorCtr="1">
            <a:noAutofit/>
          </a:bodyPr>
          <a:p>
            <a:endParaRPr lang="fr-FR" sz="1800" b="0" u="none" strike="noStrike">
              <a:solidFill>
                <a:srgbClr val="FFFFFF"/>
              </a:solidFill>
              <a:effectLst/>
              <a:uFillTx/>
              <a:latin typeface="Roboto"/>
            </a:endParaRPr>
          </a:p>
        </p:txBody>
      </p:sp>
      <p:sp>
        <p:nvSpPr>
          <p:cNvPr id="195" name="Shape 17"/>
          <p:cNvSpPr/>
          <p:nvPr/>
        </p:nvSpPr>
        <p:spPr>
          <a:xfrm>
            <a:off x="5180760" y="0"/>
            <a:ext cx="360" cy="6858000"/>
          </a:xfrm>
          <a:prstGeom prst="line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0" tIns="45000" rIns="0" bIns="45000" anchor="t" anchorCtr="1">
            <a:noAutofit/>
          </a:bodyPr>
          <a:p>
            <a:endParaRPr lang="fr-FR" sz="1800" b="0" u="none" strike="noStrike">
              <a:solidFill>
                <a:srgbClr val="FFFFFF"/>
              </a:solidFill>
              <a:effectLst/>
              <a:uFillTx/>
              <a:latin typeface="Roboto"/>
            </a:endParaRPr>
          </a:p>
        </p:txBody>
      </p:sp>
      <p:sp>
        <p:nvSpPr>
          <p:cNvPr id="196" name="Shape 18"/>
          <p:cNvSpPr/>
          <p:nvPr/>
        </p:nvSpPr>
        <p:spPr>
          <a:xfrm>
            <a:off x="5485680" y="0"/>
            <a:ext cx="360" cy="6858000"/>
          </a:xfrm>
          <a:prstGeom prst="line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0" tIns="45000" rIns="0" bIns="45000" anchor="t" anchorCtr="1">
            <a:noAutofit/>
          </a:bodyPr>
          <a:p>
            <a:endParaRPr lang="fr-FR" sz="1800" b="0" u="none" strike="noStrike">
              <a:solidFill>
                <a:srgbClr val="FFFFFF"/>
              </a:solidFill>
              <a:effectLst/>
              <a:uFillTx/>
              <a:latin typeface="Roboto"/>
            </a:endParaRPr>
          </a:p>
        </p:txBody>
      </p:sp>
      <p:sp>
        <p:nvSpPr>
          <p:cNvPr id="197" name="Shape 19"/>
          <p:cNvSpPr/>
          <p:nvPr/>
        </p:nvSpPr>
        <p:spPr>
          <a:xfrm>
            <a:off x="5790600" y="0"/>
            <a:ext cx="360" cy="6858000"/>
          </a:xfrm>
          <a:prstGeom prst="line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0" tIns="45000" rIns="0" bIns="45000" anchor="t" anchorCtr="1">
            <a:noAutofit/>
          </a:bodyPr>
          <a:p>
            <a:endParaRPr lang="fr-FR" sz="1800" b="0" u="none" strike="noStrike">
              <a:solidFill>
                <a:srgbClr val="FFFFFF"/>
              </a:solidFill>
              <a:effectLst/>
              <a:uFillTx/>
              <a:latin typeface="Roboto"/>
            </a:endParaRPr>
          </a:p>
        </p:txBody>
      </p:sp>
      <p:sp>
        <p:nvSpPr>
          <p:cNvPr id="198" name="Shape 20"/>
          <p:cNvSpPr/>
          <p:nvPr/>
        </p:nvSpPr>
        <p:spPr>
          <a:xfrm>
            <a:off x="6095160" y="0"/>
            <a:ext cx="360" cy="6858000"/>
          </a:xfrm>
          <a:prstGeom prst="line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0" tIns="45000" rIns="0" bIns="45000" anchor="t" anchorCtr="1">
            <a:noAutofit/>
          </a:bodyPr>
          <a:p>
            <a:endParaRPr lang="fr-FR" sz="1800" b="0" u="none" strike="noStrike">
              <a:solidFill>
                <a:srgbClr val="FFFFFF"/>
              </a:solidFill>
              <a:effectLst/>
              <a:uFillTx/>
              <a:latin typeface="Roboto"/>
            </a:endParaRPr>
          </a:p>
        </p:txBody>
      </p:sp>
      <p:sp>
        <p:nvSpPr>
          <p:cNvPr id="199" name="Shape 21"/>
          <p:cNvSpPr/>
          <p:nvPr/>
        </p:nvSpPr>
        <p:spPr>
          <a:xfrm>
            <a:off x="6400080" y="0"/>
            <a:ext cx="360" cy="6858000"/>
          </a:xfrm>
          <a:prstGeom prst="line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0" tIns="45000" rIns="0" bIns="45000" anchor="t" anchorCtr="1">
            <a:noAutofit/>
          </a:bodyPr>
          <a:p>
            <a:endParaRPr lang="fr-FR" sz="1800" b="0" u="none" strike="noStrike">
              <a:solidFill>
                <a:srgbClr val="FFFFFF"/>
              </a:solidFill>
              <a:effectLst/>
              <a:uFillTx/>
              <a:latin typeface="Roboto"/>
            </a:endParaRPr>
          </a:p>
        </p:txBody>
      </p:sp>
      <p:sp>
        <p:nvSpPr>
          <p:cNvPr id="200" name="Shape 22"/>
          <p:cNvSpPr/>
          <p:nvPr/>
        </p:nvSpPr>
        <p:spPr>
          <a:xfrm>
            <a:off x="6704640" y="0"/>
            <a:ext cx="360" cy="6858000"/>
          </a:xfrm>
          <a:prstGeom prst="line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0" tIns="45000" rIns="0" bIns="45000" anchor="t" anchorCtr="1">
            <a:noAutofit/>
          </a:bodyPr>
          <a:p>
            <a:endParaRPr lang="fr-FR" sz="1800" b="0" u="none" strike="noStrike">
              <a:solidFill>
                <a:srgbClr val="FFFFFF"/>
              </a:solidFill>
              <a:effectLst/>
              <a:uFillTx/>
              <a:latin typeface="Roboto"/>
            </a:endParaRPr>
          </a:p>
        </p:txBody>
      </p:sp>
      <p:sp>
        <p:nvSpPr>
          <p:cNvPr id="201" name="Shape 23"/>
          <p:cNvSpPr/>
          <p:nvPr/>
        </p:nvSpPr>
        <p:spPr>
          <a:xfrm>
            <a:off x="7009560" y="0"/>
            <a:ext cx="360" cy="6858000"/>
          </a:xfrm>
          <a:prstGeom prst="line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0" tIns="45000" rIns="0" bIns="45000" anchor="t" anchorCtr="1">
            <a:noAutofit/>
          </a:bodyPr>
          <a:p>
            <a:endParaRPr lang="fr-FR" sz="1800" b="0" u="none" strike="noStrike">
              <a:solidFill>
                <a:srgbClr val="FFFFFF"/>
              </a:solidFill>
              <a:effectLst/>
              <a:uFillTx/>
              <a:latin typeface="Roboto"/>
            </a:endParaRPr>
          </a:p>
        </p:txBody>
      </p:sp>
      <p:sp>
        <p:nvSpPr>
          <p:cNvPr id="202" name="Shape 24"/>
          <p:cNvSpPr/>
          <p:nvPr/>
        </p:nvSpPr>
        <p:spPr>
          <a:xfrm>
            <a:off x="7314120" y="0"/>
            <a:ext cx="360" cy="6858000"/>
          </a:xfrm>
          <a:prstGeom prst="line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0" tIns="45000" rIns="0" bIns="45000" anchor="t" anchorCtr="1">
            <a:noAutofit/>
          </a:bodyPr>
          <a:p>
            <a:endParaRPr lang="fr-FR" sz="1800" b="0" u="none" strike="noStrike">
              <a:solidFill>
                <a:srgbClr val="FFFFFF"/>
              </a:solidFill>
              <a:effectLst/>
              <a:uFillTx/>
              <a:latin typeface="Roboto"/>
            </a:endParaRPr>
          </a:p>
        </p:txBody>
      </p:sp>
      <p:sp>
        <p:nvSpPr>
          <p:cNvPr id="203" name="Shape 25"/>
          <p:cNvSpPr/>
          <p:nvPr/>
        </p:nvSpPr>
        <p:spPr>
          <a:xfrm>
            <a:off x="7619040" y="0"/>
            <a:ext cx="360" cy="6858000"/>
          </a:xfrm>
          <a:prstGeom prst="line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0" tIns="45000" rIns="0" bIns="45000" anchor="t" anchorCtr="1">
            <a:noAutofit/>
          </a:bodyPr>
          <a:p>
            <a:endParaRPr lang="fr-FR" sz="1800" b="0" u="none" strike="noStrike">
              <a:solidFill>
                <a:srgbClr val="FFFFFF"/>
              </a:solidFill>
              <a:effectLst/>
              <a:uFillTx/>
              <a:latin typeface="Roboto"/>
            </a:endParaRPr>
          </a:p>
        </p:txBody>
      </p:sp>
      <p:sp>
        <p:nvSpPr>
          <p:cNvPr id="204" name="Shape 26"/>
          <p:cNvSpPr/>
          <p:nvPr/>
        </p:nvSpPr>
        <p:spPr>
          <a:xfrm>
            <a:off x="7923960" y="0"/>
            <a:ext cx="360" cy="6858000"/>
          </a:xfrm>
          <a:prstGeom prst="line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0" tIns="45000" rIns="0" bIns="45000" anchor="t" anchorCtr="1">
            <a:noAutofit/>
          </a:bodyPr>
          <a:p>
            <a:endParaRPr lang="fr-FR" sz="1800" b="0" u="none" strike="noStrike">
              <a:solidFill>
                <a:srgbClr val="FFFFFF"/>
              </a:solidFill>
              <a:effectLst/>
              <a:uFillTx/>
              <a:latin typeface="Roboto"/>
            </a:endParaRPr>
          </a:p>
        </p:txBody>
      </p:sp>
      <p:sp>
        <p:nvSpPr>
          <p:cNvPr id="205" name="Shape 27"/>
          <p:cNvSpPr/>
          <p:nvPr/>
        </p:nvSpPr>
        <p:spPr>
          <a:xfrm>
            <a:off x="8228520" y="0"/>
            <a:ext cx="360" cy="6858000"/>
          </a:xfrm>
          <a:prstGeom prst="line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0" tIns="45000" rIns="0" bIns="45000" anchor="t" anchorCtr="1">
            <a:noAutofit/>
          </a:bodyPr>
          <a:p>
            <a:endParaRPr lang="fr-FR" sz="1800" b="0" u="none" strike="noStrike">
              <a:solidFill>
                <a:srgbClr val="FFFFFF"/>
              </a:solidFill>
              <a:effectLst/>
              <a:uFillTx/>
              <a:latin typeface="Roboto"/>
            </a:endParaRPr>
          </a:p>
        </p:txBody>
      </p:sp>
      <p:sp>
        <p:nvSpPr>
          <p:cNvPr id="206" name="Shape 28"/>
          <p:cNvSpPr/>
          <p:nvPr/>
        </p:nvSpPr>
        <p:spPr>
          <a:xfrm>
            <a:off x="8533440" y="0"/>
            <a:ext cx="360" cy="6858000"/>
          </a:xfrm>
          <a:prstGeom prst="line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0" tIns="45000" rIns="0" bIns="45000" anchor="t" anchorCtr="1">
            <a:noAutofit/>
          </a:bodyPr>
          <a:p>
            <a:endParaRPr lang="fr-FR" sz="1800" b="0" u="none" strike="noStrike">
              <a:solidFill>
                <a:srgbClr val="FFFFFF"/>
              </a:solidFill>
              <a:effectLst/>
              <a:uFillTx/>
              <a:latin typeface="Roboto"/>
            </a:endParaRPr>
          </a:p>
        </p:txBody>
      </p:sp>
      <p:sp>
        <p:nvSpPr>
          <p:cNvPr id="207" name="Shape 29"/>
          <p:cNvSpPr/>
          <p:nvPr/>
        </p:nvSpPr>
        <p:spPr>
          <a:xfrm>
            <a:off x="8838000" y="0"/>
            <a:ext cx="360" cy="6858000"/>
          </a:xfrm>
          <a:prstGeom prst="line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0" tIns="45000" rIns="0" bIns="45000" anchor="t" anchorCtr="1">
            <a:noAutofit/>
          </a:bodyPr>
          <a:p>
            <a:endParaRPr lang="fr-FR" sz="1800" b="0" u="none" strike="noStrike">
              <a:solidFill>
                <a:srgbClr val="FFFFFF"/>
              </a:solidFill>
              <a:effectLst/>
              <a:uFillTx/>
              <a:latin typeface="Roboto"/>
            </a:endParaRPr>
          </a:p>
        </p:txBody>
      </p:sp>
      <p:sp>
        <p:nvSpPr>
          <p:cNvPr id="208" name="Shape 30"/>
          <p:cNvSpPr/>
          <p:nvPr/>
        </p:nvSpPr>
        <p:spPr>
          <a:xfrm>
            <a:off x="9142920" y="0"/>
            <a:ext cx="360" cy="6858000"/>
          </a:xfrm>
          <a:prstGeom prst="line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0" tIns="45000" rIns="0" bIns="45000" anchor="t" anchorCtr="1">
            <a:noAutofit/>
          </a:bodyPr>
          <a:p>
            <a:endParaRPr lang="fr-FR" sz="1800" b="0" u="none" strike="noStrike">
              <a:solidFill>
                <a:srgbClr val="FFFFFF"/>
              </a:solidFill>
              <a:effectLst/>
              <a:uFillTx/>
              <a:latin typeface="Roboto"/>
            </a:endParaRPr>
          </a:p>
        </p:txBody>
      </p:sp>
      <p:sp>
        <p:nvSpPr>
          <p:cNvPr id="209" name="Shape 31"/>
          <p:cNvSpPr/>
          <p:nvPr/>
        </p:nvSpPr>
        <p:spPr>
          <a:xfrm>
            <a:off x="9447840" y="0"/>
            <a:ext cx="360" cy="6858000"/>
          </a:xfrm>
          <a:prstGeom prst="line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0" tIns="45000" rIns="0" bIns="45000" anchor="t" anchorCtr="1">
            <a:noAutofit/>
          </a:bodyPr>
          <a:p>
            <a:endParaRPr lang="fr-FR" sz="1800" b="0" u="none" strike="noStrike">
              <a:solidFill>
                <a:srgbClr val="FFFFFF"/>
              </a:solidFill>
              <a:effectLst/>
              <a:uFillTx/>
              <a:latin typeface="Roboto"/>
            </a:endParaRPr>
          </a:p>
        </p:txBody>
      </p:sp>
      <p:sp>
        <p:nvSpPr>
          <p:cNvPr id="210" name="Shape 32"/>
          <p:cNvSpPr/>
          <p:nvPr/>
        </p:nvSpPr>
        <p:spPr>
          <a:xfrm>
            <a:off x="9752400" y="0"/>
            <a:ext cx="360" cy="6858000"/>
          </a:xfrm>
          <a:prstGeom prst="line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0" tIns="45000" rIns="0" bIns="45000" anchor="t" anchorCtr="1">
            <a:noAutofit/>
          </a:bodyPr>
          <a:p>
            <a:endParaRPr lang="fr-FR" sz="1800" b="0" u="none" strike="noStrike">
              <a:solidFill>
                <a:srgbClr val="FFFFFF"/>
              </a:solidFill>
              <a:effectLst/>
              <a:uFillTx/>
              <a:latin typeface="Roboto"/>
            </a:endParaRPr>
          </a:p>
        </p:txBody>
      </p:sp>
      <p:sp>
        <p:nvSpPr>
          <p:cNvPr id="211" name="Shape 33"/>
          <p:cNvSpPr/>
          <p:nvPr/>
        </p:nvSpPr>
        <p:spPr>
          <a:xfrm>
            <a:off x="10057320" y="0"/>
            <a:ext cx="360" cy="6858000"/>
          </a:xfrm>
          <a:prstGeom prst="line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0" tIns="45000" rIns="0" bIns="45000" anchor="t" anchorCtr="1">
            <a:noAutofit/>
          </a:bodyPr>
          <a:p>
            <a:endParaRPr lang="fr-FR" sz="1800" b="0" u="none" strike="noStrike">
              <a:solidFill>
                <a:srgbClr val="FFFFFF"/>
              </a:solidFill>
              <a:effectLst/>
              <a:uFillTx/>
              <a:latin typeface="Roboto"/>
            </a:endParaRPr>
          </a:p>
        </p:txBody>
      </p:sp>
      <p:sp>
        <p:nvSpPr>
          <p:cNvPr id="212" name="Shape 34"/>
          <p:cNvSpPr/>
          <p:nvPr/>
        </p:nvSpPr>
        <p:spPr>
          <a:xfrm>
            <a:off x="10361880" y="0"/>
            <a:ext cx="360" cy="6858000"/>
          </a:xfrm>
          <a:prstGeom prst="line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0" tIns="45000" rIns="0" bIns="45000" anchor="t" anchorCtr="1">
            <a:noAutofit/>
          </a:bodyPr>
          <a:p>
            <a:endParaRPr lang="fr-FR" sz="1800" b="0" u="none" strike="noStrike">
              <a:solidFill>
                <a:srgbClr val="FFFFFF"/>
              </a:solidFill>
              <a:effectLst/>
              <a:uFillTx/>
              <a:latin typeface="Roboto"/>
            </a:endParaRPr>
          </a:p>
        </p:txBody>
      </p:sp>
      <p:sp>
        <p:nvSpPr>
          <p:cNvPr id="213" name="Shape 35"/>
          <p:cNvSpPr/>
          <p:nvPr/>
        </p:nvSpPr>
        <p:spPr>
          <a:xfrm>
            <a:off x="10666800" y="0"/>
            <a:ext cx="360" cy="6858000"/>
          </a:xfrm>
          <a:prstGeom prst="line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0" tIns="45000" rIns="0" bIns="45000" anchor="t" anchorCtr="1">
            <a:noAutofit/>
          </a:bodyPr>
          <a:p>
            <a:endParaRPr lang="fr-FR" sz="1800" b="0" u="none" strike="noStrike">
              <a:solidFill>
                <a:srgbClr val="FFFFFF"/>
              </a:solidFill>
              <a:effectLst/>
              <a:uFillTx/>
              <a:latin typeface="Roboto"/>
            </a:endParaRPr>
          </a:p>
        </p:txBody>
      </p:sp>
      <p:sp>
        <p:nvSpPr>
          <p:cNvPr id="214" name="Shape 36"/>
          <p:cNvSpPr/>
          <p:nvPr/>
        </p:nvSpPr>
        <p:spPr>
          <a:xfrm>
            <a:off x="10971360" y="0"/>
            <a:ext cx="360" cy="6858000"/>
          </a:xfrm>
          <a:prstGeom prst="line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0" tIns="45000" rIns="0" bIns="45000" anchor="t" anchorCtr="1">
            <a:noAutofit/>
          </a:bodyPr>
          <a:p>
            <a:endParaRPr lang="fr-FR" sz="1800" b="0" u="none" strike="noStrike">
              <a:solidFill>
                <a:srgbClr val="FFFFFF"/>
              </a:solidFill>
              <a:effectLst/>
              <a:uFillTx/>
              <a:latin typeface="Roboto"/>
            </a:endParaRPr>
          </a:p>
        </p:txBody>
      </p:sp>
      <p:sp>
        <p:nvSpPr>
          <p:cNvPr id="215" name="Shape 37"/>
          <p:cNvSpPr/>
          <p:nvPr/>
        </p:nvSpPr>
        <p:spPr>
          <a:xfrm>
            <a:off x="11276280" y="0"/>
            <a:ext cx="360" cy="6858000"/>
          </a:xfrm>
          <a:prstGeom prst="line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0" tIns="45000" rIns="0" bIns="45000" anchor="t" anchorCtr="1">
            <a:noAutofit/>
          </a:bodyPr>
          <a:p>
            <a:endParaRPr lang="fr-FR" sz="1800" b="0" u="none" strike="noStrike">
              <a:solidFill>
                <a:srgbClr val="FFFFFF"/>
              </a:solidFill>
              <a:effectLst/>
              <a:uFillTx/>
              <a:latin typeface="Roboto"/>
            </a:endParaRPr>
          </a:p>
        </p:txBody>
      </p:sp>
      <p:sp>
        <p:nvSpPr>
          <p:cNvPr id="216" name="Shape 38"/>
          <p:cNvSpPr/>
          <p:nvPr/>
        </p:nvSpPr>
        <p:spPr>
          <a:xfrm>
            <a:off x="11581200" y="0"/>
            <a:ext cx="360" cy="6858000"/>
          </a:xfrm>
          <a:prstGeom prst="line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0" tIns="45000" rIns="0" bIns="45000" anchor="t" anchorCtr="1">
            <a:noAutofit/>
          </a:bodyPr>
          <a:p>
            <a:endParaRPr lang="fr-FR" sz="1800" b="0" u="none" strike="noStrike">
              <a:solidFill>
                <a:srgbClr val="FFFFFF"/>
              </a:solidFill>
              <a:effectLst/>
              <a:uFillTx/>
              <a:latin typeface="Roboto"/>
            </a:endParaRPr>
          </a:p>
        </p:txBody>
      </p:sp>
      <p:sp>
        <p:nvSpPr>
          <p:cNvPr id="217" name="Shape 39"/>
          <p:cNvSpPr/>
          <p:nvPr/>
        </p:nvSpPr>
        <p:spPr>
          <a:xfrm>
            <a:off x="11885760" y="0"/>
            <a:ext cx="360" cy="6858000"/>
          </a:xfrm>
          <a:prstGeom prst="line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0" tIns="45000" rIns="0" bIns="45000" anchor="t" anchorCtr="1">
            <a:noAutofit/>
          </a:bodyPr>
          <a:p>
            <a:endParaRPr lang="fr-FR" sz="1800" b="0" u="none" strike="noStrike">
              <a:solidFill>
                <a:srgbClr val="FFFFFF"/>
              </a:solidFill>
              <a:effectLst/>
              <a:uFillTx/>
              <a:latin typeface="Roboto"/>
            </a:endParaRPr>
          </a:p>
        </p:txBody>
      </p:sp>
      <p:sp>
        <p:nvSpPr>
          <p:cNvPr id="218" name="Shape 40"/>
          <p:cNvSpPr/>
          <p:nvPr/>
        </p:nvSpPr>
        <p:spPr>
          <a:xfrm>
            <a:off x="12190680" y="0"/>
            <a:ext cx="360" cy="6858000"/>
          </a:xfrm>
          <a:prstGeom prst="line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0" tIns="45000" rIns="0" bIns="45000" anchor="t" anchorCtr="1">
            <a:noAutofit/>
          </a:bodyPr>
          <a:p>
            <a:endParaRPr lang="fr-FR" sz="1800" b="0" u="none" strike="noStrike">
              <a:solidFill>
                <a:srgbClr val="FFFFFF"/>
              </a:solidFill>
              <a:effectLst/>
              <a:uFillTx/>
              <a:latin typeface="Roboto"/>
            </a:endParaRPr>
          </a:p>
        </p:txBody>
      </p:sp>
      <p:sp>
        <p:nvSpPr>
          <p:cNvPr id="219" name="Shape 41"/>
          <p:cNvSpPr/>
          <p:nvPr/>
        </p:nvSpPr>
        <p:spPr>
          <a:xfrm>
            <a:off x="0" y="0"/>
            <a:ext cx="12191400" cy="360"/>
          </a:xfrm>
          <a:prstGeom prst="line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fr-FR" sz="1800" b="0" u="none" strike="noStrike">
              <a:solidFill>
                <a:srgbClr val="FFFFFF"/>
              </a:solidFill>
              <a:effectLst/>
              <a:uFillTx/>
              <a:latin typeface="Roboto"/>
            </a:endParaRPr>
          </a:p>
        </p:txBody>
      </p:sp>
      <p:sp>
        <p:nvSpPr>
          <p:cNvPr id="220" name="Shape 42"/>
          <p:cNvSpPr/>
          <p:nvPr/>
        </p:nvSpPr>
        <p:spPr>
          <a:xfrm>
            <a:off x="0" y="304560"/>
            <a:ext cx="12191400" cy="360"/>
          </a:xfrm>
          <a:prstGeom prst="line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fr-FR" sz="1800" b="0" u="none" strike="noStrike">
              <a:solidFill>
                <a:srgbClr val="FFFFFF"/>
              </a:solidFill>
              <a:effectLst/>
              <a:uFillTx/>
              <a:latin typeface="Roboto"/>
            </a:endParaRPr>
          </a:p>
        </p:txBody>
      </p:sp>
      <p:sp>
        <p:nvSpPr>
          <p:cNvPr id="221" name="Shape 43"/>
          <p:cNvSpPr/>
          <p:nvPr/>
        </p:nvSpPr>
        <p:spPr>
          <a:xfrm>
            <a:off x="0" y="609480"/>
            <a:ext cx="12191400" cy="360"/>
          </a:xfrm>
          <a:prstGeom prst="line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fr-FR" sz="1800" b="0" u="none" strike="noStrike">
              <a:solidFill>
                <a:srgbClr val="FFFFFF"/>
              </a:solidFill>
              <a:effectLst/>
              <a:uFillTx/>
              <a:latin typeface="Roboto"/>
            </a:endParaRPr>
          </a:p>
        </p:txBody>
      </p:sp>
      <p:sp>
        <p:nvSpPr>
          <p:cNvPr id="222" name="Shape 44"/>
          <p:cNvSpPr/>
          <p:nvPr/>
        </p:nvSpPr>
        <p:spPr>
          <a:xfrm>
            <a:off x="0" y="914040"/>
            <a:ext cx="12191400" cy="360"/>
          </a:xfrm>
          <a:prstGeom prst="line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fr-FR" sz="1800" b="0" u="none" strike="noStrike">
              <a:solidFill>
                <a:srgbClr val="FFFFFF"/>
              </a:solidFill>
              <a:effectLst/>
              <a:uFillTx/>
              <a:latin typeface="Roboto"/>
            </a:endParaRPr>
          </a:p>
        </p:txBody>
      </p:sp>
      <p:sp>
        <p:nvSpPr>
          <p:cNvPr id="223" name="Shape 45"/>
          <p:cNvSpPr/>
          <p:nvPr/>
        </p:nvSpPr>
        <p:spPr>
          <a:xfrm>
            <a:off x="0" y="1218960"/>
            <a:ext cx="12191400" cy="360"/>
          </a:xfrm>
          <a:prstGeom prst="line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fr-FR" sz="1800" b="0" u="none" strike="noStrike">
              <a:solidFill>
                <a:srgbClr val="FFFFFF"/>
              </a:solidFill>
              <a:effectLst/>
              <a:uFillTx/>
              <a:latin typeface="Roboto"/>
            </a:endParaRPr>
          </a:p>
        </p:txBody>
      </p:sp>
      <p:sp>
        <p:nvSpPr>
          <p:cNvPr id="224" name="Shape 46"/>
          <p:cNvSpPr/>
          <p:nvPr/>
        </p:nvSpPr>
        <p:spPr>
          <a:xfrm>
            <a:off x="0" y="1523520"/>
            <a:ext cx="12191400" cy="360"/>
          </a:xfrm>
          <a:prstGeom prst="line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fr-FR" sz="1800" b="0" u="none" strike="noStrike">
              <a:solidFill>
                <a:srgbClr val="FFFFFF"/>
              </a:solidFill>
              <a:effectLst/>
              <a:uFillTx/>
              <a:latin typeface="Roboto"/>
            </a:endParaRPr>
          </a:p>
        </p:txBody>
      </p:sp>
      <p:sp>
        <p:nvSpPr>
          <p:cNvPr id="225" name="Shape 47"/>
          <p:cNvSpPr/>
          <p:nvPr/>
        </p:nvSpPr>
        <p:spPr>
          <a:xfrm>
            <a:off x="0" y="1828440"/>
            <a:ext cx="12191400" cy="360"/>
          </a:xfrm>
          <a:prstGeom prst="line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fr-FR" sz="1800" b="0" u="none" strike="noStrike">
              <a:solidFill>
                <a:srgbClr val="FFFFFF"/>
              </a:solidFill>
              <a:effectLst/>
              <a:uFillTx/>
              <a:latin typeface="Roboto"/>
            </a:endParaRPr>
          </a:p>
        </p:txBody>
      </p:sp>
      <p:sp>
        <p:nvSpPr>
          <p:cNvPr id="226" name="Shape 48"/>
          <p:cNvSpPr/>
          <p:nvPr/>
        </p:nvSpPr>
        <p:spPr>
          <a:xfrm>
            <a:off x="0" y="2133360"/>
            <a:ext cx="12191400" cy="360"/>
          </a:xfrm>
          <a:prstGeom prst="line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fr-FR" sz="1800" b="0" u="none" strike="noStrike">
              <a:solidFill>
                <a:srgbClr val="FFFFFF"/>
              </a:solidFill>
              <a:effectLst/>
              <a:uFillTx/>
              <a:latin typeface="Roboto"/>
            </a:endParaRPr>
          </a:p>
        </p:txBody>
      </p:sp>
      <p:sp>
        <p:nvSpPr>
          <p:cNvPr id="227" name="Shape 49"/>
          <p:cNvSpPr/>
          <p:nvPr/>
        </p:nvSpPr>
        <p:spPr>
          <a:xfrm>
            <a:off x="0" y="2437920"/>
            <a:ext cx="12191400" cy="360"/>
          </a:xfrm>
          <a:prstGeom prst="line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fr-FR" sz="1800" b="0" u="none" strike="noStrike">
              <a:solidFill>
                <a:srgbClr val="FFFFFF"/>
              </a:solidFill>
              <a:effectLst/>
              <a:uFillTx/>
              <a:latin typeface="Roboto"/>
            </a:endParaRPr>
          </a:p>
        </p:txBody>
      </p:sp>
      <p:sp>
        <p:nvSpPr>
          <p:cNvPr id="228" name="Shape 50"/>
          <p:cNvSpPr/>
          <p:nvPr/>
        </p:nvSpPr>
        <p:spPr>
          <a:xfrm>
            <a:off x="0" y="2742840"/>
            <a:ext cx="12191400" cy="360"/>
          </a:xfrm>
          <a:prstGeom prst="line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fr-FR" sz="1800" b="0" u="none" strike="noStrike">
              <a:solidFill>
                <a:srgbClr val="FFFFFF"/>
              </a:solidFill>
              <a:effectLst/>
              <a:uFillTx/>
              <a:latin typeface="Roboto"/>
            </a:endParaRPr>
          </a:p>
        </p:txBody>
      </p:sp>
      <p:sp>
        <p:nvSpPr>
          <p:cNvPr id="229" name="Shape 51"/>
          <p:cNvSpPr/>
          <p:nvPr/>
        </p:nvSpPr>
        <p:spPr>
          <a:xfrm>
            <a:off x="0" y="3047400"/>
            <a:ext cx="12191400" cy="360"/>
          </a:xfrm>
          <a:prstGeom prst="line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fr-FR" sz="1800" b="0" u="none" strike="noStrike">
              <a:solidFill>
                <a:srgbClr val="FFFFFF"/>
              </a:solidFill>
              <a:effectLst/>
              <a:uFillTx/>
              <a:latin typeface="Roboto"/>
            </a:endParaRPr>
          </a:p>
        </p:txBody>
      </p:sp>
      <p:sp>
        <p:nvSpPr>
          <p:cNvPr id="230" name="Shape 52"/>
          <p:cNvSpPr/>
          <p:nvPr/>
        </p:nvSpPr>
        <p:spPr>
          <a:xfrm>
            <a:off x="0" y="3352320"/>
            <a:ext cx="12191400" cy="360"/>
          </a:xfrm>
          <a:prstGeom prst="line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fr-FR" sz="1800" b="0" u="none" strike="noStrike">
              <a:solidFill>
                <a:srgbClr val="FFFFFF"/>
              </a:solidFill>
              <a:effectLst/>
              <a:uFillTx/>
              <a:latin typeface="Roboto"/>
            </a:endParaRPr>
          </a:p>
        </p:txBody>
      </p:sp>
      <p:sp>
        <p:nvSpPr>
          <p:cNvPr id="231" name="Shape 53"/>
          <p:cNvSpPr/>
          <p:nvPr/>
        </p:nvSpPr>
        <p:spPr>
          <a:xfrm>
            <a:off x="0" y="3656880"/>
            <a:ext cx="12191400" cy="360"/>
          </a:xfrm>
          <a:prstGeom prst="line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fr-FR" sz="1800" b="0" u="none" strike="noStrike">
              <a:solidFill>
                <a:srgbClr val="FFFFFF"/>
              </a:solidFill>
              <a:effectLst/>
              <a:uFillTx/>
              <a:latin typeface="Roboto"/>
            </a:endParaRPr>
          </a:p>
        </p:txBody>
      </p:sp>
      <p:sp>
        <p:nvSpPr>
          <p:cNvPr id="232" name="Shape 54"/>
          <p:cNvSpPr/>
          <p:nvPr/>
        </p:nvSpPr>
        <p:spPr>
          <a:xfrm>
            <a:off x="0" y="3961800"/>
            <a:ext cx="12191400" cy="360"/>
          </a:xfrm>
          <a:prstGeom prst="line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fr-FR" sz="1800" b="0" u="none" strike="noStrike">
              <a:solidFill>
                <a:srgbClr val="FFFFFF"/>
              </a:solidFill>
              <a:effectLst/>
              <a:uFillTx/>
              <a:latin typeface="Roboto"/>
            </a:endParaRPr>
          </a:p>
        </p:txBody>
      </p:sp>
      <p:sp>
        <p:nvSpPr>
          <p:cNvPr id="233" name="Shape 55"/>
          <p:cNvSpPr/>
          <p:nvPr/>
        </p:nvSpPr>
        <p:spPr>
          <a:xfrm>
            <a:off x="0" y="4266720"/>
            <a:ext cx="12191400" cy="360"/>
          </a:xfrm>
          <a:prstGeom prst="line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fr-FR" sz="1800" b="0" u="none" strike="noStrike">
              <a:solidFill>
                <a:srgbClr val="FFFFFF"/>
              </a:solidFill>
              <a:effectLst/>
              <a:uFillTx/>
              <a:latin typeface="Roboto"/>
            </a:endParaRPr>
          </a:p>
        </p:txBody>
      </p:sp>
      <p:sp>
        <p:nvSpPr>
          <p:cNvPr id="234" name="Shape 56"/>
          <p:cNvSpPr/>
          <p:nvPr/>
        </p:nvSpPr>
        <p:spPr>
          <a:xfrm>
            <a:off x="0" y="4571280"/>
            <a:ext cx="12191400" cy="360"/>
          </a:xfrm>
          <a:prstGeom prst="line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fr-FR" sz="1800" b="0" u="none" strike="noStrike">
              <a:solidFill>
                <a:srgbClr val="FFFFFF"/>
              </a:solidFill>
              <a:effectLst/>
              <a:uFillTx/>
              <a:latin typeface="Roboto"/>
            </a:endParaRPr>
          </a:p>
        </p:txBody>
      </p:sp>
      <p:sp>
        <p:nvSpPr>
          <p:cNvPr id="235" name="Shape 57"/>
          <p:cNvSpPr/>
          <p:nvPr/>
        </p:nvSpPr>
        <p:spPr>
          <a:xfrm>
            <a:off x="0" y="4876200"/>
            <a:ext cx="12191400" cy="360"/>
          </a:xfrm>
          <a:prstGeom prst="line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fr-FR" sz="1800" b="0" u="none" strike="noStrike">
              <a:solidFill>
                <a:srgbClr val="FFFFFF"/>
              </a:solidFill>
              <a:effectLst/>
              <a:uFillTx/>
              <a:latin typeface="Roboto"/>
            </a:endParaRPr>
          </a:p>
        </p:txBody>
      </p:sp>
      <p:sp>
        <p:nvSpPr>
          <p:cNvPr id="236" name="Shape 58"/>
          <p:cNvSpPr/>
          <p:nvPr/>
        </p:nvSpPr>
        <p:spPr>
          <a:xfrm>
            <a:off x="0" y="5180760"/>
            <a:ext cx="12191400" cy="360"/>
          </a:xfrm>
          <a:prstGeom prst="line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fr-FR" sz="1800" b="0" u="none" strike="noStrike">
              <a:solidFill>
                <a:srgbClr val="FFFFFF"/>
              </a:solidFill>
              <a:effectLst/>
              <a:uFillTx/>
              <a:latin typeface="Roboto"/>
            </a:endParaRPr>
          </a:p>
        </p:txBody>
      </p:sp>
      <p:sp>
        <p:nvSpPr>
          <p:cNvPr id="237" name="Shape 59"/>
          <p:cNvSpPr/>
          <p:nvPr/>
        </p:nvSpPr>
        <p:spPr>
          <a:xfrm>
            <a:off x="0" y="5485680"/>
            <a:ext cx="12191400" cy="360"/>
          </a:xfrm>
          <a:prstGeom prst="line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fr-FR" sz="1800" b="0" u="none" strike="noStrike">
              <a:solidFill>
                <a:srgbClr val="FFFFFF"/>
              </a:solidFill>
              <a:effectLst/>
              <a:uFillTx/>
              <a:latin typeface="Roboto"/>
            </a:endParaRPr>
          </a:p>
        </p:txBody>
      </p:sp>
      <p:sp>
        <p:nvSpPr>
          <p:cNvPr id="238" name="Shape 60"/>
          <p:cNvSpPr/>
          <p:nvPr/>
        </p:nvSpPr>
        <p:spPr>
          <a:xfrm>
            <a:off x="0" y="5790600"/>
            <a:ext cx="12191400" cy="360"/>
          </a:xfrm>
          <a:prstGeom prst="line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fr-FR" sz="1800" b="0" u="none" strike="noStrike">
              <a:solidFill>
                <a:srgbClr val="FFFFFF"/>
              </a:solidFill>
              <a:effectLst/>
              <a:uFillTx/>
              <a:latin typeface="Roboto"/>
            </a:endParaRPr>
          </a:p>
        </p:txBody>
      </p:sp>
      <p:sp>
        <p:nvSpPr>
          <p:cNvPr id="239" name="Shape 61"/>
          <p:cNvSpPr/>
          <p:nvPr/>
        </p:nvSpPr>
        <p:spPr>
          <a:xfrm>
            <a:off x="0" y="6095160"/>
            <a:ext cx="12191400" cy="360"/>
          </a:xfrm>
          <a:prstGeom prst="line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fr-FR" sz="1800" b="0" u="none" strike="noStrike">
              <a:solidFill>
                <a:srgbClr val="FFFFFF"/>
              </a:solidFill>
              <a:effectLst/>
              <a:uFillTx/>
              <a:latin typeface="Roboto"/>
            </a:endParaRPr>
          </a:p>
        </p:txBody>
      </p:sp>
      <p:sp>
        <p:nvSpPr>
          <p:cNvPr id="240" name="Shape 62"/>
          <p:cNvSpPr/>
          <p:nvPr/>
        </p:nvSpPr>
        <p:spPr>
          <a:xfrm>
            <a:off x="0" y="6400080"/>
            <a:ext cx="12191400" cy="360"/>
          </a:xfrm>
          <a:prstGeom prst="line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fr-FR" sz="1800" b="0" u="none" strike="noStrike">
              <a:solidFill>
                <a:srgbClr val="FFFFFF"/>
              </a:solidFill>
              <a:effectLst/>
              <a:uFillTx/>
              <a:latin typeface="Roboto"/>
            </a:endParaRPr>
          </a:p>
        </p:txBody>
      </p:sp>
      <p:sp>
        <p:nvSpPr>
          <p:cNvPr id="241" name="Shape 63"/>
          <p:cNvSpPr/>
          <p:nvPr/>
        </p:nvSpPr>
        <p:spPr>
          <a:xfrm>
            <a:off x="0" y="6704640"/>
            <a:ext cx="12191400" cy="360"/>
          </a:xfrm>
          <a:prstGeom prst="line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fr-FR" sz="1800" b="0" u="none" strike="noStrike">
              <a:solidFill>
                <a:srgbClr val="FFFFFF"/>
              </a:solidFill>
              <a:effectLst/>
              <a:uFillTx/>
              <a:latin typeface="Roboto"/>
            </a:endParaRPr>
          </a:p>
        </p:txBody>
      </p:sp>
      <p:sp>
        <p:nvSpPr>
          <p:cNvPr id="242" name="Text 64"/>
          <p:cNvSpPr/>
          <p:nvPr/>
        </p:nvSpPr>
        <p:spPr>
          <a:xfrm>
            <a:off x="457200" y="384120"/>
            <a:ext cx="9141840" cy="253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pc="201" strike="noStrike">
                <a:solidFill>
                  <a:srgbClr val="F2A65A"/>
                </a:solidFill>
                <a:effectLst/>
                <a:uFillTx/>
                <a:latin typeface="Roboto"/>
                <a:ea typeface="Roboto"/>
              </a:rPr>
              <a:t>02 · EXPLORATORY ANALYSIS</a:t>
            </a:r>
            <a:endParaRPr lang="fr-FR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3" name="Text 65"/>
          <p:cNvSpPr/>
          <p:nvPr/>
        </p:nvSpPr>
        <p:spPr>
          <a:xfrm>
            <a:off x="457200" y="640080"/>
            <a:ext cx="10513440" cy="54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000" b="1" u="none" strike="noStrike">
                <a:solidFill>
                  <a:srgbClr val="FFFFFF"/>
                </a:solidFill>
                <a:effectLst/>
                <a:uFillTx/>
                <a:latin typeface="Roboto"/>
                <a:ea typeface="Roboto"/>
              </a:rPr>
              <a:t>Who Are the Daters?</a:t>
            </a:r>
            <a:endParaRPr lang="fr-FR" sz="3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4" name="Shape 66"/>
          <p:cNvSpPr/>
          <p:nvPr/>
        </p:nvSpPr>
        <p:spPr>
          <a:xfrm>
            <a:off x="457200" y="1371600"/>
            <a:ext cx="4569840" cy="4661280"/>
          </a:xfrm>
          <a:prstGeom prst="roundRect">
            <a:avLst>
              <a:gd name="adj" fmla="val 1800"/>
            </a:avLst>
          </a:prstGeom>
          <a:solidFill>
            <a:srgbClr val="263659"/>
          </a:solidFill>
          <a:ln w="12700">
            <a:solidFill>
              <a:srgbClr val="3D4B72"/>
            </a:solidFill>
            <a:round/>
          </a:ln>
          <a:effectLst>
            <a:outerShdw algn="bl" blurRad="101520" dir="5400000" dist="38160" kx="0" ky="0" rotWithShape="0" sx="100000" sy="10000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fr-FR" sz="1800" b="0" u="none" strike="noStrike">
              <a:solidFill>
                <a:srgbClr val="FFFFFF"/>
              </a:solidFill>
              <a:effectLst/>
              <a:uFillTx/>
              <a:latin typeface="Roboto"/>
            </a:endParaRPr>
          </a:p>
        </p:txBody>
      </p:sp>
      <p:graphicFrame>
        <p:nvGraphicFramePr>
          <p:cNvPr id="245" name="Chart 0"/>
          <p:cNvGraphicFramePr/>
          <p:nvPr/>
        </p:nvGraphicFramePr>
        <p:xfrm>
          <a:off x="955440" y="1938600"/>
          <a:ext cx="3573000" cy="3573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sp>
        <p:nvSpPr>
          <p:cNvPr id="246" name="Text 67"/>
          <p:cNvSpPr/>
          <p:nvPr/>
        </p:nvSpPr>
        <p:spPr>
          <a:xfrm>
            <a:off x="658440" y="1572840"/>
            <a:ext cx="4167360" cy="27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FFFFFF"/>
                </a:solidFill>
                <a:effectLst/>
                <a:uFillTx/>
                <a:latin typeface="Roboto"/>
                <a:ea typeface="Roboto"/>
              </a:rPr>
              <a:t>Gender Distribution</a:t>
            </a:r>
            <a:endParaRPr lang="fr-FR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7" name="Text 68"/>
          <p:cNvSpPr/>
          <p:nvPr/>
        </p:nvSpPr>
        <p:spPr>
          <a:xfrm>
            <a:off x="1828800" y="3235320"/>
            <a:ext cx="1826640" cy="40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600" b="1" u="none" strike="noStrike">
                <a:solidFill>
                  <a:srgbClr val="FFFFFF"/>
                </a:solidFill>
                <a:effectLst/>
                <a:uFillTx/>
                <a:latin typeface="Roboto"/>
                <a:ea typeface="Roboto"/>
              </a:rPr>
              <a:t>551</a:t>
            </a:r>
            <a:endParaRPr lang="fr-FR" sz="2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8" name="Text 69"/>
          <p:cNvSpPr/>
          <p:nvPr/>
        </p:nvSpPr>
        <p:spPr>
          <a:xfrm>
            <a:off x="1828800" y="3637800"/>
            <a:ext cx="1826640" cy="27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pc="150" strike="noStrike">
                <a:solidFill>
                  <a:srgbClr val="8B96AC"/>
                </a:solidFill>
                <a:effectLst/>
                <a:uFillTx/>
                <a:latin typeface="Roboto"/>
                <a:ea typeface="Roboto"/>
              </a:rPr>
              <a:t>SUBJECTS</a:t>
            </a:r>
            <a:endParaRPr lang="fr-FR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9" name="Shape 70"/>
          <p:cNvSpPr/>
          <p:nvPr/>
        </p:nvSpPr>
        <p:spPr>
          <a:xfrm>
            <a:off x="5212080" y="1371600"/>
            <a:ext cx="3166200" cy="1460880"/>
          </a:xfrm>
          <a:prstGeom prst="roundRect">
            <a:avLst>
              <a:gd name="adj" fmla="val 5625"/>
            </a:avLst>
          </a:prstGeom>
          <a:solidFill>
            <a:srgbClr val="263659"/>
          </a:solidFill>
          <a:ln w="12700">
            <a:solidFill>
              <a:srgbClr val="3D4B72"/>
            </a:solidFill>
            <a:round/>
          </a:ln>
          <a:effectLst>
            <a:outerShdw algn="bl" blurRad="101520" dir="5400000" dist="38160" kx="0" ky="0" rotWithShape="0" sx="100000" sy="10000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fr-FR" sz="1800" b="0" u="none" strike="noStrike">
              <a:solidFill>
                <a:srgbClr val="FFFFFF"/>
              </a:solidFill>
              <a:effectLst/>
              <a:uFillTx/>
              <a:latin typeface="Roboto"/>
            </a:endParaRPr>
          </a:p>
        </p:txBody>
      </p:sp>
      <p:sp>
        <p:nvSpPr>
          <p:cNvPr id="250" name="Text 71"/>
          <p:cNvSpPr/>
          <p:nvPr/>
        </p:nvSpPr>
        <p:spPr>
          <a:xfrm>
            <a:off x="5440680" y="1527120"/>
            <a:ext cx="2709000" cy="226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pc="99" strike="noStrike">
                <a:solidFill>
                  <a:srgbClr val="8B96AC"/>
                </a:solidFill>
                <a:effectLst/>
                <a:uFillTx/>
                <a:latin typeface="Roboto"/>
                <a:ea typeface="Roboto"/>
              </a:rPr>
              <a:t>AGE · FEMALE</a:t>
            </a:r>
            <a:endParaRPr lang="fr-FR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1" name="Text 72"/>
          <p:cNvSpPr/>
          <p:nvPr/>
        </p:nvSpPr>
        <p:spPr>
          <a:xfrm>
            <a:off x="5440680" y="1737360"/>
            <a:ext cx="2709000" cy="592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400" b="1" u="none" strike="noStrike">
                <a:solidFill>
                  <a:srgbClr val="FF94FF"/>
                </a:solidFill>
                <a:effectLst/>
                <a:uFillTx/>
                <a:latin typeface="Roboto"/>
                <a:ea typeface="Roboto"/>
              </a:rPr>
              <a:t>26.1</a:t>
            </a:r>
            <a:endParaRPr lang="fr-FR" sz="3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2" name="Text 73"/>
          <p:cNvSpPr/>
          <p:nvPr/>
        </p:nvSpPr>
        <p:spPr>
          <a:xfrm>
            <a:off x="5440680" y="2377440"/>
            <a:ext cx="2709000" cy="27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5C6684"/>
                </a:solidFill>
                <a:effectLst/>
                <a:uFillTx/>
                <a:latin typeface="Roboto"/>
                <a:ea typeface="Roboto"/>
              </a:rPr>
              <a:t>median 26  ·  n = 274</a:t>
            </a:r>
            <a:endParaRPr lang="fr-FR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3" name="Shape 74"/>
          <p:cNvSpPr/>
          <p:nvPr/>
        </p:nvSpPr>
        <p:spPr>
          <a:xfrm>
            <a:off x="8563320" y="1371600"/>
            <a:ext cx="3166200" cy="1460880"/>
          </a:xfrm>
          <a:prstGeom prst="roundRect">
            <a:avLst>
              <a:gd name="adj" fmla="val 5625"/>
            </a:avLst>
          </a:prstGeom>
          <a:solidFill>
            <a:srgbClr val="263659"/>
          </a:solidFill>
          <a:ln w="12700">
            <a:solidFill>
              <a:srgbClr val="3D4B72"/>
            </a:solidFill>
            <a:round/>
          </a:ln>
          <a:effectLst>
            <a:outerShdw algn="bl" blurRad="101520" dir="5400000" dist="38160" kx="0" ky="0" rotWithShape="0" sx="100000" sy="10000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fr-FR" sz="1800" b="0" u="none" strike="noStrike">
              <a:solidFill>
                <a:srgbClr val="FFFFFF"/>
              </a:solidFill>
              <a:effectLst/>
              <a:uFillTx/>
              <a:latin typeface="Roboto"/>
            </a:endParaRPr>
          </a:p>
        </p:txBody>
      </p:sp>
      <p:sp>
        <p:nvSpPr>
          <p:cNvPr id="254" name="Text 75"/>
          <p:cNvSpPr/>
          <p:nvPr/>
        </p:nvSpPr>
        <p:spPr>
          <a:xfrm>
            <a:off x="8791920" y="1527120"/>
            <a:ext cx="2709000" cy="226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pc="99" strike="noStrike">
                <a:solidFill>
                  <a:srgbClr val="8B96AC"/>
                </a:solidFill>
                <a:effectLst/>
                <a:uFillTx/>
                <a:latin typeface="Roboto"/>
                <a:ea typeface="Roboto"/>
              </a:rPr>
              <a:t>AGE · MALE</a:t>
            </a:r>
            <a:endParaRPr lang="fr-FR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5" name="Text 76"/>
          <p:cNvSpPr/>
          <p:nvPr/>
        </p:nvSpPr>
        <p:spPr>
          <a:xfrm>
            <a:off x="8791920" y="1737360"/>
            <a:ext cx="2709000" cy="592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400" b="1" u="none" strike="noStrike">
                <a:solidFill>
                  <a:srgbClr val="003CFF"/>
                </a:solidFill>
                <a:effectLst/>
                <a:uFillTx/>
                <a:latin typeface="Roboto"/>
                <a:ea typeface="Roboto"/>
              </a:rPr>
              <a:t>26.6</a:t>
            </a:r>
            <a:endParaRPr lang="fr-FR" sz="3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6" name="Text 77"/>
          <p:cNvSpPr/>
          <p:nvPr/>
        </p:nvSpPr>
        <p:spPr>
          <a:xfrm>
            <a:off x="8791920" y="2377440"/>
            <a:ext cx="2709000" cy="27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5C6684"/>
                </a:solidFill>
                <a:effectLst/>
                <a:uFillTx/>
                <a:latin typeface="Roboto"/>
                <a:ea typeface="Roboto"/>
              </a:rPr>
              <a:t>median 27  ·  n = 277</a:t>
            </a:r>
            <a:endParaRPr lang="fr-FR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7" name="Shape 78"/>
          <p:cNvSpPr/>
          <p:nvPr/>
        </p:nvSpPr>
        <p:spPr>
          <a:xfrm>
            <a:off x="5212080" y="3017520"/>
            <a:ext cx="6517440" cy="3015360"/>
          </a:xfrm>
          <a:prstGeom prst="roundRect">
            <a:avLst>
              <a:gd name="adj" fmla="val 2727"/>
            </a:avLst>
          </a:prstGeom>
          <a:solidFill>
            <a:srgbClr val="263659"/>
          </a:solidFill>
          <a:ln w="12700">
            <a:solidFill>
              <a:srgbClr val="3D4B72"/>
            </a:solidFill>
            <a:round/>
          </a:ln>
          <a:effectLst>
            <a:outerShdw algn="bl" blurRad="101520" dir="5400000" dist="38160" kx="0" ky="0" rotWithShape="0" sx="100000" sy="10000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fr-FR" sz="1800" b="0" u="none" strike="noStrike">
              <a:solidFill>
                <a:srgbClr val="FFFFFF"/>
              </a:solidFill>
              <a:effectLst/>
              <a:uFillTx/>
              <a:latin typeface="Roboto"/>
            </a:endParaRPr>
          </a:p>
        </p:txBody>
      </p:sp>
      <p:sp>
        <p:nvSpPr>
          <p:cNvPr id="258" name="Text 79"/>
          <p:cNvSpPr/>
          <p:nvPr/>
        </p:nvSpPr>
        <p:spPr>
          <a:xfrm>
            <a:off x="5486400" y="3182040"/>
            <a:ext cx="5968800" cy="226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pc="150" strike="noStrike">
                <a:solidFill>
                  <a:srgbClr val="F2A65A"/>
                </a:solidFill>
                <a:effectLst/>
                <a:uFillTx/>
                <a:latin typeface="Roboto"/>
                <a:ea typeface="Roboto"/>
              </a:rPr>
              <a:t>RACIAL COMPOSITION</a:t>
            </a:r>
            <a:endParaRPr lang="fr-FR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9" name="Text 80"/>
          <p:cNvSpPr/>
          <p:nvPr/>
        </p:nvSpPr>
        <p:spPr>
          <a:xfrm>
            <a:off x="5486400" y="3520440"/>
            <a:ext cx="1369440" cy="290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FFFFFF"/>
                </a:solidFill>
                <a:effectLst/>
                <a:uFillTx/>
                <a:latin typeface="Roboto"/>
                <a:ea typeface="Roboto"/>
              </a:rPr>
              <a:t>European</a:t>
            </a:r>
            <a:endParaRPr lang="fr-FR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0" name="Track 950"/>
          <p:cNvSpPr/>
          <p:nvPr/>
        </p:nvSpPr>
        <p:spPr>
          <a:xfrm>
            <a:off x="6858000" y="3584520"/>
            <a:ext cx="3322800" cy="162360"/>
          </a:xfrm>
          <a:prstGeom prst="roundRect">
            <a:avLst>
              <a:gd name="adj" fmla="val 33333"/>
            </a:avLst>
          </a:prstGeom>
          <a:solidFill>
            <a:srgbClr val="3D4B7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Roboto"/>
            </a:endParaRPr>
          </a:p>
        </p:txBody>
      </p:sp>
      <p:sp>
        <p:nvSpPr>
          <p:cNvPr id="261" name="Shape 81"/>
          <p:cNvSpPr/>
          <p:nvPr/>
        </p:nvSpPr>
        <p:spPr>
          <a:xfrm>
            <a:off x="6858000" y="3584520"/>
            <a:ext cx="1854000" cy="162360"/>
          </a:xfrm>
          <a:prstGeom prst="roundRect">
            <a:avLst>
              <a:gd name="adj" fmla="val 33333"/>
            </a:avLst>
          </a:prstGeom>
          <a:solidFill>
            <a:srgbClr val="F2A65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fr-FR" sz="1800" b="0" u="none" strike="noStrike">
              <a:solidFill>
                <a:srgbClr val="FFFFFF"/>
              </a:solidFill>
              <a:effectLst/>
              <a:uFillTx/>
              <a:latin typeface="Roboto"/>
            </a:endParaRPr>
          </a:p>
        </p:txBody>
      </p:sp>
      <p:sp>
        <p:nvSpPr>
          <p:cNvPr id="262" name="Text 82"/>
          <p:cNvSpPr/>
          <p:nvPr/>
        </p:nvSpPr>
        <p:spPr>
          <a:xfrm>
            <a:off x="10451520" y="3520440"/>
            <a:ext cx="1003680" cy="290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8B96AC"/>
                </a:solidFill>
                <a:effectLst/>
                <a:uFillTx/>
                <a:latin typeface="Roboto"/>
                <a:ea typeface="Roboto"/>
              </a:rPr>
              <a:t>55.8%</a:t>
            </a:r>
            <a:endParaRPr lang="fr-FR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3" name="Text 83"/>
          <p:cNvSpPr/>
          <p:nvPr/>
        </p:nvSpPr>
        <p:spPr>
          <a:xfrm>
            <a:off x="5486400" y="4023360"/>
            <a:ext cx="1369440" cy="290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FFFFFF"/>
                </a:solidFill>
                <a:effectLst/>
                <a:uFillTx/>
                <a:latin typeface="Roboto"/>
                <a:ea typeface="Roboto"/>
              </a:rPr>
              <a:t>Asian</a:t>
            </a:r>
            <a:endParaRPr lang="fr-FR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4" name="Track 951"/>
          <p:cNvSpPr/>
          <p:nvPr/>
        </p:nvSpPr>
        <p:spPr>
          <a:xfrm>
            <a:off x="6858000" y="4087440"/>
            <a:ext cx="3322800" cy="162360"/>
          </a:xfrm>
          <a:prstGeom prst="roundRect">
            <a:avLst>
              <a:gd name="adj" fmla="val 33333"/>
            </a:avLst>
          </a:prstGeom>
          <a:solidFill>
            <a:srgbClr val="3D4B7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Roboto"/>
            </a:endParaRPr>
          </a:p>
        </p:txBody>
      </p:sp>
      <p:sp>
        <p:nvSpPr>
          <p:cNvPr id="265" name="Shape 84"/>
          <p:cNvSpPr/>
          <p:nvPr/>
        </p:nvSpPr>
        <p:spPr>
          <a:xfrm>
            <a:off x="6858000" y="4087440"/>
            <a:ext cx="829440" cy="162360"/>
          </a:xfrm>
          <a:prstGeom prst="roundRect">
            <a:avLst>
              <a:gd name="adj" fmla="val 33333"/>
            </a:avLst>
          </a:prstGeom>
          <a:solidFill>
            <a:srgbClr val="F2A65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fr-FR" sz="1800" b="0" u="none" strike="noStrike">
              <a:solidFill>
                <a:srgbClr val="FFFFFF"/>
              </a:solidFill>
              <a:effectLst/>
              <a:uFillTx/>
              <a:latin typeface="Roboto"/>
            </a:endParaRPr>
          </a:p>
        </p:txBody>
      </p:sp>
      <p:sp>
        <p:nvSpPr>
          <p:cNvPr id="266" name="Text 85"/>
          <p:cNvSpPr/>
          <p:nvPr/>
        </p:nvSpPr>
        <p:spPr>
          <a:xfrm>
            <a:off x="10451520" y="4023360"/>
            <a:ext cx="1003680" cy="290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8B96AC"/>
                </a:solidFill>
                <a:effectLst/>
                <a:uFillTx/>
                <a:latin typeface="Roboto"/>
                <a:ea typeface="Roboto"/>
              </a:rPr>
              <a:t>25%</a:t>
            </a:r>
            <a:endParaRPr lang="fr-FR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7" name="Text 86"/>
          <p:cNvSpPr/>
          <p:nvPr/>
        </p:nvSpPr>
        <p:spPr>
          <a:xfrm>
            <a:off x="5486400" y="4526280"/>
            <a:ext cx="1369440" cy="290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FFFFFF"/>
                </a:solidFill>
                <a:effectLst/>
                <a:uFillTx/>
                <a:latin typeface="Roboto"/>
                <a:ea typeface="Roboto"/>
              </a:rPr>
              <a:t>Latino</a:t>
            </a:r>
            <a:endParaRPr lang="fr-FR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8" name="Track 952"/>
          <p:cNvSpPr/>
          <p:nvPr/>
        </p:nvSpPr>
        <p:spPr>
          <a:xfrm>
            <a:off x="6858000" y="4590360"/>
            <a:ext cx="3322800" cy="162360"/>
          </a:xfrm>
          <a:prstGeom prst="roundRect">
            <a:avLst>
              <a:gd name="adj" fmla="val 33333"/>
            </a:avLst>
          </a:prstGeom>
          <a:solidFill>
            <a:srgbClr val="3D4B7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Roboto"/>
            </a:endParaRPr>
          </a:p>
        </p:txBody>
      </p:sp>
      <p:sp>
        <p:nvSpPr>
          <p:cNvPr id="269" name="Shape 87"/>
          <p:cNvSpPr/>
          <p:nvPr/>
        </p:nvSpPr>
        <p:spPr>
          <a:xfrm>
            <a:off x="6858000" y="4590360"/>
            <a:ext cx="254160" cy="162360"/>
          </a:xfrm>
          <a:prstGeom prst="roundRect">
            <a:avLst>
              <a:gd name="adj" fmla="val 33333"/>
            </a:avLst>
          </a:prstGeom>
          <a:solidFill>
            <a:srgbClr val="F2A65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fr-FR" sz="1800" b="0" u="none" strike="noStrike">
              <a:solidFill>
                <a:srgbClr val="FFFFFF"/>
              </a:solidFill>
              <a:effectLst/>
              <a:uFillTx/>
              <a:latin typeface="Roboto"/>
            </a:endParaRPr>
          </a:p>
        </p:txBody>
      </p:sp>
      <p:sp>
        <p:nvSpPr>
          <p:cNvPr id="270" name="Text 88"/>
          <p:cNvSpPr/>
          <p:nvPr/>
        </p:nvSpPr>
        <p:spPr>
          <a:xfrm>
            <a:off x="10451520" y="4526280"/>
            <a:ext cx="1003680" cy="290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8B96AC"/>
                </a:solidFill>
                <a:effectLst/>
                <a:uFillTx/>
                <a:latin typeface="Roboto"/>
                <a:ea typeface="Roboto"/>
              </a:rPr>
              <a:t>7.7%</a:t>
            </a:r>
            <a:endParaRPr lang="fr-FR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71" name="Text 89"/>
          <p:cNvSpPr/>
          <p:nvPr/>
        </p:nvSpPr>
        <p:spPr>
          <a:xfrm>
            <a:off x="5486400" y="5029200"/>
            <a:ext cx="1369440" cy="290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FFFFFF"/>
                </a:solidFill>
                <a:effectLst/>
                <a:uFillTx/>
                <a:latin typeface="Roboto"/>
                <a:ea typeface="Roboto"/>
              </a:rPr>
              <a:t>Other</a:t>
            </a:r>
            <a:endParaRPr lang="fr-FR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72" name="Track 953"/>
          <p:cNvSpPr/>
          <p:nvPr/>
        </p:nvSpPr>
        <p:spPr>
          <a:xfrm>
            <a:off x="6858000" y="5093280"/>
            <a:ext cx="3322800" cy="162360"/>
          </a:xfrm>
          <a:prstGeom prst="roundRect">
            <a:avLst>
              <a:gd name="adj" fmla="val 33333"/>
            </a:avLst>
          </a:prstGeom>
          <a:solidFill>
            <a:srgbClr val="3D4B7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Roboto"/>
            </a:endParaRPr>
          </a:p>
        </p:txBody>
      </p:sp>
      <p:sp>
        <p:nvSpPr>
          <p:cNvPr id="273" name="Shape 90"/>
          <p:cNvSpPr/>
          <p:nvPr/>
        </p:nvSpPr>
        <p:spPr>
          <a:xfrm>
            <a:off x="6858000" y="5093280"/>
            <a:ext cx="223920" cy="162360"/>
          </a:xfrm>
          <a:prstGeom prst="roundRect">
            <a:avLst>
              <a:gd name="adj" fmla="val 33333"/>
            </a:avLst>
          </a:prstGeom>
          <a:solidFill>
            <a:srgbClr val="F2A65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fr-FR" sz="1800" b="0" u="none" strike="noStrike">
              <a:solidFill>
                <a:srgbClr val="FFFFFF"/>
              </a:solidFill>
              <a:effectLst/>
              <a:uFillTx/>
              <a:latin typeface="Roboto"/>
            </a:endParaRPr>
          </a:p>
        </p:txBody>
      </p:sp>
      <p:sp>
        <p:nvSpPr>
          <p:cNvPr id="274" name="Text 91"/>
          <p:cNvSpPr/>
          <p:nvPr/>
        </p:nvSpPr>
        <p:spPr>
          <a:xfrm>
            <a:off x="10451520" y="5029200"/>
            <a:ext cx="1003680" cy="290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8B96AC"/>
                </a:solidFill>
                <a:effectLst/>
                <a:uFillTx/>
                <a:latin typeface="Roboto"/>
                <a:ea typeface="Roboto"/>
              </a:rPr>
              <a:t>6.8%</a:t>
            </a:r>
            <a:endParaRPr lang="fr-FR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75" name="Text 92"/>
          <p:cNvSpPr/>
          <p:nvPr/>
        </p:nvSpPr>
        <p:spPr>
          <a:xfrm>
            <a:off x="5486400" y="5532120"/>
            <a:ext cx="1369440" cy="290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FFFFFF"/>
                </a:solidFill>
                <a:effectLst/>
                <a:uFillTx/>
                <a:latin typeface="Roboto"/>
                <a:ea typeface="Roboto"/>
              </a:rPr>
              <a:t>Black</a:t>
            </a:r>
            <a:endParaRPr lang="fr-FR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76" name="Track 954"/>
          <p:cNvSpPr/>
          <p:nvPr/>
        </p:nvSpPr>
        <p:spPr>
          <a:xfrm>
            <a:off x="6858000" y="5596200"/>
            <a:ext cx="3322800" cy="162360"/>
          </a:xfrm>
          <a:prstGeom prst="roundRect">
            <a:avLst>
              <a:gd name="adj" fmla="val 33333"/>
            </a:avLst>
          </a:prstGeom>
          <a:solidFill>
            <a:srgbClr val="3D4B7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Roboto"/>
            </a:endParaRPr>
          </a:p>
        </p:txBody>
      </p:sp>
      <p:sp>
        <p:nvSpPr>
          <p:cNvPr id="277" name="Shape 93"/>
          <p:cNvSpPr/>
          <p:nvPr/>
        </p:nvSpPr>
        <p:spPr>
          <a:xfrm>
            <a:off x="6858000" y="5596200"/>
            <a:ext cx="157680" cy="162360"/>
          </a:xfrm>
          <a:prstGeom prst="roundRect">
            <a:avLst>
              <a:gd name="adj" fmla="val 34360"/>
            </a:avLst>
          </a:prstGeom>
          <a:solidFill>
            <a:srgbClr val="F2A65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8840" tIns="45000" rIns="78840" bIns="45000" anchor="t">
            <a:noAutofit/>
          </a:bodyPr>
          <a:p>
            <a:endParaRPr lang="fr-FR" sz="1800" b="0" u="none" strike="noStrike">
              <a:solidFill>
                <a:srgbClr val="FFFFFF"/>
              </a:solidFill>
              <a:effectLst/>
              <a:uFillTx/>
              <a:latin typeface="Roboto"/>
            </a:endParaRPr>
          </a:p>
        </p:txBody>
      </p:sp>
      <p:sp>
        <p:nvSpPr>
          <p:cNvPr id="278" name="Text 94"/>
          <p:cNvSpPr/>
          <p:nvPr/>
        </p:nvSpPr>
        <p:spPr>
          <a:xfrm>
            <a:off x="10451520" y="5532120"/>
            <a:ext cx="1003680" cy="290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8B96AC"/>
                </a:solidFill>
                <a:effectLst/>
                <a:uFillTx/>
                <a:latin typeface="Roboto"/>
                <a:ea typeface="Roboto"/>
              </a:rPr>
              <a:t>4.8%</a:t>
            </a:r>
            <a:endParaRPr lang="fr-FR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79" name="Shape 95"/>
          <p:cNvSpPr/>
          <p:nvPr/>
        </p:nvSpPr>
        <p:spPr>
          <a:xfrm>
            <a:off x="548640" y="6263640"/>
            <a:ext cx="11091600" cy="360"/>
          </a:xfrm>
          <a:prstGeom prst="line">
            <a:avLst/>
          </a:prstGeom>
          <a:ln w="12700">
            <a:solidFill>
              <a:srgbClr val="3D4B7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fr-FR" sz="1800" b="0" u="none" strike="noStrike">
              <a:solidFill>
                <a:srgbClr val="FFFFFF"/>
              </a:solidFill>
              <a:effectLst/>
              <a:uFillTx/>
              <a:latin typeface="Roboto"/>
            </a:endParaRPr>
          </a:p>
        </p:txBody>
      </p:sp>
      <p:sp>
        <p:nvSpPr>
          <p:cNvPr id="280" name="Text 96"/>
          <p:cNvSpPr/>
          <p:nvPr/>
        </p:nvSpPr>
        <p:spPr>
          <a:xfrm>
            <a:off x="457200" y="6355080"/>
            <a:ext cx="8227440" cy="27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5C6684"/>
                </a:solidFill>
                <a:effectLst/>
                <a:uFillTx/>
                <a:latin typeface="Roboto"/>
                <a:ea typeface="Roboto"/>
              </a:rPr>
              <a:t>Speed dating experiment · Attraction, preferences &amp; machine learning</a:t>
            </a:r>
            <a:endParaRPr lang="fr-FR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81" name="Text 97"/>
          <p:cNvSpPr/>
          <p:nvPr/>
        </p:nvSpPr>
        <p:spPr>
          <a:xfrm>
            <a:off x="11274480" y="6355080"/>
            <a:ext cx="455040" cy="27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5C6684"/>
                </a:solidFill>
                <a:effectLst/>
                <a:uFillTx/>
                <a:latin typeface="Roboto"/>
                <a:ea typeface="Roboto"/>
              </a:rPr>
              <a:t>03</a:t>
            </a:r>
            <a:endParaRPr lang="fr-FR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Shape 0"/>
          <p:cNvSpPr/>
          <p:nvPr/>
        </p:nvSpPr>
        <p:spPr>
          <a:xfrm>
            <a:off x="0" y="0"/>
            <a:ext cx="360" cy="6858000"/>
          </a:xfrm>
          <a:prstGeom prst="line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0" tIns="45000" rIns="0" bIns="45000" anchor="t" anchorCtr="1">
            <a:noAutofit/>
          </a:bodyPr>
          <a:p>
            <a:endParaRPr lang="fr-FR" sz="1800" b="0" u="none" strike="noStrike">
              <a:solidFill>
                <a:srgbClr val="FFFFFF"/>
              </a:solidFill>
              <a:effectLst/>
              <a:uFillTx/>
              <a:latin typeface="Roboto"/>
            </a:endParaRPr>
          </a:p>
        </p:txBody>
      </p:sp>
      <p:sp>
        <p:nvSpPr>
          <p:cNvPr id="283" name="Shape 1"/>
          <p:cNvSpPr/>
          <p:nvPr/>
        </p:nvSpPr>
        <p:spPr>
          <a:xfrm>
            <a:off x="304560" y="0"/>
            <a:ext cx="360" cy="6858000"/>
          </a:xfrm>
          <a:prstGeom prst="line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0" tIns="45000" rIns="0" bIns="45000" anchor="t" anchorCtr="1">
            <a:noAutofit/>
          </a:bodyPr>
          <a:p>
            <a:endParaRPr lang="fr-FR" sz="1800" b="0" u="none" strike="noStrike">
              <a:solidFill>
                <a:srgbClr val="FFFFFF"/>
              </a:solidFill>
              <a:effectLst/>
              <a:uFillTx/>
              <a:latin typeface="Roboto"/>
            </a:endParaRPr>
          </a:p>
        </p:txBody>
      </p:sp>
      <p:sp>
        <p:nvSpPr>
          <p:cNvPr id="284" name="Shape 2"/>
          <p:cNvSpPr/>
          <p:nvPr/>
        </p:nvSpPr>
        <p:spPr>
          <a:xfrm>
            <a:off x="609480" y="0"/>
            <a:ext cx="360" cy="6858000"/>
          </a:xfrm>
          <a:prstGeom prst="line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0" tIns="45000" rIns="0" bIns="45000" anchor="t" anchorCtr="1">
            <a:noAutofit/>
          </a:bodyPr>
          <a:p>
            <a:endParaRPr lang="fr-FR" sz="1800" b="0" u="none" strike="noStrike">
              <a:solidFill>
                <a:srgbClr val="FFFFFF"/>
              </a:solidFill>
              <a:effectLst/>
              <a:uFillTx/>
              <a:latin typeface="Roboto"/>
            </a:endParaRPr>
          </a:p>
        </p:txBody>
      </p:sp>
      <p:sp>
        <p:nvSpPr>
          <p:cNvPr id="285" name="Shape 3"/>
          <p:cNvSpPr/>
          <p:nvPr/>
        </p:nvSpPr>
        <p:spPr>
          <a:xfrm>
            <a:off x="914040" y="0"/>
            <a:ext cx="360" cy="6858000"/>
          </a:xfrm>
          <a:prstGeom prst="line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0" tIns="45000" rIns="0" bIns="45000" anchor="t" anchorCtr="1">
            <a:noAutofit/>
          </a:bodyPr>
          <a:p>
            <a:endParaRPr lang="fr-FR" sz="1800" b="0" u="none" strike="noStrike">
              <a:solidFill>
                <a:srgbClr val="FFFFFF"/>
              </a:solidFill>
              <a:effectLst/>
              <a:uFillTx/>
              <a:latin typeface="Roboto"/>
            </a:endParaRPr>
          </a:p>
        </p:txBody>
      </p:sp>
      <p:sp>
        <p:nvSpPr>
          <p:cNvPr id="286" name="Shape 4"/>
          <p:cNvSpPr/>
          <p:nvPr/>
        </p:nvSpPr>
        <p:spPr>
          <a:xfrm>
            <a:off x="1218960" y="0"/>
            <a:ext cx="360" cy="6858000"/>
          </a:xfrm>
          <a:prstGeom prst="line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0" tIns="45000" rIns="0" bIns="45000" anchor="t" anchorCtr="1">
            <a:noAutofit/>
          </a:bodyPr>
          <a:p>
            <a:endParaRPr lang="fr-FR" sz="1800" b="0" u="none" strike="noStrike">
              <a:solidFill>
                <a:srgbClr val="FFFFFF"/>
              </a:solidFill>
              <a:effectLst/>
              <a:uFillTx/>
              <a:latin typeface="Roboto"/>
            </a:endParaRPr>
          </a:p>
        </p:txBody>
      </p:sp>
      <p:sp>
        <p:nvSpPr>
          <p:cNvPr id="287" name="Shape 5"/>
          <p:cNvSpPr/>
          <p:nvPr/>
        </p:nvSpPr>
        <p:spPr>
          <a:xfrm>
            <a:off x="1523520" y="0"/>
            <a:ext cx="360" cy="6858000"/>
          </a:xfrm>
          <a:prstGeom prst="line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0" tIns="45000" rIns="0" bIns="45000" anchor="t" anchorCtr="1">
            <a:noAutofit/>
          </a:bodyPr>
          <a:p>
            <a:endParaRPr lang="fr-FR" sz="1800" b="0" u="none" strike="noStrike">
              <a:solidFill>
                <a:srgbClr val="FFFFFF"/>
              </a:solidFill>
              <a:effectLst/>
              <a:uFillTx/>
              <a:latin typeface="Roboto"/>
            </a:endParaRPr>
          </a:p>
        </p:txBody>
      </p:sp>
      <p:sp>
        <p:nvSpPr>
          <p:cNvPr id="288" name="Shape 6"/>
          <p:cNvSpPr/>
          <p:nvPr/>
        </p:nvSpPr>
        <p:spPr>
          <a:xfrm>
            <a:off x="1828440" y="0"/>
            <a:ext cx="360" cy="6858000"/>
          </a:xfrm>
          <a:prstGeom prst="line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0" tIns="45000" rIns="0" bIns="45000" anchor="t" anchorCtr="1">
            <a:noAutofit/>
          </a:bodyPr>
          <a:p>
            <a:endParaRPr lang="fr-FR" sz="1800" b="0" u="none" strike="noStrike">
              <a:solidFill>
                <a:srgbClr val="FFFFFF"/>
              </a:solidFill>
              <a:effectLst/>
              <a:uFillTx/>
              <a:latin typeface="Roboto"/>
            </a:endParaRPr>
          </a:p>
        </p:txBody>
      </p:sp>
      <p:sp>
        <p:nvSpPr>
          <p:cNvPr id="289" name="Shape 7"/>
          <p:cNvSpPr/>
          <p:nvPr/>
        </p:nvSpPr>
        <p:spPr>
          <a:xfrm>
            <a:off x="2133360" y="0"/>
            <a:ext cx="360" cy="6858000"/>
          </a:xfrm>
          <a:prstGeom prst="line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0" tIns="45000" rIns="0" bIns="45000" anchor="t" anchorCtr="1">
            <a:noAutofit/>
          </a:bodyPr>
          <a:p>
            <a:endParaRPr lang="fr-FR" sz="1800" b="0" u="none" strike="noStrike">
              <a:solidFill>
                <a:srgbClr val="FFFFFF"/>
              </a:solidFill>
              <a:effectLst/>
              <a:uFillTx/>
              <a:latin typeface="Roboto"/>
            </a:endParaRPr>
          </a:p>
        </p:txBody>
      </p:sp>
      <p:sp>
        <p:nvSpPr>
          <p:cNvPr id="290" name="Shape 8"/>
          <p:cNvSpPr/>
          <p:nvPr/>
        </p:nvSpPr>
        <p:spPr>
          <a:xfrm>
            <a:off x="2437920" y="0"/>
            <a:ext cx="360" cy="6858000"/>
          </a:xfrm>
          <a:prstGeom prst="line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0" tIns="45000" rIns="0" bIns="45000" anchor="t" anchorCtr="1">
            <a:noAutofit/>
          </a:bodyPr>
          <a:p>
            <a:endParaRPr lang="fr-FR" sz="1800" b="0" u="none" strike="noStrike">
              <a:solidFill>
                <a:srgbClr val="FFFFFF"/>
              </a:solidFill>
              <a:effectLst/>
              <a:uFillTx/>
              <a:latin typeface="Roboto"/>
            </a:endParaRPr>
          </a:p>
        </p:txBody>
      </p:sp>
      <p:sp>
        <p:nvSpPr>
          <p:cNvPr id="291" name="Shape 9"/>
          <p:cNvSpPr/>
          <p:nvPr/>
        </p:nvSpPr>
        <p:spPr>
          <a:xfrm>
            <a:off x="2742840" y="0"/>
            <a:ext cx="360" cy="6858000"/>
          </a:xfrm>
          <a:prstGeom prst="line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0" tIns="45000" rIns="0" bIns="45000" anchor="t" anchorCtr="1">
            <a:noAutofit/>
          </a:bodyPr>
          <a:p>
            <a:endParaRPr lang="fr-FR" sz="1800" b="0" u="none" strike="noStrike">
              <a:solidFill>
                <a:srgbClr val="FFFFFF"/>
              </a:solidFill>
              <a:effectLst/>
              <a:uFillTx/>
              <a:latin typeface="Roboto"/>
            </a:endParaRPr>
          </a:p>
        </p:txBody>
      </p:sp>
      <p:sp>
        <p:nvSpPr>
          <p:cNvPr id="292" name="Shape 10"/>
          <p:cNvSpPr/>
          <p:nvPr/>
        </p:nvSpPr>
        <p:spPr>
          <a:xfrm>
            <a:off x="3047400" y="0"/>
            <a:ext cx="360" cy="6858000"/>
          </a:xfrm>
          <a:prstGeom prst="line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0" tIns="45000" rIns="0" bIns="45000" anchor="t" anchorCtr="1">
            <a:noAutofit/>
          </a:bodyPr>
          <a:p>
            <a:endParaRPr lang="fr-FR" sz="1800" b="0" u="none" strike="noStrike">
              <a:solidFill>
                <a:srgbClr val="FFFFFF"/>
              </a:solidFill>
              <a:effectLst/>
              <a:uFillTx/>
              <a:latin typeface="Roboto"/>
            </a:endParaRPr>
          </a:p>
        </p:txBody>
      </p:sp>
      <p:sp>
        <p:nvSpPr>
          <p:cNvPr id="293" name="Shape 11"/>
          <p:cNvSpPr/>
          <p:nvPr/>
        </p:nvSpPr>
        <p:spPr>
          <a:xfrm>
            <a:off x="3352320" y="0"/>
            <a:ext cx="360" cy="6858000"/>
          </a:xfrm>
          <a:prstGeom prst="line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0" tIns="45000" rIns="0" bIns="45000" anchor="t" anchorCtr="1">
            <a:noAutofit/>
          </a:bodyPr>
          <a:p>
            <a:endParaRPr lang="fr-FR" sz="1800" b="0" u="none" strike="noStrike">
              <a:solidFill>
                <a:srgbClr val="FFFFFF"/>
              </a:solidFill>
              <a:effectLst/>
              <a:uFillTx/>
              <a:latin typeface="Roboto"/>
            </a:endParaRPr>
          </a:p>
        </p:txBody>
      </p:sp>
      <p:sp>
        <p:nvSpPr>
          <p:cNvPr id="294" name="Shape 12"/>
          <p:cNvSpPr/>
          <p:nvPr/>
        </p:nvSpPr>
        <p:spPr>
          <a:xfrm>
            <a:off x="3656880" y="0"/>
            <a:ext cx="360" cy="6858000"/>
          </a:xfrm>
          <a:prstGeom prst="line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0" tIns="45000" rIns="0" bIns="45000" anchor="t" anchorCtr="1">
            <a:noAutofit/>
          </a:bodyPr>
          <a:p>
            <a:endParaRPr lang="fr-FR" sz="1800" b="0" u="none" strike="noStrike">
              <a:solidFill>
                <a:srgbClr val="FFFFFF"/>
              </a:solidFill>
              <a:effectLst/>
              <a:uFillTx/>
              <a:latin typeface="Roboto"/>
            </a:endParaRPr>
          </a:p>
        </p:txBody>
      </p:sp>
      <p:sp>
        <p:nvSpPr>
          <p:cNvPr id="295" name="Shape 13"/>
          <p:cNvSpPr/>
          <p:nvPr/>
        </p:nvSpPr>
        <p:spPr>
          <a:xfrm>
            <a:off x="3961800" y="0"/>
            <a:ext cx="360" cy="6858000"/>
          </a:xfrm>
          <a:prstGeom prst="line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0" tIns="45000" rIns="0" bIns="45000" anchor="t" anchorCtr="1">
            <a:noAutofit/>
          </a:bodyPr>
          <a:p>
            <a:endParaRPr lang="fr-FR" sz="1800" b="0" u="none" strike="noStrike">
              <a:solidFill>
                <a:srgbClr val="FFFFFF"/>
              </a:solidFill>
              <a:effectLst/>
              <a:uFillTx/>
              <a:latin typeface="Roboto"/>
            </a:endParaRPr>
          </a:p>
        </p:txBody>
      </p:sp>
      <p:sp>
        <p:nvSpPr>
          <p:cNvPr id="296" name="Shape 14"/>
          <p:cNvSpPr/>
          <p:nvPr/>
        </p:nvSpPr>
        <p:spPr>
          <a:xfrm>
            <a:off x="4266720" y="0"/>
            <a:ext cx="360" cy="6858000"/>
          </a:xfrm>
          <a:prstGeom prst="line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0" tIns="45000" rIns="0" bIns="45000" anchor="t" anchorCtr="1">
            <a:noAutofit/>
          </a:bodyPr>
          <a:p>
            <a:endParaRPr lang="fr-FR" sz="1800" b="0" u="none" strike="noStrike">
              <a:solidFill>
                <a:srgbClr val="FFFFFF"/>
              </a:solidFill>
              <a:effectLst/>
              <a:uFillTx/>
              <a:latin typeface="Roboto"/>
            </a:endParaRPr>
          </a:p>
        </p:txBody>
      </p:sp>
      <p:sp>
        <p:nvSpPr>
          <p:cNvPr id="297" name="Shape 15"/>
          <p:cNvSpPr/>
          <p:nvPr/>
        </p:nvSpPr>
        <p:spPr>
          <a:xfrm>
            <a:off x="4571280" y="0"/>
            <a:ext cx="360" cy="6858000"/>
          </a:xfrm>
          <a:prstGeom prst="line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0" tIns="45000" rIns="0" bIns="45000" anchor="t" anchorCtr="1">
            <a:noAutofit/>
          </a:bodyPr>
          <a:p>
            <a:endParaRPr lang="fr-FR" sz="1800" b="0" u="none" strike="noStrike">
              <a:solidFill>
                <a:srgbClr val="FFFFFF"/>
              </a:solidFill>
              <a:effectLst/>
              <a:uFillTx/>
              <a:latin typeface="Roboto"/>
            </a:endParaRPr>
          </a:p>
        </p:txBody>
      </p:sp>
      <p:sp>
        <p:nvSpPr>
          <p:cNvPr id="298" name="Shape 16"/>
          <p:cNvSpPr/>
          <p:nvPr/>
        </p:nvSpPr>
        <p:spPr>
          <a:xfrm>
            <a:off x="4876200" y="0"/>
            <a:ext cx="360" cy="6858000"/>
          </a:xfrm>
          <a:prstGeom prst="line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0" tIns="45000" rIns="0" bIns="45000" anchor="t" anchorCtr="1">
            <a:noAutofit/>
          </a:bodyPr>
          <a:p>
            <a:endParaRPr lang="fr-FR" sz="1800" b="0" u="none" strike="noStrike">
              <a:solidFill>
                <a:srgbClr val="FFFFFF"/>
              </a:solidFill>
              <a:effectLst/>
              <a:uFillTx/>
              <a:latin typeface="Roboto"/>
            </a:endParaRPr>
          </a:p>
        </p:txBody>
      </p:sp>
      <p:sp>
        <p:nvSpPr>
          <p:cNvPr id="299" name="Shape 17"/>
          <p:cNvSpPr/>
          <p:nvPr/>
        </p:nvSpPr>
        <p:spPr>
          <a:xfrm>
            <a:off x="5180760" y="0"/>
            <a:ext cx="360" cy="6858000"/>
          </a:xfrm>
          <a:prstGeom prst="line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0" tIns="45000" rIns="0" bIns="45000" anchor="t" anchorCtr="1">
            <a:noAutofit/>
          </a:bodyPr>
          <a:p>
            <a:endParaRPr lang="fr-FR" sz="1800" b="0" u="none" strike="noStrike">
              <a:solidFill>
                <a:srgbClr val="FFFFFF"/>
              </a:solidFill>
              <a:effectLst/>
              <a:uFillTx/>
              <a:latin typeface="Roboto"/>
            </a:endParaRPr>
          </a:p>
        </p:txBody>
      </p:sp>
      <p:sp>
        <p:nvSpPr>
          <p:cNvPr id="300" name="Shape 18"/>
          <p:cNvSpPr/>
          <p:nvPr/>
        </p:nvSpPr>
        <p:spPr>
          <a:xfrm>
            <a:off x="5485680" y="0"/>
            <a:ext cx="360" cy="6858000"/>
          </a:xfrm>
          <a:prstGeom prst="line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0" tIns="45000" rIns="0" bIns="45000" anchor="t" anchorCtr="1">
            <a:noAutofit/>
          </a:bodyPr>
          <a:p>
            <a:endParaRPr lang="fr-FR" sz="1800" b="0" u="none" strike="noStrike">
              <a:solidFill>
                <a:srgbClr val="FFFFFF"/>
              </a:solidFill>
              <a:effectLst/>
              <a:uFillTx/>
              <a:latin typeface="Roboto"/>
            </a:endParaRPr>
          </a:p>
        </p:txBody>
      </p:sp>
      <p:sp>
        <p:nvSpPr>
          <p:cNvPr id="301" name="Shape 19"/>
          <p:cNvSpPr/>
          <p:nvPr/>
        </p:nvSpPr>
        <p:spPr>
          <a:xfrm>
            <a:off x="5790600" y="0"/>
            <a:ext cx="360" cy="6858000"/>
          </a:xfrm>
          <a:prstGeom prst="line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0" tIns="45000" rIns="0" bIns="45000" anchor="t" anchorCtr="1">
            <a:noAutofit/>
          </a:bodyPr>
          <a:p>
            <a:endParaRPr lang="fr-FR" sz="1800" b="0" u="none" strike="noStrike">
              <a:solidFill>
                <a:srgbClr val="FFFFFF"/>
              </a:solidFill>
              <a:effectLst/>
              <a:uFillTx/>
              <a:latin typeface="Roboto"/>
            </a:endParaRPr>
          </a:p>
        </p:txBody>
      </p:sp>
      <p:sp>
        <p:nvSpPr>
          <p:cNvPr id="302" name="Shape 20"/>
          <p:cNvSpPr/>
          <p:nvPr/>
        </p:nvSpPr>
        <p:spPr>
          <a:xfrm>
            <a:off x="6095160" y="0"/>
            <a:ext cx="360" cy="6858000"/>
          </a:xfrm>
          <a:prstGeom prst="line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0" tIns="45000" rIns="0" bIns="45000" anchor="t" anchorCtr="1">
            <a:noAutofit/>
          </a:bodyPr>
          <a:p>
            <a:endParaRPr lang="fr-FR" sz="1800" b="0" u="none" strike="noStrike">
              <a:solidFill>
                <a:srgbClr val="FFFFFF"/>
              </a:solidFill>
              <a:effectLst/>
              <a:uFillTx/>
              <a:latin typeface="Roboto"/>
            </a:endParaRPr>
          </a:p>
        </p:txBody>
      </p:sp>
      <p:sp>
        <p:nvSpPr>
          <p:cNvPr id="303" name="Shape 21"/>
          <p:cNvSpPr/>
          <p:nvPr/>
        </p:nvSpPr>
        <p:spPr>
          <a:xfrm>
            <a:off x="6400080" y="0"/>
            <a:ext cx="360" cy="6858000"/>
          </a:xfrm>
          <a:prstGeom prst="line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0" tIns="45000" rIns="0" bIns="45000" anchor="t" anchorCtr="1">
            <a:noAutofit/>
          </a:bodyPr>
          <a:p>
            <a:endParaRPr lang="fr-FR" sz="1800" b="0" u="none" strike="noStrike">
              <a:solidFill>
                <a:srgbClr val="FFFFFF"/>
              </a:solidFill>
              <a:effectLst/>
              <a:uFillTx/>
              <a:latin typeface="Roboto"/>
            </a:endParaRPr>
          </a:p>
        </p:txBody>
      </p:sp>
      <p:sp>
        <p:nvSpPr>
          <p:cNvPr id="304" name="Shape 22"/>
          <p:cNvSpPr/>
          <p:nvPr/>
        </p:nvSpPr>
        <p:spPr>
          <a:xfrm>
            <a:off x="6704640" y="0"/>
            <a:ext cx="360" cy="6858000"/>
          </a:xfrm>
          <a:prstGeom prst="line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0" tIns="45000" rIns="0" bIns="45000" anchor="t" anchorCtr="1">
            <a:noAutofit/>
          </a:bodyPr>
          <a:p>
            <a:endParaRPr lang="fr-FR" sz="1800" b="0" u="none" strike="noStrike">
              <a:solidFill>
                <a:srgbClr val="FFFFFF"/>
              </a:solidFill>
              <a:effectLst/>
              <a:uFillTx/>
              <a:latin typeface="Roboto"/>
            </a:endParaRPr>
          </a:p>
        </p:txBody>
      </p:sp>
      <p:sp>
        <p:nvSpPr>
          <p:cNvPr id="305" name="Shape 23"/>
          <p:cNvSpPr/>
          <p:nvPr/>
        </p:nvSpPr>
        <p:spPr>
          <a:xfrm>
            <a:off x="7009560" y="0"/>
            <a:ext cx="360" cy="6858000"/>
          </a:xfrm>
          <a:prstGeom prst="line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0" tIns="45000" rIns="0" bIns="45000" anchor="t" anchorCtr="1">
            <a:noAutofit/>
          </a:bodyPr>
          <a:p>
            <a:endParaRPr lang="fr-FR" sz="1800" b="0" u="none" strike="noStrike">
              <a:solidFill>
                <a:srgbClr val="FFFFFF"/>
              </a:solidFill>
              <a:effectLst/>
              <a:uFillTx/>
              <a:latin typeface="Roboto"/>
            </a:endParaRPr>
          </a:p>
        </p:txBody>
      </p:sp>
      <p:sp>
        <p:nvSpPr>
          <p:cNvPr id="306" name="Shape 24"/>
          <p:cNvSpPr/>
          <p:nvPr/>
        </p:nvSpPr>
        <p:spPr>
          <a:xfrm>
            <a:off x="7314120" y="0"/>
            <a:ext cx="360" cy="6858000"/>
          </a:xfrm>
          <a:prstGeom prst="line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0" tIns="45000" rIns="0" bIns="45000" anchor="t" anchorCtr="1">
            <a:noAutofit/>
          </a:bodyPr>
          <a:p>
            <a:endParaRPr lang="fr-FR" sz="1800" b="0" u="none" strike="noStrike">
              <a:solidFill>
                <a:srgbClr val="FFFFFF"/>
              </a:solidFill>
              <a:effectLst/>
              <a:uFillTx/>
              <a:latin typeface="Roboto"/>
            </a:endParaRPr>
          </a:p>
        </p:txBody>
      </p:sp>
      <p:sp>
        <p:nvSpPr>
          <p:cNvPr id="307" name="Shape 25"/>
          <p:cNvSpPr/>
          <p:nvPr/>
        </p:nvSpPr>
        <p:spPr>
          <a:xfrm>
            <a:off x="7619040" y="0"/>
            <a:ext cx="360" cy="6858000"/>
          </a:xfrm>
          <a:prstGeom prst="line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0" tIns="45000" rIns="0" bIns="45000" anchor="t" anchorCtr="1">
            <a:noAutofit/>
          </a:bodyPr>
          <a:p>
            <a:endParaRPr lang="fr-FR" sz="1800" b="0" u="none" strike="noStrike">
              <a:solidFill>
                <a:srgbClr val="FFFFFF"/>
              </a:solidFill>
              <a:effectLst/>
              <a:uFillTx/>
              <a:latin typeface="Roboto"/>
            </a:endParaRPr>
          </a:p>
        </p:txBody>
      </p:sp>
      <p:sp>
        <p:nvSpPr>
          <p:cNvPr id="308" name="Shape 26"/>
          <p:cNvSpPr/>
          <p:nvPr/>
        </p:nvSpPr>
        <p:spPr>
          <a:xfrm>
            <a:off x="7923960" y="0"/>
            <a:ext cx="360" cy="6858000"/>
          </a:xfrm>
          <a:prstGeom prst="line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0" tIns="45000" rIns="0" bIns="45000" anchor="t" anchorCtr="1">
            <a:noAutofit/>
          </a:bodyPr>
          <a:p>
            <a:endParaRPr lang="fr-FR" sz="1800" b="0" u="none" strike="noStrike">
              <a:solidFill>
                <a:srgbClr val="FFFFFF"/>
              </a:solidFill>
              <a:effectLst/>
              <a:uFillTx/>
              <a:latin typeface="Roboto"/>
            </a:endParaRPr>
          </a:p>
        </p:txBody>
      </p:sp>
      <p:sp>
        <p:nvSpPr>
          <p:cNvPr id="309" name="Shape 27"/>
          <p:cNvSpPr/>
          <p:nvPr/>
        </p:nvSpPr>
        <p:spPr>
          <a:xfrm>
            <a:off x="8228520" y="0"/>
            <a:ext cx="360" cy="6858000"/>
          </a:xfrm>
          <a:prstGeom prst="line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0" tIns="45000" rIns="0" bIns="45000" anchor="t" anchorCtr="1">
            <a:noAutofit/>
          </a:bodyPr>
          <a:p>
            <a:endParaRPr lang="fr-FR" sz="1800" b="0" u="none" strike="noStrike">
              <a:solidFill>
                <a:srgbClr val="FFFFFF"/>
              </a:solidFill>
              <a:effectLst/>
              <a:uFillTx/>
              <a:latin typeface="Roboto"/>
            </a:endParaRPr>
          </a:p>
        </p:txBody>
      </p:sp>
      <p:sp>
        <p:nvSpPr>
          <p:cNvPr id="310" name="Shape 28"/>
          <p:cNvSpPr/>
          <p:nvPr/>
        </p:nvSpPr>
        <p:spPr>
          <a:xfrm>
            <a:off x="8533440" y="0"/>
            <a:ext cx="360" cy="6858000"/>
          </a:xfrm>
          <a:prstGeom prst="line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0" tIns="45000" rIns="0" bIns="45000" anchor="t" anchorCtr="1">
            <a:noAutofit/>
          </a:bodyPr>
          <a:p>
            <a:endParaRPr lang="fr-FR" sz="1800" b="0" u="none" strike="noStrike">
              <a:solidFill>
                <a:srgbClr val="FFFFFF"/>
              </a:solidFill>
              <a:effectLst/>
              <a:uFillTx/>
              <a:latin typeface="Roboto"/>
            </a:endParaRPr>
          </a:p>
        </p:txBody>
      </p:sp>
      <p:sp>
        <p:nvSpPr>
          <p:cNvPr id="311" name="Shape 29"/>
          <p:cNvSpPr/>
          <p:nvPr/>
        </p:nvSpPr>
        <p:spPr>
          <a:xfrm>
            <a:off x="8838000" y="0"/>
            <a:ext cx="360" cy="6858000"/>
          </a:xfrm>
          <a:prstGeom prst="line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0" tIns="45000" rIns="0" bIns="45000" anchor="t" anchorCtr="1">
            <a:noAutofit/>
          </a:bodyPr>
          <a:p>
            <a:endParaRPr lang="fr-FR" sz="1800" b="0" u="none" strike="noStrike">
              <a:solidFill>
                <a:srgbClr val="FFFFFF"/>
              </a:solidFill>
              <a:effectLst/>
              <a:uFillTx/>
              <a:latin typeface="Roboto"/>
            </a:endParaRPr>
          </a:p>
        </p:txBody>
      </p:sp>
      <p:sp>
        <p:nvSpPr>
          <p:cNvPr id="312" name="Shape 30"/>
          <p:cNvSpPr/>
          <p:nvPr/>
        </p:nvSpPr>
        <p:spPr>
          <a:xfrm>
            <a:off x="9142920" y="0"/>
            <a:ext cx="360" cy="6858000"/>
          </a:xfrm>
          <a:prstGeom prst="line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0" tIns="45000" rIns="0" bIns="45000" anchor="t" anchorCtr="1">
            <a:noAutofit/>
          </a:bodyPr>
          <a:p>
            <a:endParaRPr lang="fr-FR" sz="1800" b="0" u="none" strike="noStrike">
              <a:solidFill>
                <a:srgbClr val="FFFFFF"/>
              </a:solidFill>
              <a:effectLst/>
              <a:uFillTx/>
              <a:latin typeface="Roboto"/>
            </a:endParaRPr>
          </a:p>
        </p:txBody>
      </p:sp>
      <p:sp>
        <p:nvSpPr>
          <p:cNvPr id="313" name="Shape 31"/>
          <p:cNvSpPr/>
          <p:nvPr/>
        </p:nvSpPr>
        <p:spPr>
          <a:xfrm>
            <a:off x="9447840" y="0"/>
            <a:ext cx="360" cy="6858000"/>
          </a:xfrm>
          <a:prstGeom prst="line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0" tIns="45000" rIns="0" bIns="45000" anchor="t" anchorCtr="1">
            <a:noAutofit/>
          </a:bodyPr>
          <a:p>
            <a:endParaRPr lang="fr-FR" sz="1800" b="0" u="none" strike="noStrike">
              <a:solidFill>
                <a:srgbClr val="FFFFFF"/>
              </a:solidFill>
              <a:effectLst/>
              <a:uFillTx/>
              <a:latin typeface="Roboto"/>
            </a:endParaRPr>
          </a:p>
        </p:txBody>
      </p:sp>
      <p:sp>
        <p:nvSpPr>
          <p:cNvPr id="314" name="Shape 32"/>
          <p:cNvSpPr/>
          <p:nvPr/>
        </p:nvSpPr>
        <p:spPr>
          <a:xfrm>
            <a:off x="9752400" y="0"/>
            <a:ext cx="360" cy="6858000"/>
          </a:xfrm>
          <a:prstGeom prst="line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0" tIns="45000" rIns="0" bIns="45000" anchor="t" anchorCtr="1">
            <a:noAutofit/>
          </a:bodyPr>
          <a:p>
            <a:endParaRPr lang="fr-FR" sz="1800" b="0" u="none" strike="noStrike">
              <a:solidFill>
                <a:srgbClr val="FFFFFF"/>
              </a:solidFill>
              <a:effectLst/>
              <a:uFillTx/>
              <a:latin typeface="Roboto"/>
            </a:endParaRPr>
          </a:p>
        </p:txBody>
      </p:sp>
      <p:sp>
        <p:nvSpPr>
          <p:cNvPr id="315" name="Shape 33"/>
          <p:cNvSpPr/>
          <p:nvPr/>
        </p:nvSpPr>
        <p:spPr>
          <a:xfrm>
            <a:off x="10057320" y="0"/>
            <a:ext cx="360" cy="6858000"/>
          </a:xfrm>
          <a:prstGeom prst="line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0" tIns="45000" rIns="0" bIns="45000" anchor="t" anchorCtr="1">
            <a:noAutofit/>
          </a:bodyPr>
          <a:p>
            <a:endParaRPr lang="fr-FR" sz="1800" b="0" u="none" strike="noStrike">
              <a:solidFill>
                <a:srgbClr val="FFFFFF"/>
              </a:solidFill>
              <a:effectLst/>
              <a:uFillTx/>
              <a:latin typeface="Roboto"/>
            </a:endParaRPr>
          </a:p>
        </p:txBody>
      </p:sp>
      <p:sp>
        <p:nvSpPr>
          <p:cNvPr id="316" name="Shape 34"/>
          <p:cNvSpPr/>
          <p:nvPr/>
        </p:nvSpPr>
        <p:spPr>
          <a:xfrm>
            <a:off x="10361880" y="0"/>
            <a:ext cx="360" cy="6858000"/>
          </a:xfrm>
          <a:prstGeom prst="line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0" tIns="45000" rIns="0" bIns="45000" anchor="t" anchorCtr="1">
            <a:noAutofit/>
          </a:bodyPr>
          <a:p>
            <a:endParaRPr lang="fr-FR" sz="1800" b="0" u="none" strike="noStrike">
              <a:solidFill>
                <a:srgbClr val="FFFFFF"/>
              </a:solidFill>
              <a:effectLst/>
              <a:uFillTx/>
              <a:latin typeface="Roboto"/>
            </a:endParaRPr>
          </a:p>
        </p:txBody>
      </p:sp>
      <p:sp>
        <p:nvSpPr>
          <p:cNvPr id="317" name="Shape 35"/>
          <p:cNvSpPr/>
          <p:nvPr/>
        </p:nvSpPr>
        <p:spPr>
          <a:xfrm>
            <a:off x="10666800" y="0"/>
            <a:ext cx="360" cy="6858000"/>
          </a:xfrm>
          <a:prstGeom prst="line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0" tIns="45000" rIns="0" bIns="45000" anchor="t" anchorCtr="1">
            <a:noAutofit/>
          </a:bodyPr>
          <a:p>
            <a:endParaRPr lang="fr-FR" sz="1800" b="0" u="none" strike="noStrike">
              <a:solidFill>
                <a:srgbClr val="FFFFFF"/>
              </a:solidFill>
              <a:effectLst/>
              <a:uFillTx/>
              <a:latin typeface="Roboto"/>
            </a:endParaRPr>
          </a:p>
        </p:txBody>
      </p:sp>
      <p:sp>
        <p:nvSpPr>
          <p:cNvPr id="318" name="Shape 36"/>
          <p:cNvSpPr/>
          <p:nvPr/>
        </p:nvSpPr>
        <p:spPr>
          <a:xfrm>
            <a:off x="10971360" y="0"/>
            <a:ext cx="360" cy="6858000"/>
          </a:xfrm>
          <a:prstGeom prst="line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0" tIns="45000" rIns="0" bIns="45000" anchor="t" anchorCtr="1">
            <a:noAutofit/>
          </a:bodyPr>
          <a:p>
            <a:endParaRPr lang="fr-FR" sz="1800" b="0" u="none" strike="noStrike">
              <a:solidFill>
                <a:srgbClr val="FFFFFF"/>
              </a:solidFill>
              <a:effectLst/>
              <a:uFillTx/>
              <a:latin typeface="Roboto"/>
            </a:endParaRPr>
          </a:p>
        </p:txBody>
      </p:sp>
      <p:sp>
        <p:nvSpPr>
          <p:cNvPr id="319" name="Shape 37"/>
          <p:cNvSpPr/>
          <p:nvPr/>
        </p:nvSpPr>
        <p:spPr>
          <a:xfrm>
            <a:off x="11276280" y="0"/>
            <a:ext cx="360" cy="6858000"/>
          </a:xfrm>
          <a:prstGeom prst="line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0" tIns="45000" rIns="0" bIns="45000" anchor="t" anchorCtr="1">
            <a:noAutofit/>
          </a:bodyPr>
          <a:p>
            <a:endParaRPr lang="fr-FR" sz="1800" b="0" u="none" strike="noStrike">
              <a:solidFill>
                <a:srgbClr val="FFFFFF"/>
              </a:solidFill>
              <a:effectLst/>
              <a:uFillTx/>
              <a:latin typeface="Roboto"/>
            </a:endParaRPr>
          </a:p>
        </p:txBody>
      </p:sp>
      <p:sp>
        <p:nvSpPr>
          <p:cNvPr id="320" name="Shape 38"/>
          <p:cNvSpPr/>
          <p:nvPr/>
        </p:nvSpPr>
        <p:spPr>
          <a:xfrm>
            <a:off x="11581200" y="0"/>
            <a:ext cx="360" cy="6858000"/>
          </a:xfrm>
          <a:prstGeom prst="line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0" tIns="45000" rIns="0" bIns="45000" anchor="t" anchorCtr="1">
            <a:noAutofit/>
          </a:bodyPr>
          <a:p>
            <a:endParaRPr lang="fr-FR" sz="1800" b="0" u="none" strike="noStrike">
              <a:solidFill>
                <a:srgbClr val="FFFFFF"/>
              </a:solidFill>
              <a:effectLst/>
              <a:uFillTx/>
              <a:latin typeface="Roboto"/>
            </a:endParaRPr>
          </a:p>
        </p:txBody>
      </p:sp>
      <p:sp>
        <p:nvSpPr>
          <p:cNvPr id="321" name="Shape 39"/>
          <p:cNvSpPr/>
          <p:nvPr/>
        </p:nvSpPr>
        <p:spPr>
          <a:xfrm>
            <a:off x="11885760" y="0"/>
            <a:ext cx="360" cy="6858000"/>
          </a:xfrm>
          <a:prstGeom prst="line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0" tIns="45000" rIns="0" bIns="45000" anchor="t" anchorCtr="1">
            <a:noAutofit/>
          </a:bodyPr>
          <a:p>
            <a:endParaRPr lang="fr-FR" sz="1800" b="0" u="none" strike="noStrike">
              <a:solidFill>
                <a:srgbClr val="FFFFFF"/>
              </a:solidFill>
              <a:effectLst/>
              <a:uFillTx/>
              <a:latin typeface="Roboto"/>
            </a:endParaRPr>
          </a:p>
        </p:txBody>
      </p:sp>
      <p:sp>
        <p:nvSpPr>
          <p:cNvPr id="322" name="Shape 40"/>
          <p:cNvSpPr/>
          <p:nvPr/>
        </p:nvSpPr>
        <p:spPr>
          <a:xfrm>
            <a:off x="12190680" y="0"/>
            <a:ext cx="360" cy="6858000"/>
          </a:xfrm>
          <a:prstGeom prst="line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0" tIns="45000" rIns="0" bIns="45000" anchor="t" anchorCtr="1">
            <a:noAutofit/>
          </a:bodyPr>
          <a:p>
            <a:endParaRPr lang="fr-FR" sz="1800" b="0" u="none" strike="noStrike">
              <a:solidFill>
                <a:srgbClr val="FFFFFF"/>
              </a:solidFill>
              <a:effectLst/>
              <a:uFillTx/>
              <a:latin typeface="Roboto"/>
            </a:endParaRPr>
          </a:p>
        </p:txBody>
      </p:sp>
      <p:sp>
        <p:nvSpPr>
          <p:cNvPr id="323" name="Shape 41"/>
          <p:cNvSpPr/>
          <p:nvPr/>
        </p:nvSpPr>
        <p:spPr>
          <a:xfrm>
            <a:off x="0" y="0"/>
            <a:ext cx="12191400" cy="360"/>
          </a:xfrm>
          <a:prstGeom prst="line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fr-FR" sz="1800" b="0" u="none" strike="noStrike">
              <a:solidFill>
                <a:srgbClr val="FFFFFF"/>
              </a:solidFill>
              <a:effectLst/>
              <a:uFillTx/>
              <a:latin typeface="Roboto"/>
            </a:endParaRPr>
          </a:p>
        </p:txBody>
      </p:sp>
      <p:sp>
        <p:nvSpPr>
          <p:cNvPr id="324" name="Shape 42"/>
          <p:cNvSpPr/>
          <p:nvPr/>
        </p:nvSpPr>
        <p:spPr>
          <a:xfrm>
            <a:off x="0" y="304560"/>
            <a:ext cx="12191400" cy="360"/>
          </a:xfrm>
          <a:prstGeom prst="line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fr-FR" sz="1800" b="0" u="none" strike="noStrike">
              <a:solidFill>
                <a:srgbClr val="FFFFFF"/>
              </a:solidFill>
              <a:effectLst/>
              <a:uFillTx/>
              <a:latin typeface="Roboto"/>
            </a:endParaRPr>
          </a:p>
        </p:txBody>
      </p:sp>
      <p:sp>
        <p:nvSpPr>
          <p:cNvPr id="325" name="Shape 43"/>
          <p:cNvSpPr/>
          <p:nvPr/>
        </p:nvSpPr>
        <p:spPr>
          <a:xfrm>
            <a:off x="0" y="609480"/>
            <a:ext cx="12191400" cy="360"/>
          </a:xfrm>
          <a:prstGeom prst="line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fr-FR" sz="1800" b="0" u="none" strike="noStrike">
              <a:solidFill>
                <a:srgbClr val="FFFFFF"/>
              </a:solidFill>
              <a:effectLst/>
              <a:uFillTx/>
              <a:latin typeface="Roboto"/>
            </a:endParaRPr>
          </a:p>
        </p:txBody>
      </p:sp>
      <p:sp>
        <p:nvSpPr>
          <p:cNvPr id="326" name="Shape 44"/>
          <p:cNvSpPr/>
          <p:nvPr/>
        </p:nvSpPr>
        <p:spPr>
          <a:xfrm>
            <a:off x="0" y="914040"/>
            <a:ext cx="12191400" cy="360"/>
          </a:xfrm>
          <a:prstGeom prst="line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fr-FR" sz="1800" b="0" u="none" strike="noStrike">
              <a:solidFill>
                <a:srgbClr val="FFFFFF"/>
              </a:solidFill>
              <a:effectLst/>
              <a:uFillTx/>
              <a:latin typeface="Roboto"/>
            </a:endParaRPr>
          </a:p>
        </p:txBody>
      </p:sp>
      <p:sp>
        <p:nvSpPr>
          <p:cNvPr id="327" name="Shape 45"/>
          <p:cNvSpPr/>
          <p:nvPr/>
        </p:nvSpPr>
        <p:spPr>
          <a:xfrm>
            <a:off x="0" y="1218960"/>
            <a:ext cx="12191400" cy="360"/>
          </a:xfrm>
          <a:prstGeom prst="line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fr-FR" sz="1800" b="0" u="none" strike="noStrike">
              <a:solidFill>
                <a:srgbClr val="FFFFFF"/>
              </a:solidFill>
              <a:effectLst/>
              <a:uFillTx/>
              <a:latin typeface="Roboto"/>
            </a:endParaRPr>
          </a:p>
        </p:txBody>
      </p:sp>
      <p:sp>
        <p:nvSpPr>
          <p:cNvPr id="328" name="Shape 46"/>
          <p:cNvSpPr/>
          <p:nvPr/>
        </p:nvSpPr>
        <p:spPr>
          <a:xfrm>
            <a:off x="0" y="1523520"/>
            <a:ext cx="12191400" cy="360"/>
          </a:xfrm>
          <a:prstGeom prst="line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fr-FR" sz="1800" b="0" u="none" strike="noStrike">
              <a:solidFill>
                <a:srgbClr val="FFFFFF"/>
              </a:solidFill>
              <a:effectLst/>
              <a:uFillTx/>
              <a:latin typeface="Roboto"/>
            </a:endParaRPr>
          </a:p>
        </p:txBody>
      </p:sp>
      <p:sp>
        <p:nvSpPr>
          <p:cNvPr id="329" name="Shape 47"/>
          <p:cNvSpPr/>
          <p:nvPr/>
        </p:nvSpPr>
        <p:spPr>
          <a:xfrm>
            <a:off x="0" y="1828440"/>
            <a:ext cx="12191400" cy="360"/>
          </a:xfrm>
          <a:prstGeom prst="line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fr-FR" sz="1800" b="0" u="none" strike="noStrike">
              <a:solidFill>
                <a:srgbClr val="FFFFFF"/>
              </a:solidFill>
              <a:effectLst/>
              <a:uFillTx/>
              <a:latin typeface="Roboto"/>
            </a:endParaRPr>
          </a:p>
        </p:txBody>
      </p:sp>
      <p:sp>
        <p:nvSpPr>
          <p:cNvPr id="330" name="Shape 48"/>
          <p:cNvSpPr/>
          <p:nvPr/>
        </p:nvSpPr>
        <p:spPr>
          <a:xfrm>
            <a:off x="0" y="2133360"/>
            <a:ext cx="12191400" cy="360"/>
          </a:xfrm>
          <a:prstGeom prst="line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fr-FR" sz="1800" b="0" u="none" strike="noStrike">
              <a:solidFill>
                <a:srgbClr val="FFFFFF"/>
              </a:solidFill>
              <a:effectLst/>
              <a:uFillTx/>
              <a:latin typeface="Roboto"/>
            </a:endParaRPr>
          </a:p>
        </p:txBody>
      </p:sp>
      <p:sp>
        <p:nvSpPr>
          <p:cNvPr id="331" name="Shape 49"/>
          <p:cNvSpPr/>
          <p:nvPr/>
        </p:nvSpPr>
        <p:spPr>
          <a:xfrm>
            <a:off x="0" y="2437920"/>
            <a:ext cx="12191400" cy="360"/>
          </a:xfrm>
          <a:prstGeom prst="line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fr-FR" sz="1800" b="0" u="none" strike="noStrike">
              <a:solidFill>
                <a:srgbClr val="FFFFFF"/>
              </a:solidFill>
              <a:effectLst/>
              <a:uFillTx/>
              <a:latin typeface="Roboto"/>
            </a:endParaRPr>
          </a:p>
        </p:txBody>
      </p:sp>
      <p:sp>
        <p:nvSpPr>
          <p:cNvPr id="332" name="Shape 50"/>
          <p:cNvSpPr/>
          <p:nvPr/>
        </p:nvSpPr>
        <p:spPr>
          <a:xfrm>
            <a:off x="0" y="2742840"/>
            <a:ext cx="12191400" cy="360"/>
          </a:xfrm>
          <a:prstGeom prst="line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fr-FR" sz="1800" b="0" u="none" strike="noStrike">
              <a:solidFill>
                <a:srgbClr val="FFFFFF"/>
              </a:solidFill>
              <a:effectLst/>
              <a:uFillTx/>
              <a:latin typeface="Roboto"/>
            </a:endParaRPr>
          </a:p>
        </p:txBody>
      </p:sp>
      <p:sp>
        <p:nvSpPr>
          <p:cNvPr id="333" name="Shape 51"/>
          <p:cNvSpPr/>
          <p:nvPr/>
        </p:nvSpPr>
        <p:spPr>
          <a:xfrm>
            <a:off x="0" y="3047400"/>
            <a:ext cx="12191400" cy="360"/>
          </a:xfrm>
          <a:prstGeom prst="line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fr-FR" sz="1800" b="0" u="none" strike="noStrike">
              <a:solidFill>
                <a:srgbClr val="FFFFFF"/>
              </a:solidFill>
              <a:effectLst/>
              <a:uFillTx/>
              <a:latin typeface="Roboto"/>
            </a:endParaRPr>
          </a:p>
        </p:txBody>
      </p:sp>
      <p:sp>
        <p:nvSpPr>
          <p:cNvPr id="334" name="Shape 52"/>
          <p:cNvSpPr/>
          <p:nvPr/>
        </p:nvSpPr>
        <p:spPr>
          <a:xfrm>
            <a:off x="0" y="3352320"/>
            <a:ext cx="12191400" cy="360"/>
          </a:xfrm>
          <a:prstGeom prst="line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fr-FR" sz="1800" b="0" u="none" strike="noStrike">
              <a:solidFill>
                <a:srgbClr val="FFFFFF"/>
              </a:solidFill>
              <a:effectLst/>
              <a:uFillTx/>
              <a:latin typeface="Roboto"/>
            </a:endParaRPr>
          </a:p>
        </p:txBody>
      </p:sp>
      <p:sp>
        <p:nvSpPr>
          <p:cNvPr id="335" name="Shape 53"/>
          <p:cNvSpPr/>
          <p:nvPr/>
        </p:nvSpPr>
        <p:spPr>
          <a:xfrm>
            <a:off x="0" y="3656880"/>
            <a:ext cx="12191400" cy="360"/>
          </a:xfrm>
          <a:prstGeom prst="line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fr-FR" sz="1800" b="0" u="none" strike="noStrike">
              <a:solidFill>
                <a:srgbClr val="FFFFFF"/>
              </a:solidFill>
              <a:effectLst/>
              <a:uFillTx/>
              <a:latin typeface="Roboto"/>
            </a:endParaRPr>
          </a:p>
        </p:txBody>
      </p:sp>
      <p:sp>
        <p:nvSpPr>
          <p:cNvPr id="336" name="Shape 54"/>
          <p:cNvSpPr/>
          <p:nvPr/>
        </p:nvSpPr>
        <p:spPr>
          <a:xfrm>
            <a:off x="0" y="3961800"/>
            <a:ext cx="12191400" cy="360"/>
          </a:xfrm>
          <a:prstGeom prst="line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fr-FR" sz="1800" b="0" u="none" strike="noStrike">
              <a:solidFill>
                <a:srgbClr val="FFFFFF"/>
              </a:solidFill>
              <a:effectLst/>
              <a:uFillTx/>
              <a:latin typeface="Roboto"/>
            </a:endParaRPr>
          </a:p>
        </p:txBody>
      </p:sp>
      <p:sp>
        <p:nvSpPr>
          <p:cNvPr id="337" name="Shape 55"/>
          <p:cNvSpPr/>
          <p:nvPr/>
        </p:nvSpPr>
        <p:spPr>
          <a:xfrm>
            <a:off x="0" y="4266720"/>
            <a:ext cx="12191400" cy="360"/>
          </a:xfrm>
          <a:prstGeom prst="line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fr-FR" sz="1800" b="0" u="none" strike="noStrike">
              <a:solidFill>
                <a:srgbClr val="FFFFFF"/>
              </a:solidFill>
              <a:effectLst/>
              <a:uFillTx/>
              <a:latin typeface="Roboto"/>
            </a:endParaRPr>
          </a:p>
        </p:txBody>
      </p:sp>
      <p:sp>
        <p:nvSpPr>
          <p:cNvPr id="338" name="Shape 56"/>
          <p:cNvSpPr/>
          <p:nvPr/>
        </p:nvSpPr>
        <p:spPr>
          <a:xfrm>
            <a:off x="0" y="4571280"/>
            <a:ext cx="12191400" cy="360"/>
          </a:xfrm>
          <a:prstGeom prst="line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fr-FR" sz="1800" b="0" u="none" strike="noStrike">
              <a:solidFill>
                <a:srgbClr val="FFFFFF"/>
              </a:solidFill>
              <a:effectLst/>
              <a:uFillTx/>
              <a:latin typeface="Roboto"/>
            </a:endParaRPr>
          </a:p>
        </p:txBody>
      </p:sp>
      <p:sp>
        <p:nvSpPr>
          <p:cNvPr id="339" name="Shape 57"/>
          <p:cNvSpPr/>
          <p:nvPr/>
        </p:nvSpPr>
        <p:spPr>
          <a:xfrm>
            <a:off x="0" y="4876200"/>
            <a:ext cx="12191400" cy="360"/>
          </a:xfrm>
          <a:prstGeom prst="line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fr-FR" sz="1800" b="0" u="none" strike="noStrike">
              <a:solidFill>
                <a:srgbClr val="FFFFFF"/>
              </a:solidFill>
              <a:effectLst/>
              <a:uFillTx/>
              <a:latin typeface="Roboto"/>
            </a:endParaRPr>
          </a:p>
        </p:txBody>
      </p:sp>
      <p:sp>
        <p:nvSpPr>
          <p:cNvPr id="340" name="Shape 58"/>
          <p:cNvSpPr/>
          <p:nvPr/>
        </p:nvSpPr>
        <p:spPr>
          <a:xfrm>
            <a:off x="0" y="5180760"/>
            <a:ext cx="12191400" cy="360"/>
          </a:xfrm>
          <a:prstGeom prst="line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fr-FR" sz="1800" b="0" u="none" strike="noStrike">
              <a:solidFill>
                <a:srgbClr val="FFFFFF"/>
              </a:solidFill>
              <a:effectLst/>
              <a:uFillTx/>
              <a:latin typeface="Roboto"/>
            </a:endParaRPr>
          </a:p>
        </p:txBody>
      </p:sp>
      <p:sp>
        <p:nvSpPr>
          <p:cNvPr id="341" name="Shape 59"/>
          <p:cNvSpPr/>
          <p:nvPr/>
        </p:nvSpPr>
        <p:spPr>
          <a:xfrm>
            <a:off x="0" y="5485680"/>
            <a:ext cx="12191400" cy="360"/>
          </a:xfrm>
          <a:prstGeom prst="line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fr-FR" sz="1800" b="0" u="none" strike="noStrike">
              <a:solidFill>
                <a:srgbClr val="FFFFFF"/>
              </a:solidFill>
              <a:effectLst/>
              <a:uFillTx/>
              <a:latin typeface="Roboto"/>
            </a:endParaRPr>
          </a:p>
        </p:txBody>
      </p:sp>
      <p:sp>
        <p:nvSpPr>
          <p:cNvPr id="342" name="Shape 60"/>
          <p:cNvSpPr/>
          <p:nvPr/>
        </p:nvSpPr>
        <p:spPr>
          <a:xfrm>
            <a:off x="0" y="5790600"/>
            <a:ext cx="12191400" cy="360"/>
          </a:xfrm>
          <a:prstGeom prst="line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fr-FR" sz="1800" b="0" u="none" strike="noStrike">
              <a:solidFill>
                <a:srgbClr val="FFFFFF"/>
              </a:solidFill>
              <a:effectLst/>
              <a:uFillTx/>
              <a:latin typeface="Roboto"/>
            </a:endParaRPr>
          </a:p>
        </p:txBody>
      </p:sp>
      <p:sp>
        <p:nvSpPr>
          <p:cNvPr id="343" name="Shape 61"/>
          <p:cNvSpPr/>
          <p:nvPr/>
        </p:nvSpPr>
        <p:spPr>
          <a:xfrm>
            <a:off x="0" y="6095160"/>
            <a:ext cx="12191400" cy="360"/>
          </a:xfrm>
          <a:prstGeom prst="line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fr-FR" sz="1800" b="0" u="none" strike="noStrike">
              <a:solidFill>
                <a:srgbClr val="FFFFFF"/>
              </a:solidFill>
              <a:effectLst/>
              <a:uFillTx/>
              <a:latin typeface="Roboto"/>
            </a:endParaRPr>
          </a:p>
        </p:txBody>
      </p:sp>
      <p:sp>
        <p:nvSpPr>
          <p:cNvPr id="344" name="Shape 62"/>
          <p:cNvSpPr/>
          <p:nvPr/>
        </p:nvSpPr>
        <p:spPr>
          <a:xfrm>
            <a:off x="0" y="6400080"/>
            <a:ext cx="12191400" cy="360"/>
          </a:xfrm>
          <a:prstGeom prst="line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fr-FR" sz="1800" b="0" u="none" strike="noStrike">
              <a:solidFill>
                <a:srgbClr val="FFFFFF"/>
              </a:solidFill>
              <a:effectLst/>
              <a:uFillTx/>
              <a:latin typeface="Roboto"/>
            </a:endParaRPr>
          </a:p>
        </p:txBody>
      </p:sp>
      <p:sp>
        <p:nvSpPr>
          <p:cNvPr id="345" name="Shape 63"/>
          <p:cNvSpPr/>
          <p:nvPr/>
        </p:nvSpPr>
        <p:spPr>
          <a:xfrm>
            <a:off x="0" y="6704640"/>
            <a:ext cx="12191400" cy="360"/>
          </a:xfrm>
          <a:prstGeom prst="line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fr-FR" sz="1800" b="0" u="none" strike="noStrike">
              <a:solidFill>
                <a:srgbClr val="FFFFFF"/>
              </a:solidFill>
              <a:effectLst/>
              <a:uFillTx/>
              <a:latin typeface="Roboto"/>
            </a:endParaRPr>
          </a:p>
        </p:txBody>
      </p:sp>
      <p:sp>
        <p:nvSpPr>
          <p:cNvPr id="346" name="Text 64"/>
          <p:cNvSpPr/>
          <p:nvPr/>
        </p:nvSpPr>
        <p:spPr>
          <a:xfrm>
            <a:off x="457200" y="384120"/>
            <a:ext cx="9141840" cy="253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pc="201" strike="noStrike">
                <a:solidFill>
                  <a:srgbClr val="F2A65A"/>
                </a:solidFill>
                <a:effectLst/>
                <a:uFillTx/>
                <a:latin typeface="Roboto"/>
                <a:ea typeface="Roboto"/>
              </a:rPr>
              <a:t>02 · EXPLORATORY ANALYSIS</a:t>
            </a:r>
            <a:endParaRPr lang="fr-FR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47" name="Text 65"/>
          <p:cNvSpPr/>
          <p:nvPr/>
        </p:nvSpPr>
        <p:spPr>
          <a:xfrm>
            <a:off x="457200" y="640080"/>
            <a:ext cx="10513440" cy="54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000" b="1" u="none" strike="noStrike">
                <a:solidFill>
                  <a:srgbClr val="FFFFFF"/>
                </a:solidFill>
                <a:effectLst/>
                <a:uFillTx/>
                <a:latin typeface="Roboto"/>
                <a:ea typeface="Roboto"/>
              </a:rPr>
              <a:t>Do People Say Yes?</a:t>
            </a:r>
            <a:endParaRPr lang="fr-FR" sz="3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48" name="Shape 66"/>
          <p:cNvSpPr/>
          <p:nvPr/>
        </p:nvSpPr>
        <p:spPr>
          <a:xfrm>
            <a:off x="457200" y="1371600"/>
            <a:ext cx="3634200" cy="4661280"/>
          </a:xfrm>
          <a:prstGeom prst="roundRect">
            <a:avLst>
              <a:gd name="adj" fmla="val 2263"/>
            </a:avLst>
          </a:prstGeom>
          <a:solidFill>
            <a:srgbClr val="263659"/>
          </a:solidFill>
          <a:ln w="12700">
            <a:solidFill>
              <a:srgbClr val="3D4B72"/>
            </a:solidFill>
            <a:round/>
          </a:ln>
          <a:effectLst>
            <a:outerShdw algn="bl" blurRad="101520" dir="5400000" dist="38160" kx="0" ky="0" rotWithShape="0" sx="100000" sy="10000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fr-FR" sz="1800" b="0" u="none" strike="noStrike">
              <a:solidFill>
                <a:srgbClr val="FFFFFF"/>
              </a:solidFill>
              <a:effectLst/>
              <a:uFillTx/>
              <a:latin typeface="Roboto"/>
            </a:endParaRPr>
          </a:p>
        </p:txBody>
      </p:sp>
      <p:sp>
        <p:nvSpPr>
          <p:cNvPr id="349" name="Chart1Title"/>
          <p:cNvSpPr/>
          <p:nvPr/>
        </p:nvSpPr>
        <p:spPr>
          <a:xfrm>
            <a:off x="660600" y="1572840"/>
            <a:ext cx="323172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FFFFFF"/>
                </a:solidFill>
                <a:effectLst/>
                <a:uFillTx/>
                <a:latin typeface="Roboto"/>
                <a:ea typeface="Roboto"/>
              </a:rPr>
              <a:t>Personal 'Yes' Rate by Gender</a:t>
            </a:r>
            <a:endParaRPr lang="fr-FR" sz="12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350" name="Chart 0"/>
          <p:cNvGraphicFramePr/>
          <p:nvPr/>
        </p:nvGraphicFramePr>
        <p:xfrm>
          <a:off x="658440" y="1938600"/>
          <a:ext cx="3231720" cy="38930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sp>
        <p:nvSpPr>
          <p:cNvPr id="351" name="Shape 67"/>
          <p:cNvSpPr/>
          <p:nvPr/>
        </p:nvSpPr>
        <p:spPr>
          <a:xfrm>
            <a:off x="4276440" y="1371600"/>
            <a:ext cx="3634200" cy="4661280"/>
          </a:xfrm>
          <a:prstGeom prst="roundRect">
            <a:avLst>
              <a:gd name="adj" fmla="val 2263"/>
            </a:avLst>
          </a:prstGeom>
          <a:solidFill>
            <a:srgbClr val="263659"/>
          </a:solidFill>
          <a:ln w="12700">
            <a:solidFill>
              <a:srgbClr val="3D4B72"/>
            </a:solidFill>
            <a:round/>
          </a:ln>
          <a:effectLst>
            <a:outerShdw algn="bl" blurRad="101520" dir="5400000" dist="38160" kx="0" ky="0" rotWithShape="0" sx="100000" sy="10000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fr-FR" sz="1800" b="0" u="none" strike="noStrike">
              <a:solidFill>
                <a:srgbClr val="FFFFFF"/>
              </a:solidFill>
              <a:effectLst/>
              <a:uFillTx/>
              <a:latin typeface="Roboto"/>
            </a:endParaRPr>
          </a:p>
        </p:txBody>
      </p:sp>
      <p:sp>
        <p:nvSpPr>
          <p:cNvPr id="352" name="Text 68"/>
          <p:cNvSpPr/>
          <p:nvPr/>
        </p:nvSpPr>
        <p:spPr>
          <a:xfrm>
            <a:off x="4532400" y="1482120"/>
            <a:ext cx="3121920" cy="45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20000"/>
              </a:lnSpc>
              <a:tabLst>
                <a:tab pos="0" algn="l"/>
              </a:tabLst>
            </a:pPr>
            <a:r>
              <a:rPr lang="en-US" sz="1100" b="1" u="none" spc="99" strike="noStrike">
                <a:solidFill>
                  <a:srgbClr val="F2A65A"/>
                </a:solidFill>
                <a:effectLst/>
                <a:uFillTx/>
                <a:latin typeface="Roboto"/>
                <a:ea typeface="Roboto"/>
              </a:rPr>
              <a:t>OVERALL MUTUAL MATCH RATE</a:t>
            </a:r>
            <a:endParaRPr lang="fr-FR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353" name="Chart 1"/>
          <p:cNvGraphicFramePr/>
          <p:nvPr/>
        </p:nvGraphicFramePr>
        <p:xfrm>
          <a:off x="4951440" y="2148840"/>
          <a:ext cx="2283840" cy="22838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354" name="Text 69"/>
          <p:cNvSpPr/>
          <p:nvPr/>
        </p:nvSpPr>
        <p:spPr>
          <a:xfrm>
            <a:off x="5180040" y="3017520"/>
            <a:ext cx="1826640" cy="40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200" b="1" u="none" strike="noStrike">
                <a:solidFill>
                  <a:srgbClr val="FFFFFF"/>
                </a:solidFill>
                <a:effectLst/>
                <a:uFillTx/>
                <a:latin typeface="Roboto"/>
                <a:ea typeface="Roboto"/>
              </a:rPr>
              <a:t>16.5%</a:t>
            </a:r>
            <a:endParaRPr lang="fr-FR" sz="2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55" name="Text 70"/>
          <p:cNvSpPr/>
          <p:nvPr/>
        </p:nvSpPr>
        <p:spPr>
          <a:xfrm>
            <a:off x="5180040" y="3410640"/>
            <a:ext cx="1826640" cy="27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pc="150" strike="noStrike">
                <a:solidFill>
                  <a:srgbClr val="8B96AC"/>
                </a:solidFill>
                <a:effectLst/>
                <a:uFillTx/>
                <a:latin typeface="Roboto"/>
                <a:ea typeface="Roboto"/>
              </a:rPr>
              <a:t>MATCHED</a:t>
            </a:r>
            <a:endParaRPr lang="fr-FR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56" name="Text 71"/>
          <p:cNvSpPr/>
          <p:nvPr/>
        </p:nvSpPr>
        <p:spPr>
          <a:xfrm>
            <a:off x="4532400" y="4709160"/>
            <a:ext cx="3121920" cy="54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25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8B96AC"/>
                </a:solidFill>
                <a:effectLst/>
                <a:uFillTx/>
                <a:latin typeface="Roboto"/>
                <a:ea typeface="Roboto"/>
              </a:rPr>
              <a:t>of dates end with both people saying yes</a:t>
            </a:r>
            <a:endParaRPr lang="fr-FR" sz="11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57" name="Shape 72"/>
          <p:cNvSpPr/>
          <p:nvPr/>
        </p:nvSpPr>
        <p:spPr>
          <a:xfrm>
            <a:off x="8095320" y="1371600"/>
            <a:ext cx="3634200" cy="4661280"/>
          </a:xfrm>
          <a:prstGeom prst="roundRect">
            <a:avLst>
              <a:gd name="adj" fmla="val 2263"/>
            </a:avLst>
          </a:prstGeom>
          <a:solidFill>
            <a:srgbClr val="263659"/>
          </a:solidFill>
          <a:ln w="12700">
            <a:solidFill>
              <a:srgbClr val="3D4B72"/>
            </a:solidFill>
            <a:round/>
          </a:ln>
          <a:effectLst>
            <a:outerShdw algn="bl" blurRad="101520" dir="5400000" dist="38160" kx="0" ky="0" rotWithShape="0" sx="100000" sy="10000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fr-FR" sz="1800" b="0" u="none" strike="noStrike">
              <a:solidFill>
                <a:srgbClr val="FFFFFF"/>
              </a:solidFill>
              <a:effectLst/>
              <a:uFillTx/>
              <a:latin typeface="Roboto"/>
            </a:endParaRPr>
          </a:p>
        </p:txBody>
      </p:sp>
      <p:sp>
        <p:nvSpPr>
          <p:cNvPr id="358" name="Text 73"/>
          <p:cNvSpPr/>
          <p:nvPr/>
        </p:nvSpPr>
        <p:spPr>
          <a:xfrm>
            <a:off x="8351640" y="1582560"/>
            <a:ext cx="3121920" cy="253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pc="150" strike="noStrike">
                <a:solidFill>
                  <a:srgbClr val="F2A65A"/>
                </a:solidFill>
                <a:effectLst/>
                <a:uFillTx/>
                <a:latin typeface="Roboto"/>
                <a:ea typeface="Roboto"/>
              </a:rPr>
              <a:t>WHAT IT MEANS</a:t>
            </a:r>
            <a:endParaRPr lang="fr-FR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59" name="Text 74"/>
          <p:cNvSpPr/>
          <p:nvPr/>
        </p:nvSpPr>
        <p:spPr>
          <a:xfrm>
            <a:off x="8351640" y="1938600"/>
            <a:ext cx="3121920" cy="383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marL="177840" indent="-177840" defTabSz="914400">
              <a:lnSpc>
                <a:spcPct val="128000"/>
              </a:lnSpc>
              <a:buClr>
                <a:srgbClr val="FFFFFF"/>
              </a:buClr>
              <a:buFont typeface="Symbol" charset="2"/>
              <a:buChar char=""/>
            </a:pPr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Roboto"/>
                <a:ea typeface="Roboto"/>
              </a:rPr>
              <a:t>Men say 'yes' noticeably more often than women, confirming that women are more selective in speed dating.</a:t>
            </a:r>
            <a:endParaRPr lang="fr-FR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177840" indent="-177840" defTabSz="914400">
              <a:lnSpc>
                <a:spcPct val="128000"/>
              </a:lnSpc>
              <a:buClr>
                <a:srgbClr val="FFFFFF"/>
              </a:buClr>
              <a:buFont typeface="Symbol" charset="2"/>
              <a:buChar char=""/>
            </a:pPr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Roboto"/>
                <a:ea typeface="Roboto"/>
              </a:rPr>
              <a:t>Mutual matches are rare overall.</a:t>
            </a:r>
            <a:endParaRPr lang="fr-FR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177840" indent="-177840" defTabSz="914400">
              <a:lnSpc>
                <a:spcPct val="128000"/>
              </a:lnSpc>
              <a:buClr>
                <a:srgbClr val="FFFFFF"/>
              </a:buClr>
              <a:buFont typeface="Symbol" charset="2"/>
              <a:buChar char=""/>
            </a:pPr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Roboto"/>
                <a:ea typeface="Roboto"/>
              </a:rPr>
              <a:t>We test whether this gender gap is real in the hypothesis section next.</a:t>
            </a:r>
            <a:endParaRPr lang="fr-FR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60" name="Shape 75"/>
          <p:cNvSpPr/>
          <p:nvPr/>
        </p:nvSpPr>
        <p:spPr>
          <a:xfrm>
            <a:off x="548640" y="6263640"/>
            <a:ext cx="11091600" cy="360"/>
          </a:xfrm>
          <a:prstGeom prst="line">
            <a:avLst/>
          </a:prstGeom>
          <a:ln w="12700">
            <a:solidFill>
              <a:srgbClr val="3D4B7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fr-FR" sz="1800" b="0" u="none" strike="noStrike">
              <a:solidFill>
                <a:srgbClr val="FFFFFF"/>
              </a:solidFill>
              <a:effectLst/>
              <a:uFillTx/>
              <a:latin typeface="Roboto"/>
            </a:endParaRPr>
          </a:p>
        </p:txBody>
      </p:sp>
      <p:sp>
        <p:nvSpPr>
          <p:cNvPr id="361" name="Text 76"/>
          <p:cNvSpPr/>
          <p:nvPr/>
        </p:nvSpPr>
        <p:spPr>
          <a:xfrm>
            <a:off x="457200" y="6355080"/>
            <a:ext cx="8227440" cy="27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5C6684"/>
                </a:solidFill>
                <a:effectLst/>
                <a:uFillTx/>
                <a:latin typeface="Roboto"/>
                <a:ea typeface="Roboto"/>
              </a:rPr>
              <a:t>Speed dating experiment · Attraction, preferences &amp; machine learning</a:t>
            </a:r>
            <a:endParaRPr lang="fr-FR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62" name="Text 77"/>
          <p:cNvSpPr/>
          <p:nvPr/>
        </p:nvSpPr>
        <p:spPr>
          <a:xfrm>
            <a:off x="11274480" y="6355080"/>
            <a:ext cx="455040" cy="27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5C6684"/>
                </a:solidFill>
                <a:effectLst/>
                <a:uFillTx/>
                <a:latin typeface="Roboto"/>
                <a:ea typeface="Roboto"/>
              </a:rPr>
              <a:t>04</a:t>
            </a:r>
            <a:endParaRPr lang="fr-FR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" name="Shape 0"/>
          <p:cNvSpPr/>
          <p:nvPr/>
        </p:nvSpPr>
        <p:spPr>
          <a:xfrm>
            <a:off x="0" y="0"/>
            <a:ext cx="360" cy="6858000"/>
          </a:xfrm>
          <a:prstGeom prst="line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0" tIns="45000" rIns="0" bIns="45000" anchor="t" anchorCtr="1">
            <a:noAutofit/>
          </a:bodyPr>
          <a:p>
            <a:endParaRPr lang="fr-FR" sz="1800" b="0" u="none" strike="noStrike">
              <a:solidFill>
                <a:srgbClr val="FFFFFF"/>
              </a:solidFill>
              <a:effectLst/>
              <a:uFillTx/>
              <a:latin typeface="Roboto"/>
            </a:endParaRPr>
          </a:p>
        </p:txBody>
      </p:sp>
      <p:sp>
        <p:nvSpPr>
          <p:cNvPr id="364" name="Shape 1"/>
          <p:cNvSpPr/>
          <p:nvPr/>
        </p:nvSpPr>
        <p:spPr>
          <a:xfrm>
            <a:off x="304560" y="0"/>
            <a:ext cx="360" cy="6858000"/>
          </a:xfrm>
          <a:prstGeom prst="line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0" tIns="45000" rIns="0" bIns="45000" anchor="t" anchorCtr="1">
            <a:noAutofit/>
          </a:bodyPr>
          <a:p>
            <a:endParaRPr lang="fr-FR" sz="1800" b="0" u="none" strike="noStrike">
              <a:solidFill>
                <a:srgbClr val="FFFFFF"/>
              </a:solidFill>
              <a:effectLst/>
              <a:uFillTx/>
              <a:latin typeface="Roboto"/>
            </a:endParaRPr>
          </a:p>
        </p:txBody>
      </p:sp>
      <p:sp>
        <p:nvSpPr>
          <p:cNvPr id="365" name="Shape 2"/>
          <p:cNvSpPr/>
          <p:nvPr/>
        </p:nvSpPr>
        <p:spPr>
          <a:xfrm>
            <a:off x="609480" y="0"/>
            <a:ext cx="360" cy="6858000"/>
          </a:xfrm>
          <a:prstGeom prst="line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0" tIns="45000" rIns="0" bIns="45000" anchor="t" anchorCtr="1">
            <a:noAutofit/>
          </a:bodyPr>
          <a:p>
            <a:endParaRPr lang="fr-FR" sz="1800" b="0" u="none" strike="noStrike">
              <a:solidFill>
                <a:srgbClr val="FFFFFF"/>
              </a:solidFill>
              <a:effectLst/>
              <a:uFillTx/>
              <a:latin typeface="Roboto"/>
            </a:endParaRPr>
          </a:p>
        </p:txBody>
      </p:sp>
      <p:sp>
        <p:nvSpPr>
          <p:cNvPr id="366" name="Shape 3"/>
          <p:cNvSpPr/>
          <p:nvPr/>
        </p:nvSpPr>
        <p:spPr>
          <a:xfrm>
            <a:off x="914040" y="0"/>
            <a:ext cx="360" cy="6858000"/>
          </a:xfrm>
          <a:prstGeom prst="line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0" tIns="45000" rIns="0" bIns="45000" anchor="t" anchorCtr="1">
            <a:noAutofit/>
          </a:bodyPr>
          <a:p>
            <a:endParaRPr lang="fr-FR" sz="1800" b="0" u="none" strike="noStrike">
              <a:solidFill>
                <a:srgbClr val="FFFFFF"/>
              </a:solidFill>
              <a:effectLst/>
              <a:uFillTx/>
              <a:latin typeface="Roboto"/>
            </a:endParaRPr>
          </a:p>
        </p:txBody>
      </p:sp>
      <p:sp>
        <p:nvSpPr>
          <p:cNvPr id="367" name="Shape 4"/>
          <p:cNvSpPr/>
          <p:nvPr/>
        </p:nvSpPr>
        <p:spPr>
          <a:xfrm>
            <a:off x="1218960" y="0"/>
            <a:ext cx="360" cy="6858000"/>
          </a:xfrm>
          <a:prstGeom prst="line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0" tIns="45000" rIns="0" bIns="45000" anchor="t" anchorCtr="1">
            <a:noAutofit/>
          </a:bodyPr>
          <a:p>
            <a:endParaRPr lang="fr-FR" sz="1800" b="0" u="none" strike="noStrike">
              <a:solidFill>
                <a:srgbClr val="FFFFFF"/>
              </a:solidFill>
              <a:effectLst/>
              <a:uFillTx/>
              <a:latin typeface="Roboto"/>
            </a:endParaRPr>
          </a:p>
        </p:txBody>
      </p:sp>
      <p:sp>
        <p:nvSpPr>
          <p:cNvPr id="368" name="Shape 5"/>
          <p:cNvSpPr/>
          <p:nvPr/>
        </p:nvSpPr>
        <p:spPr>
          <a:xfrm>
            <a:off x="1523520" y="0"/>
            <a:ext cx="360" cy="6858000"/>
          </a:xfrm>
          <a:prstGeom prst="line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0" tIns="45000" rIns="0" bIns="45000" anchor="t" anchorCtr="1">
            <a:noAutofit/>
          </a:bodyPr>
          <a:p>
            <a:endParaRPr lang="fr-FR" sz="1800" b="0" u="none" strike="noStrike">
              <a:solidFill>
                <a:srgbClr val="FFFFFF"/>
              </a:solidFill>
              <a:effectLst/>
              <a:uFillTx/>
              <a:latin typeface="Roboto"/>
            </a:endParaRPr>
          </a:p>
        </p:txBody>
      </p:sp>
      <p:sp>
        <p:nvSpPr>
          <p:cNvPr id="369" name="Shape 6"/>
          <p:cNvSpPr/>
          <p:nvPr/>
        </p:nvSpPr>
        <p:spPr>
          <a:xfrm>
            <a:off x="1828440" y="0"/>
            <a:ext cx="360" cy="6858000"/>
          </a:xfrm>
          <a:prstGeom prst="line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0" tIns="45000" rIns="0" bIns="45000" anchor="t" anchorCtr="1">
            <a:noAutofit/>
          </a:bodyPr>
          <a:p>
            <a:endParaRPr lang="fr-FR" sz="1800" b="0" u="none" strike="noStrike">
              <a:solidFill>
                <a:srgbClr val="FFFFFF"/>
              </a:solidFill>
              <a:effectLst/>
              <a:uFillTx/>
              <a:latin typeface="Roboto"/>
            </a:endParaRPr>
          </a:p>
        </p:txBody>
      </p:sp>
      <p:sp>
        <p:nvSpPr>
          <p:cNvPr id="370" name="Shape 7"/>
          <p:cNvSpPr/>
          <p:nvPr/>
        </p:nvSpPr>
        <p:spPr>
          <a:xfrm>
            <a:off x="2133360" y="0"/>
            <a:ext cx="360" cy="6858000"/>
          </a:xfrm>
          <a:prstGeom prst="line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0" tIns="45000" rIns="0" bIns="45000" anchor="t" anchorCtr="1">
            <a:noAutofit/>
          </a:bodyPr>
          <a:p>
            <a:endParaRPr lang="fr-FR" sz="1800" b="0" u="none" strike="noStrike">
              <a:solidFill>
                <a:srgbClr val="FFFFFF"/>
              </a:solidFill>
              <a:effectLst/>
              <a:uFillTx/>
              <a:latin typeface="Roboto"/>
            </a:endParaRPr>
          </a:p>
        </p:txBody>
      </p:sp>
      <p:sp>
        <p:nvSpPr>
          <p:cNvPr id="371" name="Shape 8"/>
          <p:cNvSpPr/>
          <p:nvPr/>
        </p:nvSpPr>
        <p:spPr>
          <a:xfrm>
            <a:off x="2437920" y="0"/>
            <a:ext cx="360" cy="6858000"/>
          </a:xfrm>
          <a:prstGeom prst="line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0" tIns="45000" rIns="0" bIns="45000" anchor="t" anchorCtr="1">
            <a:noAutofit/>
          </a:bodyPr>
          <a:p>
            <a:endParaRPr lang="fr-FR" sz="1800" b="0" u="none" strike="noStrike">
              <a:solidFill>
                <a:srgbClr val="FFFFFF"/>
              </a:solidFill>
              <a:effectLst/>
              <a:uFillTx/>
              <a:latin typeface="Roboto"/>
            </a:endParaRPr>
          </a:p>
        </p:txBody>
      </p:sp>
      <p:sp>
        <p:nvSpPr>
          <p:cNvPr id="372" name="Shape 9"/>
          <p:cNvSpPr/>
          <p:nvPr/>
        </p:nvSpPr>
        <p:spPr>
          <a:xfrm>
            <a:off x="2742840" y="0"/>
            <a:ext cx="360" cy="6858000"/>
          </a:xfrm>
          <a:prstGeom prst="line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0" tIns="45000" rIns="0" bIns="45000" anchor="t" anchorCtr="1">
            <a:noAutofit/>
          </a:bodyPr>
          <a:p>
            <a:endParaRPr lang="fr-FR" sz="1800" b="0" u="none" strike="noStrike">
              <a:solidFill>
                <a:srgbClr val="FFFFFF"/>
              </a:solidFill>
              <a:effectLst/>
              <a:uFillTx/>
              <a:latin typeface="Roboto"/>
            </a:endParaRPr>
          </a:p>
        </p:txBody>
      </p:sp>
      <p:sp>
        <p:nvSpPr>
          <p:cNvPr id="373" name="Shape 10"/>
          <p:cNvSpPr/>
          <p:nvPr/>
        </p:nvSpPr>
        <p:spPr>
          <a:xfrm>
            <a:off x="3047400" y="0"/>
            <a:ext cx="360" cy="6858000"/>
          </a:xfrm>
          <a:prstGeom prst="line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0" tIns="45000" rIns="0" bIns="45000" anchor="t" anchorCtr="1">
            <a:noAutofit/>
          </a:bodyPr>
          <a:p>
            <a:endParaRPr lang="fr-FR" sz="1800" b="0" u="none" strike="noStrike">
              <a:solidFill>
                <a:srgbClr val="FFFFFF"/>
              </a:solidFill>
              <a:effectLst/>
              <a:uFillTx/>
              <a:latin typeface="Roboto"/>
            </a:endParaRPr>
          </a:p>
        </p:txBody>
      </p:sp>
      <p:sp>
        <p:nvSpPr>
          <p:cNvPr id="374" name="Shape 11"/>
          <p:cNvSpPr/>
          <p:nvPr/>
        </p:nvSpPr>
        <p:spPr>
          <a:xfrm>
            <a:off x="3352320" y="0"/>
            <a:ext cx="360" cy="6858000"/>
          </a:xfrm>
          <a:prstGeom prst="line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0" tIns="45000" rIns="0" bIns="45000" anchor="t" anchorCtr="1">
            <a:noAutofit/>
          </a:bodyPr>
          <a:p>
            <a:endParaRPr lang="fr-FR" sz="1800" b="0" u="none" strike="noStrike">
              <a:solidFill>
                <a:srgbClr val="FFFFFF"/>
              </a:solidFill>
              <a:effectLst/>
              <a:uFillTx/>
              <a:latin typeface="Roboto"/>
            </a:endParaRPr>
          </a:p>
        </p:txBody>
      </p:sp>
      <p:sp>
        <p:nvSpPr>
          <p:cNvPr id="375" name="Shape 12"/>
          <p:cNvSpPr/>
          <p:nvPr/>
        </p:nvSpPr>
        <p:spPr>
          <a:xfrm>
            <a:off x="3656880" y="0"/>
            <a:ext cx="360" cy="6858000"/>
          </a:xfrm>
          <a:prstGeom prst="line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0" tIns="45000" rIns="0" bIns="45000" anchor="t" anchorCtr="1">
            <a:noAutofit/>
          </a:bodyPr>
          <a:p>
            <a:endParaRPr lang="fr-FR" sz="1800" b="0" u="none" strike="noStrike">
              <a:solidFill>
                <a:srgbClr val="FFFFFF"/>
              </a:solidFill>
              <a:effectLst/>
              <a:uFillTx/>
              <a:latin typeface="Roboto"/>
            </a:endParaRPr>
          </a:p>
        </p:txBody>
      </p:sp>
      <p:sp>
        <p:nvSpPr>
          <p:cNvPr id="376" name="Shape 13"/>
          <p:cNvSpPr/>
          <p:nvPr/>
        </p:nvSpPr>
        <p:spPr>
          <a:xfrm>
            <a:off x="3961800" y="0"/>
            <a:ext cx="360" cy="6858000"/>
          </a:xfrm>
          <a:prstGeom prst="line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0" tIns="45000" rIns="0" bIns="45000" anchor="t" anchorCtr="1">
            <a:noAutofit/>
          </a:bodyPr>
          <a:p>
            <a:endParaRPr lang="fr-FR" sz="1800" b="0" u="none" strike="noStrike">
              <a:solidFill>
                <a:srgbClr val="FFFFFF"/>
              </a:solidFill>
              <a:effectLst/>
              <a:uFillTx/>
              <a:latin typeface="Roboto"/>
            </a:endParaRPr>
          </a:p>
        </p:txBody>
      </p:sp>
      <p:sp>
        <p:nvSpPr>
          <p:cNvPr id="377" name="Shape 14"/>
          <p:cNvSpPr/>
          <p:nvPr/>
        </p:nvSpPr>
        <p:spPr>
          <a:xfrm>
            <a:off x="4266720" y="0"/>
            <a:ext cx="360" cy="6858000"/>
          </a:xfrm>
          <a:prstGeom prst="line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0" tIns="45000" rIns="0" bIns="45000" anchor="t" anchorCtr="1">
            <a:noAutofit/>
          </a:bodyPr>
          <a:p>
            <a:endParaRPr lang="fr-FR" sz="1800" b="0" u="none" strike="noStrike">
              <a:solidFill>
                <a:srgbClr val="FFFFFF"/>
              </a:solidFill>
              <a:effectLst/>
              <a:uFillTx/>
              <a:latin typeface="Roboto"/>
            </a:endParaRPr>
          </a:p>
        </p:txBody>
      </p:sp>
      <p:sp>
        <p:nvSpPr>
          <p:cNvPr id="378" name="Shape 15"/>
          <p:cNvSpPr/>
          <p:nvPr/>
        </p:nvSpPr>
        <p:spPr>
          <a:xfrm>
            <a:off x="4571280" y="0"/>
            <a:ext cx="360" cy="6858000"/>
          </a:xfrm>
          <a:prstGeom prst="line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0" tIns="45000" rIns="0" bIns="45000" anchor="t" anchorCtr="1">
            <a:noAutofit/>
          </a:bodyPr>
          <a:p>
            <a:endParaRPr lang="fr-FR" sz="1800" b="0" u="none" strike="noStrike">
              <a:solidFill>
                <a:srgbClr val="FFFFFF"/>
              </a:solidFill>
              <a:effectLst/>
              <a:uFillTx/>
              <a:latin typeface="Roboto"/>
            </a:endParaRPr>
          </a:p>
        </p:txBody>
      </p:sp>
      <p:sp>
        <p:nvSpPr>
          <p:cNvPr id="379" name="Shape 16"/>
          <p:cNvSpPr/>
          <p:nvPr/>
        </p:nvSpPr>
        <p:spPr>
          <a:xfrm>
            <a:off x="4876200" y="0"/>
            <a:ext cx="360" cy="6858000"/>
          </a:xfrm>
          <a:prstGeom prst="line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0" tIns="45000" rIns="0" bIns="45000" anchor="t" anchorCtr="1">
            <a:noAutofit/>
          </a:bodyPr>
          <a:p>
            <a:endParaRPr lang="fr-FR" sz="1800" b="0" u="none" strike="noStrike">
              <a:solidFill>
                <a:srgbClr val="FFFFFF"/>
              </a:solidFill>
              <a:effectLst/>
              <a:uFillTx/>
              <a:latin typeface="Roboto"/>
            </a:endParaRPr>
          </a:p>
        </p:txBody>
      </p:sp>
      <p:sp>
        <p:nvSpPr>
          <p:cNvPr id="380" name="Shape 17"/>
          <p:cNvSpPr/>
          <p:nvPr/>
        </p:nvSpPr>
        <p:spPr>
          <a:xfrm>
            <a:off x="5180760" y="0"/>
            <a:ext cx="360" cy="6858000"/>
          </a:xfrm>
          <a:prstGeom prst="line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0" tIns="45000" rIns="0" bIns="45000" anchor="t" anchorCtr="1">
            <a:noAutofit/>
          </a:bodyPr>
          <a:p>
            <a:endParaRPr lang="fr-FR" sz="1800" b="0" u="none" strike="noStrike">
              <a:solidFill>
                <a:srgbClr val="FFFFFF"/>
              </a:solidFill>
              <a:effectLst/>
              <a:uFillTx/>
              <a:latin typeface="Roboto"/>
            </a:endParaRPr>
          </a:p>
        </p:txBody>
      </p:sp>
      <p:sp>
        <p:nvSpPr>
          <p:cNvPr id="381" name="Shape 18"/>
          <p:cNvSpPr/>
          <p:nvPr/>
        </p:nvSpPr>
        <p:spPr>
          <a:xfrm>
            <a:off x="5485680" y="0"/>
            <a:ext cx="360" cy="6858000"/>
          </a:xfrm>
          <a:prstGeom prst="line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0" tIns="45000" rIns="0" bIns="45000" anchor="t" anchorCtr="1">
            <a:noAutofit/>
          </a:bodyPr>
          <a:p>
            <a:endParaRPr lang="fr-FR" sz="1800" b="0" u="none" strike="noStrike">
              <a:solidFill>
                <a:srgbClr val="FFFFFF"/>
              </a:solidFill>
              <a:effectLst/>
              <a:uFillTx/>
              <a:latin typeface="Roboto"/>
            </a:endParaRPr>
          </a:p>
        </p:txBody>
      </p:sp>
      <p:sp>
        <p:nvSpPr>
          <p:cNvPr id="382" name="Shape 19"/>
          <p:cNvSpPr/>
          <p:nvPr/>
        </p:nvSpPr>
        <p:spPr>
          <a:xfrm>
            <a:off x="5790600" y="0"/>
            <a:ext cx="360" cy="6858000"/>
          </a:xfrm>
          <a:prstGeom prst="line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0" tIns="45000" rIns="0" bIns="45000" anchor="t" anchorCtr="1">
            <a:noAutofit/>
          </a:bodyPr>
          <a:p>
            <a:endParaRPr lang="fr-FR" sz="1800" b="0" u="none" strike="noStrike">
              <a:solidFill>
                <a:srgbClr val="FFFFFF"/>
              </a:solidFill>
              <a:effectLst/>
              <a:uFillTx/>
              <a:latin typeface="Roboto"/>
            </a:endParaRPr>
          </a:p>
        </p:txBody>
      </p:sp>
      <p:sp>
        <p:nvSpPr>
          <p:cNvPr id="383" name="Shape 20"/>
          <p:cNvSpPr/>
          <p:nvPr/>
        </p:nvSpPr>
        <p:spPr>
          <a:xfrm>
            <a:off x="6095160" y="0"/>
            <a:ext cx="360" cy="6858000"/>
          </a:xfrm>
          <a:prstGeom prst="line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0" tIns="45000" rIns="0" bIns="45000" anchor="t" anchorCtr="1">
            <a:noAutofit/>
          </a:bodyPr>
          <a:p>
            <a:endParaRPr lang="fr-FR" sz="1800" b="0" u="none" strike="noStrike">
              <a:solidFill>
                <a:srgbClr val="FFFFFF"/>
              </a:solidFill>
              <a:effectLst/>
              <a:uFillTx/>
              <a:latin typeface="Roboto"/>
            </a:endParaRPr>
          </a:p>
        </p:txBody>
      </p:sp>
      <p:sp>
        <p:nvSpPr>
          <p:cNvPr id="384" name="Shape 21"/>
          <p:cNvSpPr/>
          <p:nvPr/>
        </p:nvSpPr>
        <p:spPr>
          <a:xfrm>
            <a:off x="6400080" y="0"/>
            <a:ext cx="360" cy="6858000"/>
          </a:xfrm>
          <a:prstGeom prst="line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0" tIns="45000" rIns="0" bIns="45000" anchor="t" anchorCtr="1">
            <a:noAutofit/>
          </a:bodyPr>
          <a:p>
            <a:endParaRPr lang="fr-FR" sz="1800" b="0" u="none" strike="noStrike">
              <a:solidFill>
                <a:srgbClr val="FFFFFF"/>
              </a:solidFill>
              <a:effectLst/>
              <a:uFillTx/>
              <a:latin typeface="Roboto"/>
            </a:endParaRPr>
          </a:p>
        </p:txBody>
      </p:sp>
      <p:sp>
        <p:nvSpPr>
          <p:cNvPr id="385" name="Shape 22"/>
          <p:cNvSpPr/>
          <p:nvPr/>
        </p:nvSpPr>
        <p:spPr>
          <a:xfrm>
            <a:off x="6704640" y="0"/>
            <a:ext cx="360" cy="6858000"/>
          </a:xfrm>
          <a:prstGeom prst="line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0" tIns="45000" rIns="0" bIns="45000" anchor="t" anchorCtr="1">
            <a:noAutofit/>
          </a:bodyPr>
          <a:p>
            <a:endParaRPr lang="fr-FR" sz="1800" b="0" u="none" strike="noStrike">
              <a:solidFill>
                <a:srgbClr val="FFFFFF"/>
              </a:solidFill>
              <a:effectLst/>
              <a:uFillTx/>
              <a:latin typeface="Roboto"/>
            </a:endParaRPr>
          </a:p>
        </p:txBody>
      </p:sp>
      <p:sp>
        <p:nvSpPr>
          <p:cNvPr id="386" name="Shape 23"/>
          <p:cNvSpPr/>
          <p:nvPr/>
        </p:nvSpPr>
        <p:spPr>
          <a:xfrm>
            <a:off x="7009560" y="0"/>
            <a:ext cx="360" cy="6858000"/>
          </a:xfrm>
          <a:prstGeom prst="line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0" tIns="45000" rIns="0" bIns="45000" anchor="t" anchorCtr="1">
            <a:noAutofit/>
          </a:bodyPr>
          <a:p>
            <a:endParaRPr lang="fr-FR" sz="1800" b="0" u="none" strike="noStrike">
              <a:solidFill>
                <a:srgbClr val="FFFFFF"/>
              </a:solidFill>
              <a:effectLst/>
              <a:uFillTx/>
              <a:latin typeface="Roboto"/>
            </a:endParaRPr>
          </a:p>
        </p:txBody>
      </p:sp>
      <p:sp>
        <p:nvSpPr>
          <p:cNvPr id="387" name="Shape 24"/>
          <p:cNvSpPr/>
          <p:nvPr/>
        </p:nvSpPr>
        <p:spPr>
          <a:xfrm>
            <a:off x="7314120" y="0"/>
            <a:ext cx="360" cy="6858000"/>
          </a:xfrm>
          <a:prstGeom prst="line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0" tIns="45000" rIns="0" bIns="45000" anchor="t" anchorCtr="1">
            <a:noAutofit/>
          </a:bodyPr>
          <a:p>
            <a:endParaRPr lang="fr-FR" sz="1800" b="0" u="none" strike="noStrike">
              <a:solidFill>
                <a:srgbClr val="FFFFFF"/>
              </a:solidFill>
              <a:effectLst/>
              <a:uFillTx/>
              <a:latin typeface="Roboto"/>
            </a:endParaRPr>
          </a:p>
        </p:txBody>
      </p:sp>
      <p:sp>
        <p:nvSpPr>
          <p:cNvPr id="388" name="Shape 25"/>
          <p:cNvSpPr/>
          <p:nvPr/>
        </p:nvSpPr>
        <p:spPr>
          <a:xfrm>
            <a:off x="7619040" y="0"/>
            <a:ext cx="360" cy="6858000"/>
          </a:xfrm>
          <a:prstGeom prst="line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0" tIns="45000" rIns="0" bIns="45000" anchor="t" anchorCtr="1">
            <a:noAutofit/>
          </a:bodyPr>
          <a:p>
            <a:endParaRPr lang="fr-FR" sz="1800" b="0" u="none" strike="noStrike">
              <a:solidFill>
                <a:srgbClr val="FFFFFF"/>
              </a:solidFill>
              <a:effectLst/>
              <a:uFillTx/>
              <a:latin typeface="Roboto"/>
            </a:endParaRPr>
          </a:p>
        </p:txBody>
      </p:sp>
      <p:sp>
        <p:nvSpPr>
          <p:cNvPr id="389" name="Shape 26"/>
          <p:cNvSpPr/>
          <p:nvPr/>
        </p:nvSpPr>
        <p:spPr>
          <a:xfrm>
            <a:off x="7923960" y="0"/>
            <a:ext cx="360" cy="6858000"/>
          </a:xfrm>
          <a:prstGeom prst="line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0" tIns="45000" rIns="0" bIns="45000" anchor="t" anchorCtr="1">
            <a:noAutofit/>
          </a:bodyPr>
          <a:p>
            <a:endParaRPr lang="fr-FR" sz="1800" b="0" u="none" strike="noStrike">
              <a:solidFill>
                <a:srgbClr val="FFFFFF"/>
              </a:solidFill>
              <a:effectLst/>
              <a:uFillTx/>
              <a:latin typeface="Roboto"/>
            </a:endParaRPr>
          </a:p>
        </p:txBody>
      </p:sp>
      <p:sp>
        <p:nvSpPr>
          <p:cNvPr id="390" name="Shape 27"/>
          <p:cNvSpPr/>
          <p:nvPr/>
        </p:nvSpPr>
        <p:spPr>
          <a:xfrm>
            <a:off x="8228520" y="0"/>
            <a:ext cx="360" cy="6858000"/>
          </a:xfrm>
          <a:prstGeom prst="line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0" tIns="45000" rIns="0" bIns="45000" anchor="t" anchorCtr="1">
            <a:noAutofit/>
          </a:bodyPr>
          <a:p>
            <a:endParaRPr lang="fr-FR" sz="1800" b="0" u="none" strike="noStrike">
              <a:solidFill>
                <a:srgbClr val="FFFFFF"/>
              </a:solidFill>
              <a:effectLst/>
              <a:uFillTx/>
              <a:latin typeface="Roboto"/>
            </a:endParaRPr>
          </a:p>
        </p:txBody>
      </p:sp>
      <p:sp>
        <p:nvSpPr>
          <p:cNvPr id="391" name="Shape 28"/>
          <p:cNvSpPr/>
          <p:nvPr/>
        </p:nvSpPr>
        <p:spPr>
          <a:xfrm>
            <a:off x="8533440" y="0"/>
            <a:ext cx="360" cy="6858000"/>
          </a:xfrm>
          <a:prstGeom prst="line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0" tIns="45000" rIns="0" bIns="45000" anchor="t" anchorCtr="1">
            <a:noAutofit/>
          </a:bodyPr>
          <a:p>
            <a:endParaRPr lang="fr-FR" sz="1800" b="0" u="none" strike="noStrike">
              <a:solidFill>
                <a:srgbClr val="FFFFFF"/>
              </a:solidFill>
              <a:effectLst/>
              <a:uFillTx/>
              <a:latin typeface="Roboto"/>
            </a:endParaRPr>
          </a:p>
        </p:txBody>
      </p:sp>
      <p:sp>
        <p:nvSpPr>
          <p:cNvPr id="392" name="Shape 29"/>
          <p:cNvSpPr/>
          <p:nvPr/>
        </p:nvSpPr>
        <p:spPr>
          <a:xfrm>
            <a:off x="8838000" y="0"/>
            <a:ext cx="360" cy="6858000"/>
          </a:xfrm>
          <a:prstGeom prst="line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0" tIns="45000" rIns="0" bIns="45000" anchor="t" anchorCtr="1">
            <a:noAutofit/>
          </a:bodyPr>
          <a:p>
            <a:endParaRPr lang="fr-FR" sz="1800" b="0" u="none" strike="noStrike">
              <a:solidFill>
                <a:srgbClr val="FFFFFF"/>
              </a:solidFill>
              <a:effectLst/>
              <a:uFillTx/>
              <a:latin typeface="Roboto"/>
            </a:endParaRPr>
          </a:p>
        </p:txBody>
      </p:sp>
      <p:sp>
        <p:nvSpPr>
          <p:cNvPr id="393" name="Shape 30"/>
          <p:cNvSpPr/>
          <p:nvPr/>
        </p:nvSpPr>
        <p:spPr>
          <a:xfrm>
            <a:off x="9142920" y="0"/>
            <a:ext cx="360" cy="6858000"/>
          </a:xfrm>
          <a:prstGeom prst="line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0" tIns="45000" rIns="0" bIns="45000" anchor="t" anchorCtr="1">
            <a:noAutofit/>
          </a:bodyPr>
          <a:p>
            <a:endParaRPr lang="fr-FR" sz="1800" b="0" u="none" strike="noStrike">
              <a:solidFill>
                <a:srgbClr val="FFFFFF"/>
              </a:solidFill>
              <a:effectLst/>
              <a:uFillTx/>
              <a:latin typeface="Roboto"/>
            </a:endParaRPr>
          </a:p>
        </p:txBody>
      </p:sp>
      <p:sp>
        <p:nvSpPr>
          <p:cNvPr id="394" name="Shape 31"/>
          <p:cNvSpPr/>
          <p:nvPr/>
        </p:nvSpPr>
        <p:spPr>
          <a:xfrm>
            <a:off x="9447840" y="0"/>
            <a:ext cx="360" cy="6858000"/>
          </a:xfrm>
          <a:prstGeom prst="line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0" tIns="45000" rIns="0" bIns="45000" anchor="t" anchorCtr="1">
            <a:noAutofit/>
          </a:bodyPr>
          <a:p>
            <a:endParaRPr lang="fr-FR" sz="1800" b="0" u="none" strike="noStrike">
              <a:solidFill>
                <a:srgbClr val="FFFFFF"/>
              </a:solidFill>
              <a:effectLst/>
              <a:uFillTx/>
              <a:latin typeface="Roboto"/>
            </a:endParaRPr>
          </a:p>
        </p:txBody>
      </p:sp>
      <p:sp>
        <p:nvSpPr>
          <p:cNvPr id="395" name="Shape 32"/>
          <p:cNvSpPr/>
          <p:nvPr/>
        </p:nvSpPr>
        <p:spPr>
          <a:xfrm>
            <a:off x="9752400" y="0"/>
            <a:ext cx="360" cy="6858000"/>
          </a:xfrm>
          <a:prstGeom prst="line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0" tIns="45000" rIns="0" bIns="45000" anchor="t" anchorCtr="1">
            <a:noAutofit/>
          </a:bodyPr>
          <a:p>
            <a:endParaRPr lang="fr-FR" sz="1800" b="0" u="none" strike="noStrike">
              <a:solidFill>
                <a:srgbClr val="FFFFFF"/>
              </a:solidFill>
              <a:effectLst/>
              <a:uFillTx/>
              <a:latin typeface="Roboto"/>
            </a:endParaRPr>
          </a:p>
        </p:txBody>
      </p:sp>
      <p:sp>
        <p:nvSpPr>
          <p:cNvPr id="396" name="Shape 33"/>
          <p:cNvSpPr/>
          <p:nvPr/>
        </p:nvSpPr>
        <p:spPr>
          <a:xfrm>
            <a:off x="10057320" y="0"/>
            <a:ext cx="360" cy="6858000"/>
          </a:xfrm>
          <a:prstGeom prst="line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0" tIns="45000" rIns="0" bIns="45000" anchor="t" anchorCtr="1">
            <a:noAutofit/>
          </a:bodyPr>
          <a:p>
            <a:endParaRPr lang="fr-FR" sz="1800" b="0" u="none" strike="noStrike">
              <a:solidFill>
                <a:srgbClr val="FFFFFF"/>
              </a:solidFill>
              <a:effectLst/>
              <a:uFillTx/>
              <a:latin typeface="Roboto"/>
            </a:endParaRPr>
          </a:p>
        </p:txBody>
      </p:sp>
      <p:sp>
        <p:nvSpPr>
          <p:cNvPr id="397" name="Shape 34"/>
          <p:cNvSpPr/>
          <p:nvPr/>
        </p:nvSpPr>
        <p:spPr>
          <a:xfrm>
            <a:off x="10361880" y="0"/>
            <a:ext cx="360" cy="6858000"/>
          </a:xfrm>
          <a:prstGeom prst="line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0" tIns="45000" rIns="0" bIns="45000" anchor="t" anchorCtr="1">
            <a:noAutofit/>
          </a:bodyPr>
          <a:p>
            <a:endParaRPr lang="fr-FR" sz="1800" b="0" u="none" strike="noStrike">
              <a:solidFill>
                <a:srgbClr val="FFFFFF"/>
              </a:solidFill>
              <a:effectLst/>
              <a:uFillTx/>
              <a:latin typeface="Roboto"/>
            </a:endParaRPr>
          </a:p>
        </p:txBody>
      </p:sp>
      <p:sp>
        <p:nvSpPr>
          <p:cNvPr id="398" name="Shape 35"/>
          <p:cNvSpPr/>
          <p:nvPr/>
        </p:nvSpPr>
        <p:spPr>
          <a:xfrm>
            <a:off x="10666800" y="0"/>
            <a:ext cx="360" cy="6858000"/>
          </a:xfrm>
          <a:prstGeom prst="line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0" tIns="45000" rIns="0" bIns="45000" anchor="t" anchorCtr="1">
            <a:noAutofit/>
          </a:bodyPr>
          <a:p>
            <a:endParaRPr lang="fr-FR" sz="1800" b="0" u="none" strike="noStrike">
              <a:solidFill>
                <a:srgbClr val="FFFFFF"/>
              </a:solidFill>
              <a:effectLst/>
              <a:uFillTx/>
              <a:latin typeface="Roboto"/>
            </a:endParaRPr>
          </a:p>
        </p:txBody>
      </p:sp>
      <p:sp>
        <p:nvSpPr>
          <p:cNvPr id="399" name="Shape 36"/>
          <p:cNvSpPr/>
          <p:nvPr/>
        </p:nvSpPr>
        <p:spPr>
          <a:xfrm>
            <a:off x="10971360" y="0"/>
            <a:ext cx="360" cy="6858000"/>
          </a:xfrm>
          <a:prstGeom prst="line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0" tIns="45000" rIns="0" bIns="45000" anchor="t" anchorCtr="1">
            <a:noAutofit/>
          </a:bodyPr>
          <a:p>
            <a:endParaRPr lang="fr-FR" sz="1800" b="0" u="none" strike="noStrike">
              <a:solidFill>
                <a:srgbClr val="FFFFFF"/>
              </a:solidFill>
              <a:effectLst/>
              <a:uFillTx/>
              <a:latin typeface="Roboto"/>
            </a:endParaRPr>
          </a:p>
        </p:txBody>
      </p:sp>
      <p:sp>
        <p:nvSpPr>
          <p:cNvPr id="400" name="Shape 37"/>
          <p:cNvSpPr/>
          <p:nvPr/>
        </p:nvSpPr>
        <p:spPr>
          <a:xfrm>
            <a:off x="11276280" y="0"/>
            <a:ext cx="360" cy="6858000"/>
          </a:xfrm>
          <a:prstGeom prst="line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0" tIns="45000" rIns="0" bIns="45000" anchor="t" anchorCtr="1">
            <a:noAutofit/>
          </a:bodyPr>
          <a:p>
            <a:endParaRPr lang="fr-FR" sz="1800" b="0" u="none" strike="noStrike">
              <a:solidFill>
                <a:srgbClr val="FFFFFF"/>
              </a:solidFill>
              <a:effectLst/>
              <a:uFillTx/>
              <a:latin typeface="Roboto"/>
            </a:endParaRPr>
          </a:p>
        </p:txBody>
      </p:sp>
      <p:sp>
        <p:nvSpPr>
          <p:cNvPr id="401" name="Shape 38"/>
          <p:cNvSpPr/>
          <p:nvPr/>
        </p:nvSpPr>
        <p:spPr>
          <a:xfrm>
            <a:off x="11581200" y="0"/>
            <a:ext cx="360" cy="6858000"/>
          </a:xfrm>
          <a:prstGeom prst="line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0" tIns="45000" rIns="0" bIns="45000" anchor="t" anchorCtr="1">
            <a:noAutofit/>
          </a:bodyPr>
          <a:p>
            <a:endParaRPr lang="fr-FR" sz="1800" b="0" u="none" strike="noStrike">
              <a:solidFill>
                <a:srgbClr val="FFFFFF"/>
              </a:solidFill>
              <a:effectLst/>
              <a:uFillTx/>
              <a:latin typeface="Roboto"/>
            </a:endParaRPr>
          </a:p>
        </p:txBody>
      </p:sp>
      <p:sp>
        <p:nvSpPr>
          <p:cNvPr id="402" name="Shape 39"/>
          <p:cNvSpPr/>
          <p:nvPr/>
        </p:nvSpPr>
        <p:spPr>
          <a:xfrm>
            <a:off x="11885760" y="0"/>
            <a:ext cx="360" cy="6858000"/>
          </a:xfrm>
          <a:prstGeom prst="line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0" tIns="45000" rIns="0" bIns="45000" anchor="t" anchorCtr="1">
            <a:noAutofit/>
          </a:bodyPr>
          <a:p>
            <a:endParaRPr lang="fr-FR" sz="1800" b="0" u="none" strike="noStrike">
              <a:solidFill>
                <a:srgbClr val="FFFFFF"/>
              </a:solidFill>
              <a:effectLst/>
              <a:uFillTx/>
              <a:latin typeface="Roboto"/>
            </a:endParaRPr>
          </a:p>
        </p:txBody>
      </p:sp>
      <p:sp>
        <p:nvSpPr>
          <p:cNvPr id="403" name="Shape 40"/>
          <p:cNvSpPr/>
          <p:nvPr/>
        </p:nvSpPr>
        <p:spPr>
          <a:xfrm>
            <a:off x="12190680" y="0"/>
            <a:ext cx="360" cy="6858000"/>
          </a:xfrm>
          <a:prstGeom prst="line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0" tIns="45000" rIns="0" bIns="45000" anchor="t" anchorCtr="1">
            <a:noAutofit/>
          </a:bodyPr>
          <a:p>
            <a:endParaRPr lang="fr-FR" sz="1800" b="0" u="none" strike="noStrike">
              <a:solidFill>
                <a:srgbClr val="FFFFFF"/>
              </a:solidFill>
              <a:effectLst/>
              <a:uFillTx/>
              <a:latin typeface="Roboto"/>
            </a:endParaRPr>
          </a:p>
        </p:txBody>
      </p:sp>
      <p:sp>
        <p:nvSpPr>
          <p:cNvPr id="404" name="Shape 41"/>
          <p:cNvSpPr/>
          <p:nvPr/>
        </p:nvSpPr>
        <p:spPr>
          <a:xfrm>
            <a:off x="0" y="0"/>
            <a:ext cx="12191400" cy="360"/>
          </a:xfrm>
          <a:prstGeom prst="line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fr-FR" sz="1800" b="0" u="none" strike="noStrike">
              <a:solidFill>
                <a:srgbClr val="FFFFFF"/>
              </a:solidFill>
              <a:effectLst/>
              <a:uFillTx/>
              <a:latin typeface="Roboto"/>
            </a:endParaRPr>
          </a:p>
        </p:txBody>
      </p:sp>
      <p:sp>
        <p:nvSpPr>
          <p:cNvPr id="405" name="Shape 42"/>
          <p:cNvSpPr/>
          <p:nvPr/>
        </p:nvSpPr>
        <p:spPr>
          <a:xfrm>
            <a:off x="0" y="304560"/>
            <a:ext cx="12191400" cy="360"/>
          </a:xfrm>
          <a:prstGeom prst="line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fr-FR" sz="1800" b="0" u="none" strike="noStrike">
              <a:solidFill>
                <a:srgbClr val="FFFFFF"/>
              </a:solidFill>
              <a:effectLst/>
              <a:uFillTx/>
              <a:latin typeface="Roboto"/>
            </a:endParaRPr>
          </a:p>
        </p:txBody>
      </p:sp>
      <p:sp>
        <p:nvSpPr>
          <p:cNvPr id="406" name="Shape 43"/>
          <p:cNvSpPr/>
          <p:nvPr/>
        </p:nvSpPr>
        <p:spPr>
          <a:xfrm>
            <a:off x="0" y="609480"/>
            <a:ext cx="12191400" cy="360"/>
          </a:xfrm>
          <a:prstGeom prst="line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fr-FR" sz="1800" b="0" u="none" strike="noStrike">
              <a:solidFill>
                <a:srgbClr val="FFFFFF"/>
              </a:solidFill>
              <a:effectLst/>
              <a:uFillTx/>
              <a:latin typeface="Roboto"/>
            </a:endParaRPr>
          </a:p>
        </p:txBody>
      </p:sp>
      <p:sp>
        <p:nvSpPr>
          <p:cNvPr id="407" name="Shape 44"/>
          <p:cNvSpPr/>
          <p:nvPr/>
        </p:nvSpPr>
        <p:spPr>
          <a:xfrm>
            <a:off x="0" y="914040"/>
            <a:ext cx="12191400" cy="360"/>
          </a:xfrm>
          <a:prstGeom prst="line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fr-FR" sz="1800" b="0" u="none" strike="noStrike">
              <a:solidFill>
                <a:srgbClr val="FFFFFF"/>
              </a:solidFill>
              <a:effectLst/>
              <a:uFillTx/>
              <a:latin typeface="Roboto"/>
            </a:endParaRPr>
          </a:p>
        </p:txBody>
      </p:sp>
      <p:sp>
        <p:nvSpPr>
          <p:cNvPr id="408" name="Shape 45"/>
          <p:cNvSpPr/>
          <p:nvPr/>
        </p:nvSpPr>
        <p:spPr>
          <a:xfrm>
            <a:off x="0" y="1218960"/>
            <a:ext cx="12191400" cy="360"/>
          </a:xfrm>
          <a:prstGeom prst="line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fr-FR" sz="1800" b="0" u="none" strike="noStrike">
              <a:solidFill>
                <a:srgbClr val="FFFFFF"/>
              </a:solidFill>
              <a:effectLst/>
              <a:uFillTx/>
              <a:latin typeface="Roboto"/>
            </a:endParaRPr>
          </a:p>
        </p:txBody>
      </p:sp>
      <p:sp>
        <p:nvSpPr>
          <p:cNvPr id="409" name="Shape 46"/>
          <p:cNvSpPr/>
          <p:nvPr/>
        </p:nvSpPr>
        <p:spPr>
          <a:xfrm>
            <a:off x="0" y="1523520"/>
            <a:ext cx="12191400" cy="360"/>
          </a:xfrm>
          <a:prstGeom prst="line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fr-FR" sz="1800" b="0" u="none" strike="noStrike">
              <a:solidFill>
                <a:srgbClr val="FFFFFF"/>
              </a:solidFill>
              <a:effectLst/>
              <a:uFillTx/>
              <a:latin typeface="Roboto"/>
            </a:endParaRPr>
          </a:p>
        </p:txBody>
      </p:sp>
      <p:sp>
        <p:nvSpPr>
          <p:cNvPr id="410" name="Shape 47"/>
          <p:cNvSpPr/>
          <p:nvPr/>
        </p:nvSpPr>
        <p:spPr>
          <a:xfrm>
            <a:off x="0" y="1828440"/>
            <a:ext cx="12191400" cy="360"/>
          </a:xfrm>
          <a:prstGeom prst="line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fr-FR" sz="1800" b="0" u="none" strike="noStrike">
              <a:solidFill>
                <a:srgbClr val="FFFFFF"/>
              </a:solidFill>
              <a:effectLst/>
              <a:uFillTx/>
              <a:latin typeface="Roboto"/>
            </a:endParaRPr>
          </a:p>
        </p:txBody>
      </p:sp>
      <p:sp>
        <p:nvSpPr>
          <p:cNvPr id="411" name="Shape 48"/>
          <p:cNvSpPr/>
          <p:nvPr/>
        </p:nvSpPr>
        <p:spPr>
          <a:xfrm>
            <a:off x="0" y="2133360"/>
            <a:ext cx="12191400" cy="360"/>
          </a:xfrm>
          <a:prstGeom prst="line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fr-FR" sz="1800" b="0" u="none" strike="noStrike">
              <a:solidFill>
                <a:srgbClr val="FFFFFF"/>
              </a:solidFill>
              <a:effectLst/>
              <a:uFillTx/>
              <a:latin typeface="Roboto"/>
            </a:endParaRPr>
          </a:p>
        </p:txBody>
      </p:sp>
      <p:sp>
        <p:nvSpPr>
          <p:cNvPr id="412" name="Shape 49"/>
          <p:cNvSpPr/>
          <p:nvPr/>
        </p:nvSpPr>
        <p:spPr>
          <a:xfrm>
            <a:off x="0" y="2437920"/>
            <a:ext cx="12191400" cy="360"/>
          </a:xfrm>
          <a:prstGeom prst="line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fr-FR" sz="1800" b="0" u="none" strike="noStrike">
              <a:solidFill>
                <a:srgbClr val="FFFFFF"/>
              </a:solidFill>
              <a:effectLst/>
              <a:uFillTx/>
              <a:latin typeface="Roboto"/>
            </a:endParaRPr>
          </a:p>
        </p:txBody>
      </p:sp>
      <p:sp>
        <p:nvSpPr>
          <p:cNvPr id="413" name="Shape 50"/>
          <p:cNvSpPr/>
          <p:nvPr/>
        </p:nvSpPr>
        <p:spPr>
          <a:xfrm>
            <a:off x="0" y="2742840"/>
            <a:ext cx="12191400" cy="360"/>
          </a:xfrm>
          <a:prstGeom prst="line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fr-FR" sz="1800" b="0" u="none" strike="noStrike">
              <a:solidFill>
                <a:srgbClr val="FFFFFF"/>
              </a:solidFill>
              <a:effectLst/>
              <a:uFillTx/>
              <a:latin typeface="Roboto"/>
            </a:endParaRPr>
          </a:p>
        </p:txBody>
      </p:sp>
      <p:sp>
        <p:nvSpPr>
          <p:cNvPr id="414" name="Shape 51"/>
          <p:cNvSpPr/>
          <p:nvPr/>
        </p:nvSpPr>
        <p:spPr>
          <a:xfrm>
            <a:off x="0" y="3047400"/>
            <a:ext cx="12191400" cy="360"/>
          </a:xfrm>
          <a:prstGeom prst="line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fr-FR" sz="1800" b="0" u="none" strike="noStrike">
              <a:solidFill>
                <a:srgbClr val="FFFFFF"/>
              </a:solidFill>
              <a:effectLst/>
              <a:uFillTx/>
              <a:latin typeface="Roboto"/>
            </a:endParaRPr>
          </a:p>
        </p:txBody>
      </p:sp>
      <p:sp>
        <p:nvSpPr>
          <p:cNvPr id="415" name="Shape 52"/>
          <p:cNvSpPr/>
          <p:nvPr/>
        </p:nvSpPr>
        <p:spPr>
          <a:xfrm>
            <a:off x="0" y="3352320"/>
            <a:ext cx="12191400" cy="360"/>
          </a:xfrm>
          <a:prstGeom prst="line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fr-FR" sz="1800" b="0" u="none" strike="noStrike">
              <a:solidFill>
                <a:srgbClr val="FFFFFF"/>
              </a:solidFill>
              <a:effectLst/>
              <a:uFillTx/>
              <a:latin typeface="Roboto"/>
            </a:endParaRPr>
          </a:p>
        </p:txBody>
      </p:sp>
      <p:sp>
        <p:nvSpPr>
          <p:cNvPr id="416" name="Shape 53"/>
          <p:cNvSpPr/>
          <p:nvPr/>
        </p:nvSpPr>
        <p:spPr>
          <a:xfrm>
            <a:off x="0" y="3656880"/>
            <a:ext cx="12191400" cy="360"/>
          </a:xfrm>
          <a:prstGeom prst="line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fr-FR" sz="1800" b="0" u="none" strike="noStrike">
              <a:solidFill>
                <a:srgbClr val="FFFFFF"/>
              </a:solidFill>
              <a:effectLst/>
              <a:uFillTx/>
              <a:latin typeface="Roboto"/>
            </a:endParaRPr>
          </a:p>
        </p:txBody>
      </p:sp>
      <p:sp>
        <p:nvSpPr>
          <p:cNvPr id="417" name="Shape 54"/>
          <p:cNvSpPr/>
          <p:nvPr/>
        </p:nvSpPr>
        <p:spPr>
          <a:xfrm>
            <a:off x="0" y="3961800"/>
            <a:ext cx="12191400" cy="360"/>
          </a:xfrm>
          <a:prstGeom prst="line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fr-FR" sz="1800" b="0" u="none" strike="noStrike">
              <a:solidFill>
                <a:srgbClr val="FFFFFF"/>
              </a:solidFill>
              <a:effectLst/>
              <a:uFillTx/>
              <a:latin typeface="Roboto"/>
            </a:endParaRPr>
          </a:p>
        </p:txBody>
      </p:sp>
      <p:sp>
        <p:nvSpPr>
          <p:cNvPr id="418" name="Shape 55"/>
          <p:cNvSpPr/>
          <p:nvPr/>
        </p:nvSpPr>
        <p:spPr>
          <a:xfrm>
            <a:off x="0" y="4266720"/>
            <a:ext cx="12191400" cy="360"/>
          </a:xfrm>
          <a:prstGeom prst="line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fr-FR" sz="1800" b="0" u="none" strike="noStrike">
              <a:solidFill>
                <a:srgbClr val="FFFFFF"/>
              </a:solidFill>
              <a:effectLst/>
              <a:uFillTx/>
              <a:latin typeface="Roboto"/>
            </a:endParaRPr>
          </a:p>
        </p:txBody>
      </p:sp>
      <p:sp>
        <p:nvSpPr>
          <p:cNvPr id="419" name="Shape 56"/>
          <p:cNvSpPr/>
          <p:nvPr/>
        </p:nvSpPr>
        <p:spPr>
          <a:xfrm>
            <a:off x="0" y="4571280"/>
            <a:ext cx="12191400" cy="360"/>
          </a:xfrm>
          <a:prstGeom prst="line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fr-FR" sz="1800" b="0" u="none" strike="noStrike">
              <a:solidFill>
                <a:srgbClr val="FFFFFF"/>
              </a:solidFill>
              <a:effectLst/>
              <a:uFillTx/>
              <a:latin typeface="Roboto"/>
            </a:endParaRPr>
          </a:p>
        </p:txBody>
      </p:sp>
      <p:sp>
        <p:nvSpPr>
          <p:cNvPr id="420" name="Shape 57"/>
          <p:cNvSpPr/>
          <p:nvPr/>
        </p:nvSpPr>
        <p:spPr>
          <a:xfrm>
            <a:off x="0" y="4876200"/>
            <a:ext cx="12191400" cy="360"/>
          </a:xfrm>
          <a:prstGeom prst="line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fr-FR" sz="1800" b="0" u="none" strike="noStrike">
              <a:solidFill>
                <a:srgbClr val="FFFFFF"/>
              </a:solidFill>
              <a:effectLst/>
              <a:uFillTx/>
              <a:latin typeface="Roboto"/>
            </a:endParaRPr>
          </a:p>
        </p:txBody>
      </p:sp>
      <p:sp>
        <p:nvSpPr>
          <p:cNvPr id="421" name="Shape 58"/>
          <p:cNvSpPr/>
          <p:nvPr/>
        </p:nvSpPr>
        <p:spPr>
          <a:xfrm>
            <a:off x="0" y="5180760"/>
            <a:ext cx="12191400" cy="360"/>
          </a:xfrm>
          <a:prstGeom prst="line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fr-FR" sz="1800" b="0" u="none" strike="noStrike">
              <a:solidFill>
                <a:srgbClr val="FFFFFF"/>
              </a:solidFill>
              <a:effectLst/>
              <a:uFillTx/>
              <a:latin typeface="Roboto"/>
            </a:endParaRPr>
          </a:p>
        </p:txBody>
      </p:sp>
      <p:sp>
        <p:nvSpPr>
          <p:cNvPr id="422" name="Shape 59"/>
          <p:cNvSpPr/>
          <p:nvPr/>
        </p:nvSpPr>
        <p:spPr>
          <a:xfrm>
            <a:off x="0" y="5485680"/>
            <a:ext cx="12191400" cy="360"/>
          </a:xfrm>
          <a:prstGeom prst="line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fr-FR" sz="1800" b="0" u="none" strike="noStrike">
              <a:solidFill>
                <a:srgbClr val="FFFFFF"/>
              </a:solidFill>
              <a:effectLst/>
              <a:uFillTx/>
              <a:latin typeface="Roboto"/>
            </a:endParaRPr>
          </a:p>
        </p:txBody>
      </p:sp>
      <p:sp>
        <p:nvSpPr>
          <p:cNvPr id="423" name="Shape 60"/>
          <p:cNvSpPr/>
          <p:nvPr/>
        </p:nvSpPr>
        <p:spPr>
          <a:xfrm>
            <a:off x="0" y="5790600"/>
            <a:ext cx="12191400" cy="360"/>
          </a:xfrm>
          <a:prstGeom prst="line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fr-FR" sz="1800" b="0" u="none" strike="noStrike">
              <a:solidFill>
                <a:srgbClr val="FFFFFF"/>
              </a:solidFill>
              <a:effectLst/>
              <a:uFillTx/>
              <a:latin typeface="Roboto"/>
            </a:endParaRPr>
          </a:p>
        </p:txBody>
      </p:sp>
      <p:sp>
        <p:nvSpPr>
          <p:cNvPr id="424" name="Shape 61"/>
          <p:cNvSpPr/>
          <p:nvPr/>
        </p:nvSpPr>
        <p:spPr>
          <a:xfrm>
            <a:off x="0" y="6095160"/>
            <a:ext cx="12191400" cy="360"/>
          </a:xfrm>
          <a:prstGeom prst="line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fr-FR" sz="1800" b="0" u="none" strike="noStrike">
              <a:solidFill>
                <a:srgbClr val="FFFFFF"/>
              </a:solidFill>
              <a:effectLst/>
              <a:uFillTx/>
              <a:latin typeface="Roboto"/>
            </a:endParaRPr>
          </a:p>
        </p:txBody>
      </p:sp>
      <p:sp>
        <p:nvSpPr>
          <p:cNvPr id="425" name="Shape 62"/>
          <p:cNvSpPr/>
          <p:nvPr/>
        </p:nvSpPr>
        <p:spPr>
          <a:xfrm>
            <a:off x="0" y="6400080"/>
            <a:ext cx="12191400" cy="360"/>
          </a:xfrm>
          <a:prstGeom prst="line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fr-FR" sz="1800" b="0" u="none" strike="noStrike">
              <a:solidFill>
                <a:srgbClr val="FFFFFF"/>
              </a:solidFill>
              <a:effectLst/>
              <a:uFillTx/>
              <a:latin typeface="Roboto"/>
            </a:endParaRPr>
          </a:p>
        </p:txBody>
      </p:sp>
      <p:sp>
        <p:nvSpPr>
          <p:cNvPr id="426" name="Shape 63"/>
          <p:cNvSpPr/>
          <p:nvPr/>
        </p:nvSpPr>
        <p:spPr>
          <a:xfrm>
            <a:off x="0" y="6704640"/>
            <a:ext cx="12191400" cy="360"/>
          </a:xfrm>
          <a:prstGeom prst="line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fr-FR" sz="1800" b="0" u="none" strike="noStrike">
              <a:solidFill>
                <a:srgbClr val="FFFFFF"/>
              </a:solidFill>
              <a:effectLst/>
              <a:uFillTx/>
              <a:latin typeface="Roboto"/>
            </a:endParaRPr>
          </a:p>
        </p:txBody>
      </p:sp>
      <p:sp>
        <p:nvSpPr>
          <p:cNvPr id="427" name="Text 64"/>
          <p:cNvSpPr/>
          <p:nvPr/>
        </p:nvSpPr>
        <p:spPr>
          <a:xfrm>
            <a:off x="457200" y="384120"/>
            <a:ext cx="9141840" cy="253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pc="201" strike="noStrike">
                <a:solidFill>
                  <a:srgbClr val="F2A65A"/>
                </a:solidFill>
                <a:effectLst/>
                <a:uFillTx/>
                <a:latin typeface="Roboto"/>
                <a:ea typeface="Roboto"/>
              </a:rPr>
              <a:t>02 · EXPLORATORY ANALYSIS</a:t>
            </a:r>
            <a:endParaRPr lang="fr-FR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28" name="Text 65"/>
          <p:cNvSpPr/>
          <p:nvPr/>
        </p:nvSpPr>
        <p:spPr>
          <a:xfrm>
            <a:off x="457200" y="640080"/>
            <a:ext cx="10513440" cy="54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000" b="1" u="none" strike="noStrike">
                <a:solidFill>
                  <a:srgbClr val="FFFFFF"/>
                </a:solidFill>
                <a:effectLst/>
                <a:uFillTx/>
                <a:latin typeface="Roboto"/>
                <a:ea typeface="Roboto"/>
              </a:rPr>
              <a:t>Stated Preferences by Gender</a:t>
            </a:r>
            <a:endParaRPr lang="fr-FR" sz="3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29" name="Shape 66"/>
          <p:cNvSpPr/>
          <p:nvPr/>
        </p:nvSpPr>
        <p:spPr>
          <a:xfrm>
            <a:off x="457200" y="1280160"/>
            <a:ext cx="6947280" cy="4752720"/>
          </a:xfrm>
          <a:prstGeom prst="roundRect">
            <a:avLst>
              <a:gd name="adj" fmla="val 1731"/>
            </a:avLst>
          </a:prstGeom>
          <a:solidFill>
            <a:srgbClr val="263559"/>
          </a:solidFill>
          <a:ln w="12700">
            <a:solidFill>
              <a:srgbClr val="3D4B72"/>
            </a:solidFill>
            <a:round/>
          </a:ln>
          <a:effectLst>
            <a:outerShdw algn="bl" blurRad="101520" dir="5400000" dist="38160" kx="0" ky="0" rotWithShape="0" sx="100000" sy="10000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fr-FR" sz="1800" b="0" u="none" strike="noStrike">
              <a:solidFill>
                <a:srgbClr val="FFFFFF"/>
              </a:solidFill>
              <a:effectLst/>
              <a:uFillTx/>
              <a:latin typeface="Roboto"/>
            </a:endParaRPr>
          </a:p>
        </p:txBody>
      </p:sp>
      <p:sp>
        <p:nvSpPr>
          <p:cNvPr id="430" name="Shape 67"/>
          <p:cNvSpPr/>
          <p:nvPr/>
        </p:nvSpPr>
        <p:spPr>
          <a:xfrm>
            <a:off x="7589520" y="1280160"/>
            <a:ext cx="4140000" cy="4752720"/>
          </a:xfrm>
          <a:prstGeom prst="roundRect">
            <a:avLst>
              <a:gd name="adj" fmla="val 1987"/>
            </a:avLst>
          </a:prstGeom>
          <a:solidFill>
            <a:srgbClr val="263659"/>
          </a:solidFill>
          <a:ln w="12700">
            <a:solidFill>
              <a:srgbClr val="3D4B72"/>
            </a:solidFill>
            <a:round/>
          </a:ln>
          <a:effectLst>
            <a:outerShdw algn="bl" blurRad="101520" dir="5400000" dist="38160" kx="0" ky="0" rotWithShape="0" sx="100000" sy="10000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fr-FR" sz="1800" b="0" u="none" strike="noStrike">
              <a:solidFill>
                <a:srgbClr val="FFFFFF"/>
              </a:solidFill>
              <a:effectLst/>
              <a:uFillTx/>
              <a:latin typeface="Roboto"/>
            </a:endParaRPr>
          </a:p>
        </p:txBody>
      </p:sp>
      <p:sp>
        <p:nvSpPr>
          <p:cNvPr id="431" name="Text 68"/>
          <p:cNvSpPr/>
          <p:nvPr/>
        </p:nvSpPr>
        <p:spPr>
          <a:xfrm>
            <a:off x="7863840" y="1527120"/>
            <a:ext cx="3655440" cy="27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pc="150" strike="noStrike">
                <a:solidFill>
                  <a:srgbClr val="F2A65A"/>
                </a:solidFill>
                <a:effectLst/>
                <a:uFillTx/>
                <a:latin typeface="Roboto"/>
                <a:ea typeface="Roboto"/>
              </a:rPr>
              <a:t>WHAT IT MEANS</a:t>
            </a:r>
            <a:endParaRPr lang="fr-FR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32" name="Text 69"/>
          <p:cNvSpPr/>
          <p:nvPr/>
        </p:nvSpPr>
        <p:spPr>
          <a:xfrm>
            <a:off x="7863840" y="1965960"/>
            <a:ext cx="3655440" cy="4112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marL="177840" indent="-177840" defTabSz="914400">
              <a:lnSpc>
                <a:spcPct val="135000"/>
              </a:lnSpc>
              <a:spcAft>
                <a:spcPts val="1599"/>
              </a:spcAft>
              <a:buClr>
                <a:srgbClr val="FFFFFF"/>
              </a:buClr>
              <a:buFont typeface="Symbol" charset="2"/>
              <a:buChar char=""/>
            </a:pPr>
            <a:r>
              <a:rPr lang="en-US" sz="1300" b="0" u="none" strike="noStrike">
                <a:solidFill>
                  <a:srgbClr val="FFFFFF"/>
                </a:solidFill>
                <a:effectLst/>
                <a:uFillTx/>
                <a:latin typeface="Roboto"/>
                <a:ea typeface="Roboto"/>
              </a:rPr>
              <a:t>Men state that attractiveness is their top priority by a clear margin, nearly double their weight on ambition or shared interests.</a:t>
            </a:r>
            <a:endParaRPr lang="fr-FR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177840" indent="-177840" defTabSz="914400">
              <a:lnSpc>
                <a:spcPct val="135000"/>
              </a:lnSpc>
              <a:spcAft>
                <a:spcPts val="1599"/>
              </a:spcAft>
              <a:buClr>
                <a:srgbClr val="FFFFFF"/>
              </a:buClr>
              <a:buFont typeface="Symbol" charset="2"/>
              <a:buChar char=""/>
            </a:pPr>
            <a:r>
              <a:rPr lang="en-US" sz="1300" b="0" u="none" strike="noStrike">
                <a:solidFill>
                  <a:srgbClr val="FFFFFF"/>
                </a:solidFill>
                <a:effectLst/>
                <a:uFillTx/>
                <a:latin typeface="Roboto"/>
                <a:ea typeface="Roboto"/>
              </a:rPr>
              <a:t>Women spread preferences more evenly across intelligence, sincerity, attractiveness and fun.</a:t>
            </a:r>
            <a:endParaRPr lang="fr-FR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177840" indent="-177840" defTabSz="914400">
              <a:lnSpc>
                <a:spcPct val="135000"/>
              </a:lnSpc>
              <a:spcAft>
                <a:spcPts val="1599"/>
              </a:spcAft>
              <a:buClr>
                <a:srgbClr val="FFFFFF"/>
              </a:buClr>
              <a:buFont typeface="Symbol" charset="2"/>
              <a:buChar char=""/>
            </a:pPr>
            <a:r>
              <a:rPr lang="en-US" sz="1300" b="0" u="none" strike="noStrike">
                <a:solidFill>
                  <a:srgbClr val="FFFFFF"/>
                </a:solidFill>
                <a:effectLst/>
                <a:uFillTx/>
                <a:latin typeface="Roboto"/>
                <a:ea typeface="Roboto"/>
              </a:rPr>
              <a:t>Ambition and shared interests rank lowest for both genders, but as we'll see, stated importance and actual behavior diverge sharply here.</a:t>
            </a:r>
            <a:endParaRPr lang="fr-FR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33" name="Shape 70"/>
          <p:cNvSpPr/>
          <p:nvPr/>
        </p:nvSpPr>
        <p:spPr>
          <a:xfrm>
            <a:off x="548640" y="6263640"/>
            <a:ext cx="11091600" cy="360"/>
          </a:xfrm>
          <a:prstGeom prst="line">
            <a:avLst/>
          </a:prstGeom>
          <a:ln w="12700">
            <a:solidFill>
              <a:srgbClr val="3D4B7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fr-FR" sz="1800" b="0" u="none" strike="noStrike">
              <a:solidFill>
                <a:srgbClr val="FFFFFF"/>
              </a:solidFill>
              <a:effectLst/>
              <a:uFillTx/>
              <a:latin typeface="Roboto"/>
            </a:endParaRPr>
          </a:p>
        </p:txBody>
      </p:sp>
      <p:sp>
        <p:nvSpPr>
          <p:cNvPr id="434" name="Text 71"/>
          <p:cNvSpPr/>
          <p:nvPr/>
        </p:nvSpPr>
        <p:spPr>
          <a:xfrm>
            <a:off x="457200" y="6355080"/>
            <a:ext cx="8227440" cy="27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5C6684"/>
                </a:solidFill>
                <a:effectLst/>
                <a:uFillTx/>
                <a:latin typeface="Roboto"/>
                <a:ea typeface="Roboto"/>
              </a:rPr>
              <a:t>Speed dating experiment · Attraction, preferences &amp; machine learning</a:t>
            </a:r>
            <a:endParaRPr lang="fr-FR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35" name="Text 72"/>
          <p:cNvSpPr/>
          <p:nvPr/>
        </p:nvSpPr>
        <p:spPr>
          <a:xfrm>
            <a:off x="11274480" y="6355080"/>
            <a:ext cx="455040" cy="27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5C6684"/>
                </a:solidFill>
                <a:effectLst/>
                <a:uFillTx/>
                <a:latin typeface="Roboto"/>
                <a:ea typeface="Roboto"/>
              </a:rPr>
              <a:t>05</a:t>
            </a:r>
            <a:endParaRPr lang="fr-FR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36" name="Chart1Title 1"/>
          <p:cNvSpPr/>
          <p:nvPr/>
        </p:nvSpPr>
        <p:spPr>
          <a:xfrm>
            <a:off x="2340000" y="1380960"/>
            <a:ext cx="323172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FFFFFF"/>
                </a:solidFill>
                <a:effectLst/>
                <a:uFillTx/>
                <a:latin typeface="Roboto"/>
                <a:ea typeface="Roboto"/>
              </a:rPr>
              <a:t>Stated attributes Preferences by Gender</a:t>
            </a:r>
            <a:endParaRPr lang="fr-FR" sz="12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437" name=""/>
          <p:cNvPicPr/>
          <p:nvPr/>
        </p:nvPicPr>
        <p:blipFill>
          <a:blip r:embed="rId1"/>
          <a:stretch/>
        </p:blipFill>
        <p:spPr>
          <a:xfrm>
            <a:off x="1441800" y="1664280"/>
            <a:ext cx="4978440" cy="426708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8" name="Shape 0"/>
          <p:cNvSpPr/>
          <p:nvPr/>
        </p:nvSpPr>
        <p:spPr>
          <a:xfrm>
            <a:off x="0" y="0"/>
            <a:ext cx="360" cy="6858000"/>
          </a:xfrm>
          <a:prstGeom prst="line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0" tIns="45000" rIns="0" bIns="45000" anchor="t" anchorCtr="1">
            <a:noAutofit/>
          </a:bodyPr>
          <a:p>
            <a:endParaRPr lang="fr-FR" sz="1800" b="0" u="none" strike="noStrike">
              <a:solidFill>
                <a:srgbClr val="FFFFFF"/>
              </a:solidFill>
              <a:effectLst/>
              <a:uFillTx/>
              <a:latin typeface="Roboto"/>
            </a:endParaRPr>
          </a:p>
        </p:txBody>
      </p:sp>
      <p:sp>
        <p:nvSpPr>
          <p:cNvPr id="439" name="Shape 1"/>
          <p:cNvSpPr/>
          <p:nvPr/>
        </p:nvSpPr>
        <p:spPr>
          <a:xfrm>
            <a:off x="304560" y="0"/>
            <a:ext cx="360" cy="6858000"/>
          </a:xfrm>
          <a:prstGeom prst="line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0" tIns="45000" rIns="0" bIns="45000" anchor="t" anchorCtr="1">
            <a:noAutofit/>
          </a:bodyPr>
          <a:p>
            <a:endParaRPr lang="fr-FR" sz="1800" b="0" u="none" strike="noStrike">
              <a:solidFill>
                <a:srgbClr val="FFFFFF"/>
              </a:solidFill>
              <a:effectLst/>
              <a:uFillTx/>
              <a:latin typeface="Roboto"/>
            </a:endParaRPr>
          </a:p>
        </p:txBody>
      </p:sp>
      <p:sp>
        <p:nvSpPr>
          <p:cNvPr id="440" name="Shape 2"/>
          <p:cNvSpPr/>
          <p:nvPr/>
        </p:nvSpPr>
        <p:spPr>
          <a:xfrm>
            <a:off x="609480" y="0"/>
            <a:ext cx="360" cy="6858000"/>
          </a:xfrm>
          <a:prstGeom prst="line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0" tIns="45000" rIns="0" bIns="45000" anchor="t" anchorCtr="1">
            <a:noAutofit/>
          </a:bodyPr>
          <a:p>
            <a:endParaRPr lang="fr-FR" sz="1800" b="0" u="none" strike="noStrike">
              <a:solidFill>
                <a:srgbClr val="FFFFFF"/>
              </a:solidFill>
              <a:effectLst/>
              <a:uFillTx/>
              <a:latin typeface="Roboto"/>
            </a:endParaRPr>
          </a:p>
        </p:txBody>
      </p:sp>
      <p:sp>
        <p:nvSpPr>
          <p:cNvPr id="441" name="Shape 3"/>
          <p:cNvSpPr/>
          <p:nvPr/>
        </p:nvSpPr>
        <p:spPr>
          <a:xfrm>
            <a:off x="914040" y="0"/>
            <a:ext cx="360" cy="6858000"/>
          </a:xfrm>
          <a:prstGeom prst="line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0" tIns="45000" rIns="0" bIns="45000" anchor="t" anchorCtr="1">
            <a:noAutofit/>
          </a:bodyPr>
          <a:p>
            <a:endParaRPr lang="fr-FR" sz="1800" b="0" u="none" strike="noStrike">
              <a:solidFill>
                <a:srgbClr val="FFFFFF"/>
              </a:solidFill>
              <a:effectLst/>
              <a:uFillTx/>
              <a:latin typeface="Roboto"/>
            </a:endParaRPr>
          </a:p>
        </p:txBody>
      </p:sp>
      <p:sp>
        <p:nvSpPr>
          <p:cNvPr id="442" name="Shape 4"/>
          <p:cNvSpPr/>
          <p:nvPr/>
        </p:nvSpPr>
        <p:spPr>
          <a:xfrm>
            <a:off x="1218960" y="0"/>
            <a:ext cx="360" cy="6858000"/>
          </a:xfrm>
          <a:prstGeom prst="line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0" tIns="45000" rIns="0" bIns="45000" anchor="t" anchorCtr="1">
            <a:noAutofit/>
          </a:bodyPr>
          <a:p>
            <a:endParaRPr lang="fr-FR" sz="1800" b="0" u="none" strike="noStrike">
              <a:solidFill>
                <a:srgbClr val="FFFFFF"/>
              </a:solidFill>
              <a:effectLst/>
              <a:uFillTx/>
              <a:latin typeface="Roboto"/>
            </a:endParaRPr>
          </a:p>
        </p:txBody>
      </p:sp>
      <p:sp>
        <p:nvSpPr>
          <p:cNvPr id="443" name="Shape 5"/>
          <p:cNvSpPr/>
          <p:nvPr/>
        </p:nvSpPr>
        <p:spPr>
          <a:xfrm>
            <a:off x="1523520" y="0"/>
            <a:ext cx="360" cy="6858000"/>
          </a:xfrm>
          <a:prstGeom prst="line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0" tIns="45000" rIns="0" bIns="45000" anchor="t" anchorCtr="1">
            <a:noAutofit/>
          </a:bodyPr>
          <a:p>
            <a:endParaRPr lang="fr-FR" sz="1800" b="0" u="none" strike="noStrike">
              <a:solidFill>
                <a:srgbClr val="FFFFFF"/>
              </a:solidFill>
              <a:effectLst/>
              <a:uFillTx/>
              <a:latin typeface="Roboto"/>
            </a:endParaRPr>
          </a:p>
        </p:txBody>
      </p:sp>
      <p:sp>
        <p:nvSpPr>
          <p:cNvPr id="444" name="Shape 6"/>
          <p:cNvSpPr/>
          <p:nvPr/>
        </p:nvSpPr>
        <p:spPr>
          <a:xfrm>
            <a:off x="1828440" y="0"/>
            <a:ext cx="360" cy="6858000"/>
          </a:xfrm>
          <a:prstGeom prst="line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0" tIns="45000" rIns="0" bIns="45000" anchor="t" anchorCtr="1">
            <a:noAutofit/>
          </a:bodyPr>
          <a:p>
            <a:endParaRPr lang="fr-FR" sz="1800" b="0" u="none" strike="noStrike">
              <a:solidFill>
                <a:srgbClr val="FFFFFF"/>
              </a:solidFill>
              <a:effectLst/>
              <a:uFillTx/>
              <a:latin typeface="Roboto"/>
            </a:endParaRPr>
          </a:p>
        </p:txBody>
      </p:sp>
      <p:sp>
        <p:nvSpPr>
          <p:cNvPr id="445" name="Shape 7"/>
          <p:cNvSpPr/>
          <p:nvPr/>
        </p:nvSpPr>
        <p:spPr>
          <a:xfrm>
            <a:off x="2133360" y="0"/>
            <a:ext cx="360" cy="6858000"/>
          </a:xfrm>
          <a:prstGeom prst="line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0" tIns="45000" rIns="0" bIns="45000" anchor="t" anchorCtr="1">
            <a:noAutofit/>
          </a:bodyPr>
          <a:p>
            <a:endParaRPr lang="fr-FR" sz="1800" b="0" u="none" strike="noStrike">
              <a:solidFill>
                <a:srgbClr val="FFFFFF"/>
              </a:solidFill>
              <a:effectLst/>
              <a:uFillTx/>
              <a:latin typeface="Roboto"/>
            </a:endParaRPr>
          </a:p>
        </p:txBody>
      </p:sp>
      <p:sp>
        <p:nvSpPr>
          <p:cNvPr id="446" name="Shape 8"/>
          <p:cNvSpPr/>
          <p:nvPr/>
        </p:nvSpPr>
        <p:spPr>
          <a:xfrm>
            <a:off x="2437920" y="0"/>
            <a:ext cx="360" cy="6858000"/>
          </a:xfrm>
          <a:prstGeom prst="line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0" tIns="45000" rIns="0" bIns="45000" anchor="t" anchorCtr="1">
            <a:noAutofit/>
          </a:bodyPr>
          <a:p>
            <a:endParaRPr lang="fr-FR" sz="1800" b="0" u="none" strike="noStrike">
              <a:solidFill>
                <a:srgbClr val="FFFFFF"/>
              </a:solidFill>
              <a:effectLst/>
              <a:uFillTx/>
              <a:latin typeface="Roboto"/>
            </a:endParaRPr>
          </a:p>
        </p:txBody>
      </p:sp>
      <p:sp>
        <p:nvSpPr>
          <p:cNvPr id="447" name="Shape 9"/>
          <p:cNvSpPr/>
          <p:nvPr/>
        </p:nvSpPr>
        <p:spPr>
          <a:xfrm>
            <a:off x="2742840" y="0"/>
            <a:ext cx="360" cy="6858000"/>
          </a:xfrm>
          <a:prstGeom prst="line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0" tIns="45000" rIns="0" bIns="45000" anchor="t" anchorCtr="1">
            <a:noAutofit/>
          </a:bodyPr>
          <a:p>
            <a:endParaRPr lang="fr-FR" sz="1800" b="0" u="none" strike="noStrike">
              <a:solidFill>
                <a:srgbClr val="FFFFFF"/>
              </a:solidFill>
              <a:effectLst/>
              <a:uFillTx/>
              <a:latin typeface="Roboto"/>
            </a:endParaRPr>
          </a:p>
        </p:txBody>
      </p:sp>
      <p:sp>
        <p:nvSpPr>
          <p:cNvPr id="448" name="Shape 10"/>
          <p:cNvSpPr/>
          <p:nvPr/>
        </p:nvSpPr>
        <p:spPr>
          <a:xfrm>
            <a:off x="3047400" y="0"/>
            <a:ext cx="360" cy="6858000"/>
          </a:xfrm>
          <a:prstGeom prst="line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0" tIns="45000" rIns="0" bIns="45000" anchor="t" anchorCtr="1">
            <a:noAutofit/>
          </a:bodyPr>
          <a:p>
            <a:endParaRPr lang="fr-FR" sz="1800" b="0" u="none" strike="noStrike">
              <a:solidFill>
                <a:srgbClr val="FFFFFF"/>
              </a:solidFill>
              <a:effectLst/>
              <a:uFillTx/>
              <a:latin typeface="Roboto"/>
            </a:endParaRPr>
          </a:p>
        </p:txBody>
      </p:sp>
      <p:sp>
        <p:nvSpPr>
          <p:cNvPr id="449" name="Shape 11"/>
          <p:cNvSpPr/>
          <p:nvPr/>
        </p:nvSpPr>
        <p:spPr>
          <a:xfrm>
            <a:off x="3352320" y="0"/>
            <a:ext cx="360" cy="6858000"/>
          </a:xfrm>
          <a:prstGeom prst="line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0" tIns="45000" rIns="0" bIns="45000" anchor="t" anchorCtr="1">
            <a:noAutofit/>
          </a:bodyPr>
          <a:p>
            <a:endParaRPr lang="fr-FR" sz="1800" b="0" u="none" strike="noStrike">
              <a:solidFill>
                <a:srgbClr val="FFFFFF"/>
              </a:solidFill>
              <a:effectLst/>
              <a:uFillTx/>
              <a:latin typeface="Roboto"/>
            </a:endParaRPr>
          </a:p>
        </p:txBody>
      </p:sp>
      <p:sp>
        <p:nvSpPr>
          <p:cNvPr id="450" name="Shape 12"/>
          <p:cNvSpPr/>
          <p:nvPr/>
        </p:nvSpPr>
        <p:spPr>
          <a:xfrm>
            <a:off x="3656880" y="0"/>
            <a:ext cx="360" cy="6858000"/>
          </a:xfrm>
          <a:prstGeom prst="line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0" tIns="45000" rIns="0" bIns="45000" anchor="t" anchorCtr="1">
            <a:noAutofit/>
          </a:bodyPr>
          <a:p>
            <a:endParaRPr lang="fr-FR" sz="1800" b="0" u="none" strike="noStrike">
              <a:solidFill>
                <a:srgbClr val="FFFFFF"/>
              </a:solidFill>
              <a:effectLst/>
              <a:uFillTx/>
              <a:latin typeface="Roboto"/>
            </a:endParaRPr>
          </a:p>
        </p:txBody>
      </p:sp>
      <p:sp>
        <p:nvSpPr>
          <p:cNvPr id="451" name="Shape 13"/>
          <p:cNvSpPr/>
          <p:nvPr/>
        </p:nvSpPr>
        <p:spPr>
          <a:xfrm>
            <a:off x="3961800" y="0"/>
            <a:ext cx="360" cy="6858000"/>
          </a:xfrm>
          <a:prstGeom prst="line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0" tIns="45000" rIns="0" bIns="45000" anchor="t" anchorCtr="1">
            <a:noAutofit/>
          </a:bodyPr>
          <a:p>
            <a:endParaRPr lang="fr-FR" sz="1800" b="0" u="none" strike="noStrike">
              <a:solidFill>
                <a:srgbClr val="FFFFFF"/>
              </a:solidFill>
              <a:effectLst/>
              <a:uFillTx/>
              <a:latin typeface="Roboto"/>
            </a:endParaRPr>
          </a:p>
        </p:txBody>
      </p:sp>
      <p:sp>
        <p:nvSpPr>
          <p:cNvPr id="452" name="Shape 14"/>
          <p:cNvSpPr/>
          <p:nvPr/>
        </p:nvSpPr>
        <p:spPr>
          <a:xfrm>
            <a:off x="4266720" y="0"/>
            <a:ext cx="360" cy="6858000"/>
          </a:xfrm>
          <a:prstGeom prst="line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0" tIns="45000" rIns="0" bIns="45000" anchor="t" anchorCtr="1">
            <a:noAutofit/>
          </a:bodyPr>
          <a:p>
            <a:endParaRPr lang="fr-FR" sz="1800" b="0" u="none" strike="noStrike">
              <a:solidFill>
                <a:srgbClr val="FFFFFF"/>
              </a:solidFill>
              <a:effectLst/>
              <a:uFillTx/>
              <a:latin typeface="Roboto"/>
            </a:endParaRPr>
          </a:p>
        </p:txBody>
      </p:sp>
      <p:sp>
        <p:nvSpPr>
          <p:cNvPr id="453" name="Shape 15"/>
          <p:cNvSpPr/>
          <p:nvPr/>
        </p:nvSpPr>
        <p:spPr>
          <a:xfrm>
            <a:off x="4571280" y="0"/>
            <a:ext cx="360" cy="6858000"/>
          </a:xfrm>
          <a:prstGeom prst="line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0" tIns="45000" rIns="0" bIns="45000" anchor="t" anchorCtr="1">
            <a:noAutofit/>
          </a:bodyPr>
          <a:p>
            <a:endParaRPr lang="fr-FR" sz="1800" b="0" u="none" strike="noStrike">
              <a:solidFill>
                <a:srgbClr val="FFFFFF"/>
              </a:solidFill>
              <a:effectLst/>
              <a:uFillTx/>
              <a:latin typeface="Roboto"/>
            </a:endParaRPr>
          </a:p>
        </p:txBody>
      </p:sp>
      <p:sp>
        <p:nvSpPr>
          <p:cNvPr id="454" name="Shape 16"/>
          <p:cNvSpPr/>
          <p:nvPr/>
        </p:nvSpPr>
        <p:spPr>
          <a:xfrm>
            <a:off x="4876200" y="0"/>
            <a:ext cx="360" cy="6858000"/>
          </a:xfrm>
          <a:prstGeom prst="line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0" tIns="45000" rIns="0" bIns="45000" anchor="t" anchorCtr="1">
            <a:noAutofit/>
          </a:bodyPr>
          <a:p>
            <a:endParaRPr lang="fr-FR" sz="1800" b="0" u="none" strike="noStrike">
              <a:solidFill>
                <a:srgbClr val="FFFFFF"/>
              </a:solidFill>
              <a:effectLst/>
              <a:uFillTx/>
              <a:latin typeface="Roboto"/>
            </a:endParaRPr>
          </a:p>
        </p:txBody>
      </p:sp>
      <p:sp>
        <p:nvSpPr>
          <p:cNvPr id="455" name="Shape 17"/>
          <p:cNvSpPr/>
          <p:nvPr/>
        </p:nvSpPr>
        <p:spPr>
          <a:xfrm>
            <a:off x="5180760" y="0"/>
            <a:ext cx="360" cy="6858000"/>
          </a:xfrm>
          <a:prstGeom prst="line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0" tIns="45000" rIns="0" bIns="45000" anchor="t" anchorCtr="1">
            <a:noAutofit/>
          </a:bodyPr>
          <a:p>
            <a:endParaRPr lang="fr-FR" sz="1800" b="0" u="none" strike="noStrike">
              <a:solidFill>
                <a:srgbClr val="FFFFFF"/>
              </a:solidFill>
              <a:effectLst/>
              <a:uFillTx/>
              <a:latin typeface="Roboto"/>
            </a:endParaRPr>
          </a:p>
        </p:txBody>
      </p:sp>
      <p:sp>
        <p:nvSpPr>
          <p:cNvPr id="456" name="Shape 18"/>
          <p:cNvSpPr/>
          <p:nvPr/>
        </p:nvSpPr>
        <p:spPr>
          <a:xfrm>
            <a:off x="5485680" y="0"/>
            <a:ext cx="360" cy="6858000"/>
          </a:xfrm>
          <a:prstGeom prst="line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0" tIns="45000" rIns="0" bIns="45000" anchor="t" anchorCtr="1">
            <a:noAutofit/>
          </a:bodyPr>
          <a:p>
            <a:endParaRPr lang="fr-FR" sz="1800" b="0" u="none" strike="noStrike">
              <a:solidFill>
                <a:srgbClr val="FFFFFF"/>
              </a:solidFill>
              <a:effectLst/>
              <a:uFillTx/>
              <a:latin typeface="Roboto"/>
            </a:endParaRPr>
          </a:p>
        </p:txBody>
      </p:sp>
      <p:sp>
        <p:nvSpPr>
          <p:cNvPr id="457" name="Shape 19"/>
          <p:cNvSpPr/>
          <p:nvPr/>
        </p:nvSpPr>
        <p:spPr>
          <a:xfrm>
            <a:off x="5790600" y="0"/>
            <a:ext cx="360" cy="6858000"/>
          </a:xfrm>
          <a:prstGeom prst="line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0" tIns="45000" rIns="0" bIns="45000" anchor="t" anchorCtr="1">
            <a:noAutofit/>
          </a:bodyPr>
          <a:p>
            <a:endParaRPr lang="fr-FR" sz="1800" b="0" u="none" strike="noStrike">
              <a:solidFill>
                <a:srgbClr val="FFFFFF"/>
              </a:solidFill>
              <a:effectLst/>
              <a:uFillTx/>
              <a:latin typeface="Roboto"/>
            </a:endParaRPr>
          </a:p>
        </p:txBody>
      </p:sp>
      <p:sp>
        <p:nvSpPr>
          <p:cNvPr id="458" name="Shape 20"/>
          <p:cNvSpPr/>
          <p:nvPr/>
        </p:nvSpPr>
        <p:spPr>
          <a:xfrm>
            <a:off x="6095160" y="0"/>
            <a:ext cx="360" cy="6858000"/>
          </a:xfrm>
          <a:prstGeom prst="line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0" tIns="45000" rIns="0" bIns="45000" anchor="t" anchorCtr="1">
            <a:noAutofit/>
          </a:bodyPr>
          <a:p>
            <a:endParaRPr lang="fr-FR" sz="1800" b="0" u="none" strike="noStrike">
              <a:solidFill>
                <a:srgbClr val="FFFFFF"/>
              </a:solidFill>
              <a:effectLst/>
              <a:uFillTx/>
              <a:latin typeface="Roboto"/>
            </a:endParaRPr>
          </a:p>
        </p:txBody>
      </p:sp>
      <p:sp>
        <p:nvSpPr>
          <p:cNvPr id="459" name="Shape 21"/>
          <p:cNvSpPr/>
          <p:nvPr/>
        </p:nvSpPr>
        <p:spPr>
          <a:xfrm>
            <a:off x="6400080" y="0"/>
            <a:ext cx="360" cy="6858000"/>
          </a:xfrm>
          <a:prstGeom prst="line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0" tIns="45000" rIns="0" bIns="45000" anchor="t" anchorCtr="1">
            <a:noAutofit/>
          </a:bodyPr>
          <a:p>
            <a:endParaRPr lang="fr-FR" sz="1800" b="0" u="none" strike="noStrike">
              <a:solidFill>
                <a:srgbClr val="FFFFFF"/>
              </a:solidFill>
              <a:effectLst/>
              <a:uFillTx/>
              <a:latin typeface="Roboto"/>
            </a:endParaRPr>
          </a:p>
        </p:txBody>
      </p:sp>
      <p:sp>
        <p:nvSpPr>
          <p:cNvPr id="460" name="Shape 22"/>
          <p:cNvSpPr/>
          <p:nvPr/>
        </p:nvSpPr>
        <p:spPr>
          <a:xfrm>
            <a:off x="6704640" y="0"/>
            <a:ext cx="360" cy="6858000"/>
          </a:xfrm>
          <a:prstGeom prst="line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0" tIns="45000" rIns="0" bIns="45000" anchor="t" anchorCtr="1">
            <a:noAutofit/>
          </a:bodyPr>
          <a:p>
            <a:endParaRPr lang="fr-FR" sz="1800" b="0" u="none" strike="noStrike">
              <a:solidFill>
                <a:srgbClr val="FFFFFF"/>
              </a:solidFill>
              <a:effectLst/>
              <a:uFillTx/>
              <a:latin typeface="Roboto"/>
            </a:endParaRPr>
          </a:p>
        </p:txBody>
      </p:sp>
      <p:sp>
        <p:nvSpPr>
          <p:cNvPr id="461" name="Shape 23"/>
          <p:cNvSpPr/>
          <p:nvPr/>
        </p:nvSpPr>
        <p:spPr>
          <a:xfrm>
            <a:off x="7009560" y="0"/>
            <a:ext cx="360" cy="6858000"/>
          </a:xfrm>
          <a:prstGeom prst="line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0" tIns="45000" rIns="0" bIns="45000" anchor="t" anchorCtr="1">
            <a:noAutofit/>
          </a:bodyPr>
          <a:p>
            <a:endParaRPr lang="fr-FR" sz="1800" b="0" u="none" strike="noStrike">
              <a:solidFill>
                <a:srgbClr val="FFFFFF"/>
              </a:solidFill>
              <a:effectLst/>
              <a:uFillTx/>
              <a:latin typeface="Roboto"/>
            </a:endParaRPr>
          </a:p>
        </p:txBody>
      </p:sp>
      <p:sp>
        <p:nvSpPr>
          <p:cNvPr id="462" name="Shape 24"/>
          <p:cNvSpPr/>
          <p:nvPr/>
        </p:nvSpPr>
        <p:spPr>
          <a:xfrm>
            <a:off x="7314120" y="0"/>
            <a:ext cx="360" cy="6858000"/>
          </a:xfrm>
          <a:prstGeom prst="line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0" tIns="45000" rIns="0" bIns="45000" anchor="t" anchorCtr="1">
            <a:noAutofit/>
          </a:bodyPr>
          <a:p>
            <a:endParaRPr lang="fr-FR" sz="1800" b="0" u="none" strike="noStrike">
              <a:solidFill>
                <a:srgbClr val="FFFFFF"/>
              </a:solidFill>
              <a:effectLst/>
              <a:uFillTx/>
              <a:latin typeface="Roboto"/>
            </a:endParaRPr>
          </a:p>
        </p:txBody>
      </p:sp>
      <p:sp>
        <p:nvSpPr>
          <p:cNvPr id="463" name="Shape 25"/>
          <p:cNvSpPr/>
          <p:nvPr/>
        </p:nvSpPr>
        <p:spPr>
          <a:xfrm>
            <a:off x="7619040" y="0"/>
            <a:ext cx="360" cy="6858000"/>
          </a:xfrm>
          <a:prstGeom prst="line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0" tIns="45000" rIns="0" bIns="45000" anchor="t" anchorCtr="1">
            <a:noAutofit/>
          </a:bodyPr>
          <a:p>
            <a:endParaRPr lang="fr-FR" sz="1800" b="0" u="none" strike="noStrike">
              <a:solidFill>
                <a:srgbClr val="FFFFFF"/>
              </a:solidFill>
              <a:effectLst/>
              <a:uFillTx/>
              <a:latin typeface="Roboto"/>
            </a:endParaRPr>
          </a:p>
        </p:txBody>
      </p:sp>
      <p:sp>
        <p:nvSpPr>
          <p:cNvPr id="464" name="Shape 26"/>
          <p:cNvSpPr/>
          <p:nvPr/>
        </p:nvSpPr>
        <p:spPr>
          <a:xfrm>
            <a:off x="7923960" y="0"/>
            <a:ext cx="360" cy="6858000"/>
          </a:xfrm>
          <a:prstGeom prst="line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0" tIns="45000" rIns="0" bIns="45000" anchor="t" anchorCtr="1">
            <a:noAutofit/>
          </a:bodyPr>
          <a:p>
            <a:endParaRPr lang="fr-FR" sz="1800" b="0" u="none" strike="noStrike">
              <a:solidFill>
                <a:srgbClr val="FFFFFF"/>
              </a:solidFill>
              <a:effectLst/>
              <a:uFillTx/>
              <a:latin typeface="Roboto"/>
            </a:endParaRPr>
          </a:p>
        </p:txBody>
      </p:sp>
      <p:sp>
        <p:nvSpPr>
          <p:cNvPr id="465" name="Shape 27"/>
          <p:cNvSpPr/>
          <p:nvPr/>
        </p:nvSpPr>
        <p:spPr>
          <a:xfrm>
            <a:off x="8228520" y="0"/>
            <a:ext cx="360" cy="6858000"/>
          </a:xfrm>
          <a:prstGeom prst="line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0" tIns="45000" rIns="0" bIns="45000" anchor="t" anchorCtr="1">
            <a:noAutofit/>
          </a:bodyPr>
          <a:p>
            <a:endParaRPr lang="fr-FR" sz="1800" b="0" u="none" strike="noStrike">
              <a:solidFill>
                <a:srgbClr val="FFFFFF"/>
              </a:solidFill>
              <a:effectLst/>
              <a:uFillTx/>
              <a:latin typeface="Roboto"/>
            </a:endParaRPr>
          </a:p>
        </p:txBody>
      </p:sp>
      <p:sp>
        <p:nvSpPr>
          <p:cNvPr id="466" name="Shape 28"/>
          <p:cNvSpPr/>
          <p:nvPr/>
        </p:nvSpPr>
        <p:spPr>
          <a:xfrm>
            <a:off x="8533440" y="0"/>
            <a:ext cx="360" cy="6858000"/>
          </a:xfrm>
          <a:prstGeom prst="line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0" tIns="45000" rIns="0" bIns="45000" anchor="t" anchorCtr="1">
            <a:noAutofit/>
          </a:bodyPr>
          <a:p>
            <a:endParaRPr lang="fr-FR" sz="1800" b="0" u="none" strike="noStrike">
              <a:solidFill>
                <a:srgbClr val="FFFFFF"/>
              </a:solidFill>
              <a:effectLst/>
              <a:uFillTx/>
              <a:latin typeface="Roboto"/>
            </a:endParaRPr>
          </a:p>
        </p:txBody>
      </p:sp>
      <p:sp>
        <p:nvSpPr>
          <p:cNvPr id="467" name="Shape 29"/>
          <p:cNvSpPr/>
          <p:nvPr/>
        </p:nvSpPr>
        <p:spPr>
          <a:xfrm>
            <a:off x="8838000" y="0"/>
            <a:ext cx="360" cy="6858000"/>
          </a:xfrm>
          <a:prstGeom prst="line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0" tIns="45000" rIns="0" bIns="45000" anchor="t" anchorCtr="1">
            <a:noAutofit/>
          </a:bodyPr>
          <a:p>
            <a:endParaRPr lang="fr-FR" sz="1800" b="0" u="none" strike="noStrike">
              <a:solidFill>
                <a:srgbClr val="FFFFFF"/>
              </a:solidFill>
              <a:effectLst/>
              <a:uFillTx/>
              <a:latin typeface="Roboto"/>
            </a:endParaRPr>
          </a:p>
        </p:txBody>
      </p:sp>
      <p:sp>
        <p:nvSpPr>
          <p:cNvPr id="468" name="Shape 30"/>
          <p:cNvSpPr/>
          <p:nvPr/>
        </p:nvSpPr>
        <p:spPr>
          <a:xfrm>
            <a:off x="9142920" y="0"/>
            <a:ext cx="360" cy="6858000"/>
          </a:xfrm>
          <a:prstGeom prst="line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0" tIns="45000" rIns="0" bIns="45000" anchor="t" anchorCtr="1">
            <a:noAutofit/>
          </a:bodyPr>
          <a:p>
            <a:endParaRPr lang="fr-FR" sz="1800" b="0" u="none" strike="noStrike">
              <a:solidFill>
                <a:srgbClr val="FFFFFF"/>
              </a:solidFill>
              <a:effectLst/>
              <a:uFillTx/>
              <a:latin typeface="Roboto"/>
            </a:endParaRPr>
          </a:p>
        </p:txBody>
      </p:sp>
      <p:sp>
        <p:nvSpPr>
          <p:cNvPr id="469" name="Shape 31"/>
          <p:cNvSpPr/>
          <p:nvPr/>
        </p:nvSpPr>
        <p:spPr>
          <a:xfrm>
            <a:off x="9447840" y="0"/>
            <a:ext cx="360" cy="6858000"/>
          </a:xfrm>
          <a:prstGeom prst="line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0" tIns="45000" rIns="0" bIns="45000" anchor="t" anchorCtr="1">
            <a:noAutofit/>
          </a:bodyPr>
          <a:p>
            <a:endParaRPr lang="fr-FR" sz="1800" b="0" u="none" strike="noStrike">
              <a:solidFill>
                <a:srgbClr val="FFFFFF"/>
              </a:solidFill>
              <a:effectLst/>
              <a:uFillTx/>
              <a:latin typeface="Roboto"/>
            </a:endParaRPr>
          </a:p>
        </p:txBody>
      </p:sp>
      <p:sp>
        <p:nvSpPr>
          <p:cNvPr id="470" name="Shape 32"/>
          <p:cNvSpPr/>
          <p:nvPr/>
        </p:nvSpPr>
        <p:spPr>
          <a:xfrm>
            <a:off x="9752400" y="0"/>
            <a:ext cx="360" cy="6858000"/>
          </a:xfrm>
          <a:prstGeom prst="line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0" tIns="45000" rIns="0" bIns="45000" anchor="t" anchorCtr="1">
            <a:noAutofit/>
          </a:bodyPr>
          <a:p>
            <a:endParaRPr lang="fr-FR" sz="1800" b="0" u="none" strike="noStrike">
              <a:solidFill>
                <a:srgbClr val="FFFFFF"/>
              </a:solidFill>
              <a:effectLst/>
              <a:uFillTx/>
              <a:latin typeface="Roboto"/>
            </a:endParaRPr>
          </a:p>
        </p:txBody>
      </p:sp>
      <p:sp>
        <p:nvSpPr>
          <p:cNvPr id="471" name="Shape 33"/>
          <p:cNvSpPr/>
          <p:nvPr/>
        </p:nvSpPr>
        <p:spPr>
          <a:xfrm>
            <a:off x="10057320" y="0"/>
            <a:ext cx="360" cy="6858000"/>
          </a:xfrm>
          <a:prstGeom prst="line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0" tIns="45000" rIns="0" bIns="45000" anchor="t" anchorCtr="1">
            <a:noAutofit/>
          </a:bodyPr>
          <a:p>
            <a:endParaRPr lang="fr-FR" sz="1800" b="0" u="none" strike="noStrike">
              <a:solidFill>
                <a:srgbClr val="FFFFFF"/>
              </a:solidFill>
              <a:effectLst/>
              <a:uFillTx/>
              <a:latin typeface="Roboto"/>
            </a:endParaRPr>
          </a:p>
        </p:txBody>
      </p:sp>
      <p:sp>
        <p:nvSpPr>
          <p:cNvPr id="472" name="Shape 34"/>
          <p:cNvSpPr/>
          <p:nvPr/>
        </p:nvSpPr>
        <p:spPr>
          <a:xfrm>
            <a:off x="10361880" y="0"/>
            <a:ext cx="360" cy="6858000"/>
          </a:xfrm>
          <a:prstGeom prst="line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0" tIns="45000" rIns="0" bIns="45000" anchor="t" anchorCtr="1">
            <a:noAutofit/>
          </a:bodyPr>
          <a:p>
            <a:endParaRPr lang="fr-FR" sz="1800" b="0" u="none" strike="noStrike">
              <a:solidFill>
                <a:srgbClr val="FFFFFF"/>
              </a:solidFill>
              <a:effectLst/>
              <a:uFillTx/>
              <a:latin typeface="Roboto"/>
            </a:endParaRPr>
          </a:p>
        </p:txBody>
      </p:sp>
      <p:sp>
        <p:nvSpPr>
          <p:cNvPr id="473" name="Shape 35"/>
          <p:cNvSpPr/>
          <p:nvPr/>
        </p:nvSpPr>
        <p:spPr>
          <a:xfrm>
            <a:off x="10666800" y="0"/>
            <a:ext cx="360" cy="6858000"/>
          </a:xfrm>
          <a:prstGeom prst="line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0" tIns="45000" rIns="0" bIns="45000" anchor="t" anchorCtr="1">
            <a:noAutofit/>
          </a:bodyPr>
          <a:p>
            <a:endParaRPr lang="fr-FR" sz="1800" b="0" u="none" strike="noStrike">
              <a:solidFill>
                <a:srgbClr val="FFFFFF"/>
              </a:solidFill>
              <a:effectLst/>
              <a:uFillTx/>
              <a:latin typeface="Roboto"/>
            </a:endParaRPr>
          </a:p>
        </p:txBody>
      </p:sp>
      <p:sp>
        <p:nvSpPr>
          <p:cNvPr id="474" name="Shape 36"/>
          <p:cNvSpPr/>
          <p:nvPr/>
        </p:nvSpPr>
        <p:spPr>
          <a:xfrm>
            <a:off x="10971360" y="0"/>
            <a:ext cx="360" cy="6858000"/>
          </a:xfrm>
          <a:prstGeom prst="line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0" tIns="45000" rIns="0" bIns="45000" anchor="t" anchorCtr="1">
            <a:noAutofit/>
          </a:bodyPr>
          <a:p>
            <a:endParaRPr lang="fr-FR" sz="1800" b="0" u="none" strike="noStrike">
              <a:solidFill>
                <a:srgbClr val="FFFFFF"/>
              </a:solidFill>
              <a:effectLst/>
              <a:uFillTx/>
              <a:latin typeface="Roboto"/>
            </a:endParaRPr>
          </a:p>
        </p:txBody>
      </p:sp>
      <p:sp>
        <p:nvSpPr>
          <p:cNvPr id="475" name="Shape 37"/>
          <p:cNvSpPr/>
          <p:nvPr/>
        </p:nvSpPr>
        <p:spPr>
          <a:xfrm>
            <a:off x="11276280" y="0"/>
            <a:ext cx="360" cy="6858000"/>
          </a:xfrm>
          <a:prstGeom prst="line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0" tIns="45000" rIns="0" bIns="45000" anchor="t" anchorCtr="1">
            <a:noAutofit/>
          </a:bodyPr>
          <a:p>
            <a:endParaRPr lang="fr-FR" sz="1800" b="0" u="none" strike="noStrike">
              <a:solidFill>
                <a:srgbClr val="FFFFFF"/>
              </a:solidFill>
              <a:effectLst/>
              <a:uFillTx/>
              <a:latin typeface="Roboto"/>
            </a:endParaRPr>
          </a:p>
        </p:txBody>
      </p:sp>
      <p:sp>
        <p:nvSpPr>
          <p:cNvPr id="476" name="Shape 38"/>
          <p:cNvSpPr/>
          <p:nvPr/>
        </p:nvSpPr>
        <p:spPr>
          <a:xfrm>
            <a:off x="11581200" y="0"/>
            <a:ext cx="360" cy="6858000"/>
          </a:xfrm>
          <a:prstGeom prst="line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0" tIns="45000" rIns="0" bIns="45000" anchor="t" anchorCtr="1">
            <a:noAutofit/>
          </a:bodyPr>
          <a:p>
            <a:endParaRPr lang="fr-FR" sz="1800" b="0" u="none" strike="noStrike">
              <a:solidFill>
                <a:srgbClr val="FFFFFF"/>
              </a:solidFill>
              <a:effectLst/>
              <a:uFillTx/>
              <a:latin typeface="Roboto"/>
            </a:endParaRPr>
          </a:p>
        </p:txBody>
      </p:sp>
      <p:sp>
        <p:nvSpPr>
          <p:cNvPr id="477" name="Shape 39"/>
          <p:cNvSpPr/>
          <p:nvPr/>
        </p:nvSpPr>
        <p:spPr>
          <a:xfrm>
            <a:off x="11885760" y="0"/>
            <a:ext cx="360" cy="6858000"/>
          </a:xfrm>
          <a:prstGeom prst="line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0" tIns="45000" rIns="0" bIns="45000" anchor="t" anchorCtr="1">
            <a:noAutofit/>
          </a:bodyPr>
          <a:p>
            <a:endParaRPr lang="fr-FR" sz="1800" b="0" u="none" strike="noStrike">
              <a:solidFill>
                <a:srgbClr val="FFFFFF"/>
              </a:solidFill>
              <a:effectLst/>
              <a:uFillTx/>
              <a:latin typeface="Roboto"/>
            </a:endParaRPr>
          </a:p>
        </p:txBody>
      </p:sp>
      <p:sp>
        <p:nvSpPr>
          <p:cNvPr id="478" name="Shape 40"/>
          <p:cNvSpPr/>
          <p:nvPr/>
        </p:nvSpPr>
        <p:spPr>
          <a:xfrm>
            <a:off x="12190680" y="0"/>
            <a:ext cx="360" cy="6858000"/>
          </a:xfrm>
          <a:prstGeom prst="line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0" tIns="45000" rIns="0" bIns="45000" anchor="t" anchorCtr="1">
            <a:noAutofit/>
          </a:bodyPr>
          <a:p>
            <a:endParaRPr lang="fr-FR" sz="1800" b="0" u="none" strike="noStrike">
              <a:solidFill>
                <a:srgbClr val="FFFFFF"/>
              </a:solidFill>
              <a:effectLst/>
              <a:uFillTx/>
              <a:latin typeface="Roboto"/>
            </a:endParaRPr>
          </a:p>
        </p:txBody>
      </p:sp>
      <p:sp>
        <p:nvSpPr>
          <p:cNvPr id="479" name="Shape 41"/>
          <p:cNvSpPr/>
          <p:nvPr/>
        </p:nvSpPr>
        <p:spPr>
          <a:xfrm>
            <a:off x="0" y="0"/>
            <a:ext cx="12191400" cy="360"/>
          </a:xfrm>
          <a:prstGeom prst="line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fr-FR" sz="1800" b="0" u="none" strike="noStrike">
              <a:solidFill>
                <a:srgbClr val="FFFFFF"/>
              </a:solidFill>
              <a:effectLst/>
              <a:uFillTx/>
              <a:latin typeface="Roboto"/>
            </a:endParaRPr>
          </a:p>
        </p:txBody>
      </p:sp>
      <p:sp>
        <p:nvSpPr>
          <p:cNvPr id="480" name="Shape 42"/>
          <p:cNvSpPr/>
          <p:nvPr/>
        </p:nvSpPr>
        <p:spPr>
          <a:xfrm>
            <a:off x="0" y="304560"/>
            <a:ext cx="12191400" cy="360"/>
          </a:xfrm>
          <a:prstGeom prst="line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fr-FR" sz="1800" b="0" u="none" strike="noStrike">
              <a:solidFill>
                <a:srgbClr val="FFFFFF"/>
              </a:solidFill>
              <a:effectLst/>
              <a:uFillTx/>
              <a:latin typeface="Roboto"/>
            </a:endParaRPr>
          </a:p>
        </p:txBody>
      </p:sp>
      <p:sp>
        <p:nvSpPr>
          <p:cNvPr id="481" name="Shape 43"/>
          <p:cNvSpPr/>
          <p:nvPr/>
        </p:nvSpPr>
        <p:spPr>
          <a:xfrm>
            <a:off x="0" y="609480"/>
            <a:ext cx="12191400" cy="360"/>
          </a:xfrm>
          <a:prstGeom prst="line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fr-FR" sz="1800" b="0" u="none" strike="noStrike">
              <a:solidFill>
                <a:srgbClr val="FFFFFF"/>
              </a:solidFill>
              <a:effectLst/>
              <a:uFillTx/>
              <a:latin typeface="Roboto"/>
            </a:endParaRPr>
          </a:p>
        </p:txBody>
      </p:sp>
      <p:sp>
        <p:nvSpPr>
          <p:cNvPr id="482" name="Shape 44"/>
          <p:cNvSpPr/>
          <p:nvPr/>
        </p:nvSpPr>
        <p:spPr>
          <a:xfrm>
            <a:off x="0" y="914040"/>
            <a:ext cx="12191400" cy="360"/>
          </a:xfrm>
          <a:prstGeom prst="line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fr-FR" sz="1800" b="0" u="none" strike="noStrike">
              <a:solidFill>
                <a:srgbClr val="FFFFFF"/>
              </a:solidFill>
              <a:effectLst/>
              <a:uFillTx/>
              <a:latin typeface="Roboto"/>
            </a:endParaRPr>
          </a:p>
        </p:txBody>
      </p:sp>
      <p:sp>
        <p:nvSpPr>
          <p:cNvPr id="483" name="Shape 45"/>
          <p:cNvSpPr/>
          <p:nvPr/>
        </p:nvSpPr>
        <p:spPr>
          <a:xfrm>
            <a:off x="0" y="1218960"/>
            <a:ext cx="12191400" cy="360"/>
          </a:xfrm>
          <a:prstGeom prst="line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fr-FR" sz="1800" b="0" u="none" strike="noStrike">
              <a:solidFill>
                <a:srgbClr val="FFFFFF"/>
              </a:solidFill>
              <a:effectLst/>
              <a:uFillTx/>
              <a:latin typeface="Roboto"/>
            </a:endParaRPr>
          </a:p>
        </p:txBody>
      </p:sp>
      <p:sp>
        <p:nvSpPr>
          <p:cNvPr id="484" name="Shape 46"/>
          <p:cNvSpPr/>
          <p:nvPr/>
        </p:nvSpPr>
        <p:spPr>
          <a:xfrm>
            <a:off x="0" y="1523520"/>
            <a:ext cx="12191400" cy="360"/>
          </a:xfrm>
          <a:prstGeom prst="line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fr-FR" sz="1800" b="0" u="none" strike="noStrike">
              <a:solidFill>
                <a:srgbClr val="FFFFFF"/>
              </a:solidFill>
              <a:effectLst/>
              <a:uFillTx/>
              <a:latin typeface="Roboto"/>
            </a:endParaRPr>
          </a:p>
        </p:txBody>
      </p:sp>
      <p:sp>
        <p:nvSpPr>
          <p:cNvPr id="485" name="Shape 47"/>
          <p:cNvSpPr/>
          <p:nvPr/>
        </p:nvSpPr>
        <p:spPr>
          <a:xfrm>
            <a:off x="0" y="1828440"/>
            <a:ext cx="12191400" cy="360"/>
          </a:xfrm>
          <a:prstGeom prst="line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fr-FR" sz="1800" b="0" u="none" strike="noStrike">
              <a:solidFill>
                <a:srgbClr val="FFFFFF"/>
              </a:solidFill>
              <a:effectLst/>
              <a:uFillTx/>
              <a:latin typeface="Roboto"/>
            </a:endParaRPr>
          </a:p>
        </p:txBody>
      </p:sp>
      <p:sp>
        <p:nvSpPr>
          <p:cNvPr id="486" name="Shape 48"/>
          <p:cNvSpPr/>
          <p:nvPr/>
        </p:nvSpPr>
        <p:spPr>
          <a:xfrm>
            <a:off x="0" y="2133360"/>
            <a:ext cx="12191400" cy="360"/>
          </a:xfrm>
          <a:prstGeom prst="line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fr-FR" sz="1800" b="0" u="none" strike="noStrike">
              <a:solidFill>
                <a:srgbClr val="FFFFFF"/>
              </a:solidFill>
              <a:effectLst/>
              <a:uFillTx/>
              <a:latin typeface="Roboto"/>
            </a:endParaRPr>
          </a:p>
        </p:txBody>
      </p:sp>
      <p:sp>
        <p:nvSpPr>
          <p:cNvPr id="487" name="Shape 49"/>
          <p:cNvSpPr/>
          <p:nvPr/>
        </p:nvSpPr>
        <p:spPr>
          <a:xfrm>
            <a:off x="0" y="2437920"/>
            <a:ext cx="12191400" cy="360"/>
          </a:xfrm>
          <a:prstGeom prst="line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fr-FR" sz="1800" b="0" u="none" strike="noStrike">
              <a:solidFill>
                <a:srgbClr val="FFFFFF"/>
              </a:solidFill>
              <a:effectLst/>
              <a:uFillTx/>
              <a:latin typeface="Roboto"/>
            </a:endParaRPr>
          </a:p>
        </p:txBody>
      </p:sp>
      <p:sp>
        <p:nvSpPr>
          <p:cNvPr id="488" name="Shape 50"/>
          <p:cNvSpPr/>
          <p:nvPr/>
        </p:nvSpPr>
        <p:spPr>
          <a:xfrm>
            <a:off x="0" y="2742840"/>
            <a:ext cx="12191400" cy="360"/>
          </a:xfrm>
          <a:prstGeom prst="line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fr-FR" sz="1800" b="0" u="none" strike="noStrike">
              <a:solidFill>
                <a:srgbClr val="FFFFFF"/>
              </a:solidFill>
              <a:effectLst/>
              <a:uFillTx/>
              <a:latin typeface="Roboto"/>
            </a:endParaRPr>
          </a:p>
        </p:txBody>
      </p:sp>
      <p:sp>
        <p:nvSpPr>
          <p:cNvPr id="489" name="Shape 51"/>
          <p:cNvSpPr/>
          <p:nvPr/>
        </p:nvSpPr>
        <p:spPr>
          <a:xfrm>
            <a:off x="0" y="3047400"/>
            <a:ext cx="12191400" cy="360"/>
          </a:xfrm>
          <a:prstGeom prst="line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fr-FR" sz="1800" b="0" u="none" strike="noStrike">
              <a:solidFill>
                <a:srgbClr val="FFFFFF"/>
              </a:solidFill>
              <a:effectLst/>
              <a:uFillTx/>
              <a:latin typeface="Roboto"/>
            </a:endParaRPr>
          </a:p>
        </p:txBody>
      </p:sp>
      <p:sp>
        <p:nvSpPr>
          <p:cNvPr id="490" name="Shape 52"/>
          <p:cNvSpPr/>
          <p:nvPr/>
        </p:nvSpPr>
        <p:spPr>
          <a:xfrm>
            <a:off x="0" y="3352320"/>
            <a:ext cx="12191400" cy="360"/>
          </a:xfrm>
          <a:prstGeom prst="line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fr-FR" sz="1800" b="0" u="none" strike="noStrike">
              <a:solidFill>
                <a:srgbClr val="FFFFFF"/>
              </a:solidFill>
              <a:effectLst/>
              <a:uFillTx/>
              <a:latin typeface="Roboto"/>
            </a:endParaRPr>
          </a:p>
        </p:txBody>
      </p:sp>
      <p:sp>
        <p:nvSpPr>
          <p:cNvPr id="491" name="Shape 53"/>
          <p:cNvSpPr/>
          <p:nvPr/>
        </p:nvSpPr>
        <p:spPr>
          <a:xfrm>
            <a:off x="0" y="3656880"/>
            <a:ext cx="12191400" cy="360"/>
          </a:xfrm>
          <a:prstGeom prst="line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fr-FR" sz="1800" b="0" u="none" strike="noStrike">
              <a:solidFill>
                <a:srgbClr val="FFFFFF"/>
              </a:solidFill>
              <a:effectLst/>
              <a:uFillTx/>
              <a:latin typeface="Roboto"/>
            </a:endParaRPr>
          </a:p>
        </p:txBody>
      </p:sp>
      <p:sp>
        <p:nvSpPr>
          <p:cNvPr id="492" name="Shape 54"/>
          <p:cNvSpPr/>
          <p:nvPr/>
        </p:nvSpPr>
        <p:spPr>
          <a:xfrm>
            <a:off x="0" y="3961800"/>
            <a:ext cx="12191400" cy="360"/>
          </a:xfrm>
          <a:prstGeom prst="line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fr-FR" sz="1800" b="0" u="none" strike="noStrike">
              <a:solidFill>
                <a:srgbClr val="FFFFFF"/>
              </a:solidFill>
              <a:effectLst/>
              <a:uFillTx/>
              <a:latin typeface="Roboto"/>
            </a:endParaRPr>
          </a:p>
        </p:txBody>
      </p:sp>
      <p:sp>
        <p:nvSpPr>
          <p:cNvPr id="493" name="Shape 55"/>
          <p:cNvSpPr/>
          <p:nvPr/>
        </p:nvSpPr>
        <p:spPr>
          <a:xfrm>
            <a:off x="0" y="4266720"/>
            <a:ext cx="12191400" cy="360"/>
          </a:xfrm>
          <a:prstGeom prst="line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fr-FR" sz="1800" b="0" u="none" strike="noStrike">
              <a:solidFill>
                <a:srgbClr val="FFFFFF"/>
              </a:solidFill>
              <a:effectLst/>
              <a:uFillTx/>
              <a:latin typeface="Roboto"/>
            </a:endParaRPr>
          </a:p>
        </p:txBody>
      </p:sp>
      <p:sp>
        <p:nvSpPr>
          <p:cNvPr id="494" name="Shape 56"/>
          <p:cNvSpPr/>
          <p:nvPr/>
        </p:nvSpPr>
        <p:spPr>
          <a:xfrm>
            <a:off x="0" y="4571280"/>
            <a:ext cx="12191400" cy="360"/>
          </a:xfrm>
          <a:prstGeom prst="line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fr-FR" sz="1800" b="0" u="none" strike="noStrike">
              <a:solidFill>
                <a:srgbClr val="FFFFFF"/>
              </a:solidFill>
              <a:effectLst/>
              <a:uFillTx/>
              <a:latin typeface="Roboto"/>
            </a:endParaRPr>
          </a:p>
        </p:txBody>
      </p:sp>
      <p:sp>
        <p:nvSpPr>
          <p:cNvPr id="495" name="Shape 57"/>
          <p:cNvSpPr/>
          <p:nvPr/>
        </p:nvSpPr>
        <p:spPr>
          <a:xfrm>
            <a:off x="0" y="4876200"/>
            <a:ext cx="12191400" cy="360"/>
          </a:xfrm>
          <a:prstGeom prst="line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fr-FR" sz="1800" b="0" u="none" strike="noStrike">
              <a:solidFill>
                <a:srgbClr val="FFFFFF"/>
              </a:solidFill>
              <a:effectLst/>
              <a:uFillTx/>
              <a:latin typeface="Roboto"/>
            </a:endParaRPr>
          </a:p>
        </p:txBody>
      </p:sp>
      <p:sp>
        <p:nvSpPr>
          <p:cNvPr id="496" name="Shape 58"/>
          <p:cNvSpPr/>
          <p:nvPr/>
        </p:nvSpPr>
        <p:spPr>
          <a:xfrm>
            <a:off x="0" y="5180760"/>
            <a:ext cx="12191400" cy="360"/>
          </a:xfrm>
          <a:prstGeom prst="line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fr-FR" sz="1800" b="0" u="none" strike="noStrike">
              <a:solidFill>
                <a:srgbClr val="FFFFFF"/>
              </a:solidFill>
              <a:effectLst/>
              <a:uFillTx/>
              <a:latin typeface="Roboto"/>
            </a:endParaRPr>
          </a:p>
        </p:txBody>
      </p:sp>
      <p:sp>
        <p:nvSpPr>
          <p:cNvPr id="497" name="Shape 59"/>
          <p:cNvSpPr/>
          <p:nvPr/>
        </p:nvSpPr>
        <p:spPr>
          <a:xfrm>
            <a:off x="0" y="5485680"/>
            <a:ext cx="12191400" cy="360"/>
          </a:xfrm>
          <a:prstGeom prst="line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fr-FR" sz="1800" b="0" u="none" strike="noStrike">
              <a:solidFill>
                <a:srgbClr val="FFFFFF"/>
              </a:solidFill>
              <a:effectLst/>
              <a:uFillTx/>
              <a:latin typeface="Roboto"/>
            </a:endParaRPr>
          </a:p>
        </p:txBody>
      </p:sp>
      <p:sp>
        <p:nvSpPr>
          <p:cNvPr id="498" name="Shape 60"/>
          <p:cNvSpPr/>
          <p:nvPr/>
        </p:nvSpPr>
        <p:spPr>
          <a:xfrm>
            <a:off x="0" y="5790600"/>
            <a:ext cx="12191400" cy="360"/>
          </a:xfrm>
          <a:prstGeom prst="line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fr-FR" sz="1800" b="0" u="none" strike="noStrike">
              <a:solidFill>
                <a:srgbClr val="FFFFFF"/>
              </a:solidFill>
              <a:effectLst/>
              <a:uFillTx/>
              <a:latin typeface="Roboto"/>
            </a:endParaRPr>
          </a:p>
        </p:txBody>
      </p:sp>
      <p:sp>
        <p:nvSpPr>
          <p:cNvPr id="499" name="Shape 61"/>
          <p:cNvSpPr/>
          <p:nvPr/>
        </p:nvSpPr>
        <p:spPr>
          <a:xfrm>
            <a:off x="0" y="6095160"/>
            <a:ext cx="12191400" cy="360"/>
          </a:xfrm>
          <a:prstGeom prst="line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fr-FR" sz="1800" b="0" u="none" strike="noStrike">
              <a:solidFill>
                <a:srgbClr val="FFFFFF"/>
              </a:solidFill>
              <a:effectLst/>
              <a:uFillTx/>
              <a:latin typeface="Roboto"/>
            </a:endParaRPr>
          </a:p>
        </p:txBody>
      </p:sp>
      <p:sp>
        <p:nvSpPr>
          <p:cNvPr id="500" name="Shape 62"/>
          <p:cNvSpPr/>
          <p:nvPr/>
        </p:nvSpPr>
        <p:spPr>
          <a:xfrm>
            <a:off x="0" y="6400080"/>
            <a:ext cx="12191400" cy="360"/>
          </a:xfrm>
          <a:prstGeom prst="line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fr-FR" sz="1800" b="0" u="none" strike="noStrike">
              <a:solidFill>
                <a:srgbClr val="FFFFFF"/>
              </a:solidFill>
              <a:effectLst/>
              <a:uFillTx/>
              <a:latin typeface="Roboto"/>
            </a:endParaRPr>
          </a:p>
        </p:txBody>
      </p:sp>
      <p:sp>
        <p:nvSpPr>
          <p:cNvPr id="501" name="Shape 63"/>
          <p:cNvSpPr/>
          <p:nvPr/>
        </p:nvSpPr>
        <p:spPr>
          <a:xfrm>
            <a:off x="0" y="6704640"/>
            <a:ext cx="12191400" cy="360"/>
          </a:xfrm>
          <a:prstGeom prst="line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fr-FR" sz="1800" b="0" u="none" strike="noStrike">
              <a:solidFill>
                <a:srgbClr val="FFFFFF"/>
              </a:solidFill>
              <a:effectLst/>
              <a:uFillTx/>
              <a:latin typeface="Roboto"/>
            </a:endParaRPr>
          </a:p>
        </p:txBody>
      </p:sp>
      <p:sp>
        <p:nvSpPr>
          <p:cNvPr id="502" name="Text 64"/>
          <p:cNvSpPr/>
          <p:nvPr/>
        </p:nvSpPr>
        <p:spPr>
          <a:xfrm>
            <a:off x="457200" y="384120"/>
            <a:ext cx="9141840" cy="253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pc="201" strike="noStrike">
                <a:solidFill>
                  <a:srgbClr val="F2A65A"/>
                </a:solidFill>
                <a:effectLst/>
                <a:uFillTx/>
                <a:latin typeface="Roboto"/>
                <a:ea typeface="Roboto"/>
              </a:rPr>
              <a:t>02 · EXPLORATORY ANALYSIS</a:t>
            </a:r>
            <a:endParaRPr lang="fr-FR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03" name="Text 65"/>
          <p:cNvSpPr/>
          <p:nvPr/>
        </p:nvSpPr>
        <p:spPr>
          <a:xfrm>
            <a:off x="457200" y="640080"/>
            <a:ext cx="10513440" cy="54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000" b="1" u="none" strike="noStrike">
                <a:solidFill>
                  <a:srgbClr val="FFFFFF"/>
                </a:solidFill>
                <a:effectLst/>
                <a:uFillTx/>
                <a:latin typeface="Roboto"/>
                <a:ea typeface="Roboto"/>
              </a:rPr>
              <a:t>What Correlates with a 'Yes'?</a:t>
            </a:r>
            <a:endParaRPr lang="fr-FR" sz="3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04" name="Shape 66"/>
          <p:cNvSpPr/>
          <p:nvPr/>
        </p:nvSpPr>
        <p:spPr>
          <a:xfrm>
            <a:off x="365760" y="1371600"/>
            <a:ext cx="7084440" cy="4661280"/>
          </a:xfrm>
          <a:prstGeom prst="roundRect">
            <a:avLst>
              <a:gd name="adj" fmla="val 1765"/>
            </a:avLst>
          </a:prstGeom>
          <a:solidFill>
            <a:srgbClr val="263659"/>
          </a:solidFill>
          <a:ln w="12700">
            <a:solidFill>
              <a:srgbClr val="3D4B72"/>
            </a:solidFill>
            <a:round/>
          </a:ln>
          <a:effectLst>
            <a:outerShdw algn="bl" blurRad="101520" dir="5400000" dist="38160" kx="0" ky="0" rotWithShape="0" sx="100000" sy="10000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fr-FR" sz="1800" b="0" u="none" strike="noStrike">
              <a:solidFill>
                <a:srgbClr val="FFFFFF"/>
              </a:solidFill>
              <a:effectLst/>
              <a:uFillTx/>
              <a:latin typeface="Roboto"/>
            </a:endParaRPr>
          </a:p>
        </p:txBody>
      </p:sp>
      <p:sp>
        <p:nvSpPr>
          <p:cNvPr id="505" name="Text 67"/>
          <p:cNvSpPr/>
          <p:nvPr/>
        </p:nvSpPr>
        <p:spPr>
          <a:xfrm>
            <a:off x="1298520" y="1572840"/>
            <a:ext cx="848160" cy="36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8B96AC"/>
                </a:solidFill>
                <a:effectLst/>
                <a:uFillTx/>
                <a:latin typeface="Roboto"/>
                <a:ea typeface="Roboto"/>
              </a:rPr>
              <a:t>Attr</a:t>
            </a:r>
            <a:endParaRPr lang="fr-FR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06" name="Text 68"/>
          <p:cNvSpPr/>
          <p:nvPr/>
        </p:nvSpPr>
        <p:spPr>
          <a:xfrm>
            <a:off x="2148840" y="1572840"/>
            <a:ext cx="848160" cy="36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8B96AC"/>
                </a:solidFill>
                <a:effectLst/>
                <a:uFillTx/>
                <a:latin typeface="Roboto"/>
                <a:ea typeface="Roboto"/>
              </a:rPr>
              <a:t>Sinc</a:t>
            </a:r>
            <a:endParaRPr lang="fr-FR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07" name="Text 69"/>
          <p:cNvSpPr/>
          <p:nvPr/>
        </p:nvSpPr>
        <p:spPr>
          <a:xfrm>
            <a:off x="2999160" y="1572840"/>
            <a:ext cx="848160" cy="36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8B96AC"/>
                </a:solidFill>
                <a:effectLst/>
                <a:uFillTx/>
                <a:latin typeface="Roboto"/>
                <a:ea typeface="Roboto"/>
              </a:rPr>
              <a:t>Intel</a:t>
            </a:r>
            <a:endParaRPr lang="fr-FR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08" name="Text 70"/>
          <p:cNvSpPr/>
          <p:nvPr/>
        </p:nvSpPr>
        <p:spPr>
          <a:xfrm>
            <a:off x="3849480" y="1572840"/>
            <a:ext cx="848160" cy="36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8B96AC"/>
                </a:solidFill>
                <a:effectLst/>
                <a:uFillTx/>
                <a:latin typeface="Roboto"/>
                <a:ea typeface="Roboto"/>
              </a:rPr>
              <a:t>Fun</a:t>
            </a:r>
            <a:endParaRPr lang="fr-FR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09" name="Text 71"/>
          <p:cNvSpPr/>
          <p:nvPr/>
        </p:nvSpPr>
        <p:spPr>
          <a:xfrm>
            <a:off x="4700160" y="1572840"/>
            <a:ext cx="848160" cy="36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8B96AC"/>
                </a:solidFill>
                <a:effectLst/>
                <a:uFillTx/>
                <a:latin typeface="Roboto"/>
                <a:ea typeface="Roboto"/>
              </a:rPr>
              <a:t>Amb</a:t>
            </a:r>
            <a:endParaRPr lang="fr-FR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10" name="Text 72"/>
          <p:cNvSpPr/>
          <p:nvPr/>
        </p:nvSpPr>
        <p:spPr>
          <a:xfrm>
            <a:off x="5550480" y="1572840"/>
            <a:ext cx="848160" cy="36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8B96AC"/>
                </a:solidFill>
                <a:effectLst/>
                <a:uFillTx/>
                <a:latin typeface="Roboto"/>
                <a:ea typeface="Roboto"/>
              </a:rPr>
              <a:t>Shar</a:t>
            </a:r>
            <a:endParaRPr lang="fr-FR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11" name="Text 73"/>
          <p:cNvSpPr/>
          <p:nvPr/>
        </p:nvSpPr>
        <p:spPr>
          <a:xfrm>
            <a:off x="6400800" y="1572840"/>
            <a:ext cx="848160" cy="36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8B96AC"/>
                </a:solidFill>
                <a:effectLst/>
                <a:uFillTx/>
                <a:latin typeface="Roboto"/>
                <a:ea typeface="Roboto"/>
              </a:rPr>
              <a:t>Dec</a:t>
            </a:r>
            <a:endParaRPr lang="fr-FR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12" name="Text 74"/>
          <p:cNvSpPr/>
          <p:nvPr/>
        </p:nvSpPr>
        <p:spPr>
          <a:xfrm>
            <a:off x="567000" y="1938600"/>
            <a:ext cx="729360" cy="554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8B96AC"/>
                </a:solidFill>
                <a:effectLst/>
                <a:uFillTx/>
                <a:latin typeface="Roboto"/>
                <a:ea typeface="Roboto"/>
              </a:rPr>
              <a:t>Attr</a:t>
            </a:r>
            <a:endParaRPr lang="fr-FR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13" name="Shape 75"/>
          <p:cNvSpPr/>
          <p:nvPr/>
        </p:nvSpPr>
        <p:spPr>
          <a:xfrm>
            <a:off x="1325880" y="1965960"/>
            <a:ext cx="793440" cy="499320"/>
          </a:xfrm>
          <a:prstGeom prst="roundRect">
            <a:avLst>
              <a:gd name="adj" fmla="val 9115"/>
            </a:avLst>
          </a:prstGeom>
          <a:solidFill>
            <a:srgbClr val="F2A65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fr-FR" sz="1800" b="0" u="none" strike="noStrike">
              <a:solidFill>
                <a:srgbClr val="FFFFFF"/>
              </a:solidFill>
              <a:effectLst/>
              <a:uFillTx/>
              <a:latin typeface="Roboto"/>
            </a:endParaRPr>
          </a:p>
        </p:txBody>
      </p:sp>
      <p:sp>
        <p:nvSpPr>
          <p:cNvPr id="514" name="Text 76"/>
          <p:cNvSpPr/>
          <p:nvPr/>
        </p:nvSpPr>
        <p:spPr>
          <a:xfrm>
            <a:off x="1298520" y="1938600"/>
            <a:ext cx="848160" cy="554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1" u="none" strike="noStrike">
                <a:solidFill>
                  <a:srgbClr val="FFFFFF"/>
                </a:solidFill>
                <a:effectLst/>
                <a:uFillTx/>
                <a:latin typeface="Roboto"/>
                <a:ea typeface="Roboto"/>
              </a:rPr>
              <a:t>1.00</a:t>
            </a:r>
            <a:endParaRPr lang="fr-FR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15" name="Shape 77"/>
          <p:cNvSpPr/>
          <p:nvPr/>
        </p:nvSpPr>
        <p:spPr>
          <a:xfrm>
            <a:off x="2176200" y="1965960"/>
            <a:ext cx="793440" cy="499320"/>
          </a:xfrm>
          <a:prstGeom prst="roundRect">
            <a:avLst>
              <a:gd name="adj" fmla="val 9115"/>
            </a:avLst>
          </a:prstGeom>
          <a:solidFill>
            <a:srgbClr val="50424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fr-FR" sz="1800" b="0" u="none" strike="noStrike">
              <a:solidFill>
                <a:srgbClr val="FFFFFF"/>
              </a:solidFill>
              <a:effectLst/>
              <a:uFillTx/>
              <a:latin typeface="Roboto"/>
            </a:endParaRPr>
          </a:p>
        </p:txBody>
      </p:sp>
      <p:sp>
        <p:nvSpPr>
          <p:cNvPr id="516" name="Text 78"/>
          <p:cNvSpPr/>
          <p:nvPr/>
        </p:nvSpPr>
        <p:spPr>
          <a:xfrm>
            <a:off x="2148840" y="1938600"/>
            <a:ext cx="848160" cy="554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FFFFFF"/>
                </a:solidFill>
                <a:effectLst/>
                <a:uFillTx/>
                <a:latin typeface="Roboto"/>
                <a:ea typeface="Roboto"/>
              </a:rPr>
              <a:t>0.40</a:t>
            </a:r>
            <a:endParaRPr lang="fr-FR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17" name="Shape 79"/>
          <p:cNvSpPr/>
          <p:nvPr/>
        </p:nvSpPr>
        <p:spPr>
          <a:xfrm>
            <a:off x="3026520" y="1965960"/>
            <a:ext cx="793440" cy="499320"/>
          </a:xfrm>
          <a:prstGeom prst="roundRect">
            <a:avLst>
              <a:gd name="adj" fmla="val 9115"/>
            </a:avLst>
          </a:prstGeom>
          <a:solidFill>
            <a:srgbClr val="4E404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fr-FR" sz="1800" b="0" u="none" strike="noStrike">
              <a:solidFill>
                <a:srgbClr val="FFFFFF"/>
              </a:solidFill>
              <a:effectLst/>
              <a:uFillTx/>
              <a:latin typeface="Roboto"/>
            </a:endParaRPr>
          </a:p>
        </p:txBody>
      </p:sp>
      <p:sp>
        <p:nvSpPr>
          <p:cNvPr id="518" name="Text 80"/>
          <p:cNvSpPr/>
          <p:nvPr/>
        </p:nvSpPr>
        <p:spPr>
          <a:xfrm>
            <a:off x="2999160" y="1938600"/>
            <a:ext cx="848160" cy="554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FFFFFF"/>
                </a:solidFill>
                <a:effectLst/>
                <a:uFillTx/>
                <a:latin typeface="Roboto"/>
                <a:ea typeface="Roboto"/>
              </a:rPr>
              <a:t>0.39</a:t>
            </a:r>
            <a:endParaRPr lang="fr-FR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19" name="Shape 81"/>
          <p:cNvSpPr/>
          <p:nvPr/>
        </p:nvSpPr>
        <p:spPr>
          <a:xfrm>
            <a:off x="3877200" y="1965960"/>
            <a:ext cx="793440" cy="499320"/>
          </a:xfrm>
          <a:prstGeom prst="roundRect">
            <a:avLst>
              <a:gd name="adj" fmla="val 9115"/>
            </a:avLst>
          </a:prstGeom>
          <a:solidFill>
            <a:srgbClr val="795B4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fr-FR" sz="1800" b="0" u="none" strike="noStrike">
              <a:solidFill>
                <a:srgbClr val="FFFFFF"/>
              </a:solidFill>
              <a:effectLst/>
              <a:uFillTx/>
              <a:latin typeface="Roboto"/>
            </a:endParaRPr>
          </a:p>
        </p:txBody>
      </p:sp>
      <p:sp>
        <p:nvSpPr>
          <p:cNvPr id="520" name="Text 82"/>
          <p:cNvSpPr/>
          <p:nvPr/>
        </p:nvSpPr>
        <p:spPr>
          <a:xfrm>
            <a:off x="3849480" y="1938600"/>
            <a:ext cx="848160" cy="554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FFFFFF"/>
                </a:solidFill>
                <a:effectLst/>
                <a:uFillTx/>
                <a:latin typeface="Roboto"/>
                <a:ea typeface="Roboto"/>
              </a:rPr>
              <a:t>0.59</a:t>
            </a:r>
            <a:endParaRPr lang="fr-FR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21" name="Shape 83"/>
          <p:cNvSpPr/>
          <p:nvPr/>
        </p:nvSpPr>
        <p:spPr>
          <a:xfrm>
            <a:off x="4727520" y="1965960"/>
            <a:ext cx="793440" cy="499320"/>
          </a:xfrm>
          <a:prstGeom prst="roundRect">
            <a:avLst>
              <a:gd name="adj" fmla="val 9115"/>
            </a:avLst>
          </a:prstGeom>
          <a:solidFill>
            <a:srgbClr val="473C3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fr-FR" sz="1800" b="0" u="none" strike="noStrike">
              <a:solidFill>
                <a:srgbClr val="FFFFFF"/>
              </a:solidFill>
              <a:effectLst/>
              <a:uFillTx/>
              <a:latin typeface="Roboto"/>
            </a:endParaRPr>
          </a:p>
        </p:txBody>
      </p:sp>
      <p:sp>
        <p:nvSpPr>
          <p:cNvPr id="522" name="Text 84"/>
          <p:cNvSpPr/>
          <p:nvPr/>
        </p:nvSpPr>
        <p:spPr>
          <a:xfrm>
            <a:off x="4700160" y="1938600"/>
            <a:ext cx="848160" cy="554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FFFFFF"/>
                </a:solidFill>
                <a:effectLst/>
                <a:uFillTx/>
                <a:latin typeface="Roboto"/>
                <a:ea typeface="Roboto"/>
              </a:rPr>
              <a:t>0.36</a:t>
            </a:r>
            <a:endParaRPr lang="fr-FR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23" name="Shape 85"/>
          <p:cNvSpPr/>
          <p:nvPr/>
        </p:nvSpPr>
        <p:spPr>
          <a:xfrm>
            <a:off x="5577840" y="1965960"/>
            <a:ext cx="793440" cy="499320"/>
          </a:xfrm>
          <a:prstGeom prst="roundRect">
            <a:avLst>
              <a:gd name="adj" fmla="val 9115"/>
            </a:avLst>
          </a:prstGeom>
          <a:solidFill>
            <a:srgbClr val="614C4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fr-FR" sz="1800" b="0" u="none" strike="noStrike">
              <a:solidFill>
                <a:srgbClr val="FFFFFF"/>
              </a:solidFill>
              <a:effectLst/>
              <a:uFillTx/>
              <a:latin typeface="Roboto"/>
            </a:endParaRPr>
          </a:p>
        </p:txBody>
      </p:sp>
      <p:sp>
        <p:nvSpPr>
          <p:cNvPr id="524" name="Text 86"/>
          <p:cNvSpPr/>
          <p:nvPr/>
        </p:nvSpPr>
        <p:spPr>
          <a:xfrm>
            <a:off x="5550480" y="1938600"/>
            <a:ext cx="848160" cy="554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FFFFFF"/>
                </a:solidFill>
                <a:effectLst/>
                <a:uFillTx/>
                <a:latin typeface="Roboto"/>
                <a:ea typeface="Roboto"/>
              </a:rPr>
              <a:t>0.48</a:t>
            </a:r>
            <a:endParaRPr lang="fr-FR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25" name="Shape 87"/>
          <p:cNvSpPr/>
          <p:nvPr/>
        </p:nvSpPr>
        <p:spPr>
          <a:xfrm>
            <a:off x="6428160" y="1965960"/>
            <a:ext cx="793440" cy="499320"/>
          </a:xfrm>
          <a:prstGeom prst="roundRect">
            <a:avLst>
              <a:gd name="adj" fmla="val 9115"/>
            </a:avLst>
          </a:prstGeom>
          <a:solidFill>
            <a:srgbClr val="634E4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fr-FR" sz="1800" b="0" u="none" strike="noStrike">
              <a:solidFill>
                <a:srgbClr val="FFFFFF"/>
              </a:solidFill>
              <a:effectLst/>
              <a:uFillTx/>
              <a:latin typeface="Roboto"/>
            </a:endParaRPr>
          </a:p>
        </p:txBody>
      </p:sp>
      <p:sp>
        <p:nvSpPr>
          <p:cNvPr id="526" name="Text 88"/>
          <p:cNvSpPr/>
          <p:nvPr/>
        </p:nvSpPr>
        <p:spPr>
          <a:xfrm>
            <a:off x="6400800" y="1938600"/>
            <a:ext cx="848160" cy="554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FFFFFF"/>
                </a:solidFill>
                <a:effectLst/>
                <a:uFillTx/>
                <a:latin typeface="Roboto"/>
                <a:ea typeface="Roboto"/>
              </a:rPr>
              <a:t>0.49</a:t>
            </a:r>
            <a:endParaRPr lang="fr-FR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27" name="Text 89"/>
          <p:cNvSpPr/>
          <p:nvPr/>
        </p:nvSpPr>
        <p:spPr>
          <a:xfrm>
            <a:off x="567000" y="2495160"/>
            <a:ext cx="729360" cy="554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8B96AC"/>
                </a:solidFill>
                <a:effectLst/>
                <a:uFillTx/>
                <a:latin typeface="Roboto"/>
                <a:ea typeface="Roboto"/>
              </a:rPr>
              <a:t>Sinc</a:t>
            </a:r>
            <a:endParaRPr lang="fr-FR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28" name="Shape 90"/>
          <p:cNvSpPr/>
          <p:nvPr/>
        </p:nvSpPr>
        <p:spPr>
          <a:xfrm>
            <a:off x="1325880" y="2522520"/>
            <a:ext cx="793440" cy="499320"/>
          </a:xfrm>
          <a:prstGeom prst="roundRect">
            <a:avLst>
              <a:gd name="adj" fmla="val 9115"/>
            </a:avLst>
          </a:prstGeom>
          <a:solidFill>
            <a:srgbClr val="50424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fr-FR" sz="1800" b="0" u="none" strike="noStrike">
              <a:solidFill>
                <a:srgbClr val="FFFFFF"/>
              </a:solidFill>
              <a:effectLst/>
              <a:uFillTx/>
              <a:latin typeface="Roboto"/>
            </a:endParaRPr>
          </a:p>
        </p:txBody>
      </p:sp>
      <p:sp>
        <p:nvSpPr>
          <p:cNvPr id="529" name="Text 91"/>
          <p:cNvSpPr/>
          <p:nvPr/>
        </p:nvSpPr>
        <p:spPr>
          <a:xfrm>
            <a:off x="1298520" y="2495160"/>
            <a:ext cx="848160" cy="554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FFFFFF"/>
                </a:solidFill>
                <a:effectLst/>
                <a:uFillTx/>
                <a:latin typeface="Roboto"/>
                <a:ea typeface="Roboto"/>
              </a:rPr>
              <a:t>0.40</a:t>
            </a:r>
            <a:endParaRPr lang="fr-FR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30" name="Shape 92"/>
          <p:cNvSpPr/>
          <p:nvPr/>
        </p:nvSpPr>
        <p:spPr>
          <a:xfrm>
            <a:off x="2176200" y="2522520"/>
            <a:ext cx="793440" cy="499320"/>
          </a:xfrm>
          <a:prstGeom prst="roundRect">
            <a:avLst>
              <a:gd name="adj" fmla="val 9115"/>
            </a:avLst>
          </a:prstGeom>
          <a:solidFill>
            <a:srgbClr val="F2A65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fr-FR" sz="1800" b="0" u="none" strike="noStrike">
              <a:solidFill>
                <a:srgbClr val="FFFFFF"/>
              </a:solidFill>
              <a:effectLst/>
              <a:uFillTx/>
              <a:latin typeface="Roboto"/>
            </a:endParaRPr>
          </a:p>
        </p:txBody>
      </p:sp>
      <p:sp>
        <p:nvSpPr>
          <p:cNvPr id="531" name="Text 93"/>
          <p:cNvSpPr/>
          <p:nvPr/>
        </p:nvSpPr>
        <p:spPr>
          <a:xfrm>
            <a:off x="2148840" y="2495160"/>
            <a:ext cx="848160" cy="554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1" u="none" strike="noStrike">
                <a:solidFill>
                  <a:srgbClr val="FFFFFF"/>
                </a:solidFill>
                <a:effectLst/>
                <a:uFillTx/>
                <a:latin typeface="Roboto"/>
                <a:ea typeface="Roboto"/>
              </a:rPr>
              <a:t>1.00</a:t>
            </a:r>
            <a:endParaRPr lang="fr-FR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32" name="Shape 94"/>
          <p:cNvSpPr/>
          <p:nvPr/>
        </p:nvSpPr>
        <p:spPr>
          <a:xfrm>
            <a:off x="3026520" y="2522520"/>
            <a:ext cx="793440" cy="499320"/>
          </a:xfrm>
          <a:prstGeom prst="roundRect">
            <a:avLst>
              <a:gd name="adj" fmla="val 9115"/>
            </a:avLst>
          </a:prstGeom>
          <a:solidFill>
            <a:srgbClr val="88644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fr-FR" sz="1800" b="0" u="none" strike="noStrike">
              <a:solidFill>
                <a:srgbClr val="FFFFFF"/>
              </a:solidFill>
              <a:effectLst/>
              <a:uFillTx/>
              <a:latin typeface="Roboto"/>
            </a:endParaRPr>
          </a:p>
        </p:txBody>
      </p:sp>
      <p:sp>
        <p:nvSpPr>
          <p:cNvPr id="533" name="Text 95"/>
          <p:cNvSpPr/>
          <p:nvPr/>
        </p:nvSpPr>
        <p:spPr>
          <a:xfrm>
            <a:off x="2999160" y="2495160"/>
            <a:ext cx="848160" cy="554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FFFFFF"/>
                </a:solidFill>
                <a:effectLst/>
                <a:uFillTx/>
                <a:latin typeface="Roboto"/>
                <a:ea typeface="Roboto"/>
              </a:rPr>
              <a:t>0.66</a:t>
            </a:r>
            <a:endParaRPr lang="fr-FR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34" name="Shape 96"/>
          <p:cNvSpPr/>
          <p:nvPr/>
        </p:nvSpPr>
        <p:spPr>
          <a:xfrm>
            <a:off x="3877200" y="2522520"/>
            <a:ext cx="793440" cy="499320"/>
          </a:xfrm>
          <a:prstGeom prst="roundRect">
            <a:avLst>
              <a:gd name="adj" fmla="val 9115"/>
            </a:avLst>
          </a:prstGeom>
          <a:solidFill>
            <a:srgbClr val="634E4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fr-FR" sz="1800" b="0" u="none" strike="noStrike">
              <a:solidFill>
                <a:srgbClr val="FFFFFF"/>
              </a:solidFill>
              <a:effectLst/>
              <a:uFillTx/>
              <a:latin typeface="Roboto"/>
            </a:endParaRPr>
          </a:p>
        </p:txBody>
      </p:sp>
      <p:sp>
        <p:nvSpPr>
          <p:cNvPr id="535" name="Text 97"/>
          <p:cNvSpPr/>
          <p:nvPr/>
        </p:nvSpPr>
        <p:spPr>
          <a:xfrm>
            <a:off x="3849480" y="2495160"/>
            <a:ext cx="848160" cy="554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FFFFFF"/>
                </a:solidFill>
                <a:effectLst/>
                <a:uFillTx/>
                <a:latin typeface="Roboto"/>
                <a:ea typeface="Roboto"/>
              </a:rPr>
              <a:t>0.49</a:t>
            </a:r>
            <a:endParaRPr lang="fr-FR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36" name="Shape 98"/>
          <p:cNvSpPr/>
          <p:nvPr/>
        </p:nvSpPr>
        <p:spPr>
          <a:xfrm>
            <a:off x="4727520" y="2522520"/>
            <a:ext cx="793440" cy="499320"/>
          </a:xfrm>
          <a:prstGeom prst="roundRect">
            <a:avLst>
              <a:gd name="adj" fmla="val 9115"/>
            </a:avLst>
          </a:prstGeom>
          <a:solidFill>
            <a:srgbClr val="5D4A4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fr-FR" sz="1800" b="0" u="none" strike="noStrike">
              <a:solidFill>
                <a:srgbClr val="FFFFFF"/>
              </a:solidFill>
              <a:effectLst/>
              <a:uFillTx/>
              <a:latin typeface="Roboto"/>
            </a:endParaRPr>
          </a:p>
        </p:txBody>
      </p:sp>
      <p:sp>
        <p:nvSpPr>
          <p:cNvPr id="537" name="Text 99"/>
          <p:cNvSpPr/>
          <p:nvPr/>
        </p:nvSpPr>
        <p:spPr>
          <a:xfrm>
            <a:off x="4700160" y="2495160"/>
            <a:ext cx="848160" cy="554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FFFFFF"/>
                </a:solidFill>
                <a:effectLst/>
                <a:uFillTx/>
                <a:latin typeface="Roboto"/>
                <a:ea typeface="Roboto"/>
              </a:rPr>
              <a:t>0.46</a:t>
            </a:r>
            <a:endParaRPr lang="fr-FR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38" name="Shape 100"/>
          <p:cNvSpPr/>
          <p:nvPr/>
        </p:nvSpPr>
        <p:spPr>
          <a:xfrm>
            <a:off x="5577840" y="2522520"/>
            <a:ext cx="793440" cy="499320"/>
          </a:xfrm>
          <a:prstGeom prst="roundRect">
            <a:avLst>
              <a:gd name="adj" fmla="val 9115"/>
            </a:avLst>
          </a:prstGeom>
          <a:solidFill>
            <a:srgbClr val="50424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fr-FR" sz="1800" b="0" u="none" strike="noStrike">
              <a:solidFill>
                <a:srgbClr val="FFFFFF"/>
              </a:solidFill>
              <a:effectLst/>
              <a:uFillTx/>
              <a:latin typeface="Roboto"/>
            </a:endParaRPr>
          </a:p>
        </p:txBody>
      </p:sp>
      <p:sp>
        <p:nvSpPr>
          <p:cNvPr id="539" name="Text 101"/>
          <p:cNvSpPr/>
          <p:nvPr/>
        </p:nvSpPr>
        <p:spPr>
          <a:xfrm>
            <a:off x="5550480" y="2495160"/>
            <a:ext cx="848160" cy="554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FFFFFF"/>
                </a:solidFill>
                <a:effectLst/>
                <a:uFillTx/>
                <a:latin typeface="Roboto"/>
                <a:ea typeface="Roboto"/>
              </a:rPr>
              <a:t>0.40</a:t>
            </a:r>
            <a:endParaRPr lang="fr-FR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40" name="Shape 102"/>
          <p:cNvSpPr/>
          <p:nvPr/>
        </p:nvSpPr>
        <p:spPr>
          <a:xfrm>
            <a:off x="6428160" y="2522520"/>
            <a:ext cx="793440" cy="499320"/>
          </a:xfrm>
          <a:prstGeom prst="roundRect">
            <a:avLst>
              <a:gd name="adj" fmla="val 9115"/>
            </a:avLst>
          </a:prstGeom>
          <a:solidFill>
            <a:srgbClr val="27283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fr-FR" sz="1800" b="0" u="none" strike="noStrike">
              <a:solidFill>
                <a:srgbClr val="FFFFFF"/>
              </a:solidFill>
              <a:effectLst/>
              <a:uFillTx/>
              <a:latin typeface="Roboto"/>
            </a:endParaRPr>
          </a:p>
        </p:txBody>
      </p:sp>
      <p:sp>
        <p:nvSpPr>
          <p:cNvPr id="541" name="Text 103"/>
          <p:cNvSpPr/>
          <p:nvPr/>
        </p:nvSpPr>
        <p:spPr>
          <a:xfrm>
            <a:off x="6400800" y="2495160"/>
            <a:ext cx="848160" cy="554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FFFFFF"/>
                </a:solidFill>
                <a:effectLst/>
                <a:uFillTx/>
                <a:latin typeface="Roboto"/>
                <a:ea typeface="Roboto"/>
              </a:rPr>
              <a:t>0.21</a:t>
            </a:r>
            <a:endParaRPr lang="fr-FR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42" name="Text 104"/>
          <p:cNvSpPr/>
          <p:nvPr/>
        </p:nvSpPr>
        <p:spPr>
          <a:xfrm>
            <a:off x="567000" y="3051360"/>
            <a:ext cx="729360" cy="554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8B96AC"/>
                </a:solidFill>
                <a:effectLst/>
                <a:uFillTx/>
                <a:latin typeface="Roboto"/>
                <a:ea typeface="Roboto"/>
              </a:rPr>
              <a:t>Intel</a:t>
            </a:r>
            <a:endParaRPr lang="fr-FR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43" name="Shape 105"/>
          <p:cNvSpPr/>
          <p:nvPr/>
        </p:nvSpPr>
        <p:spPr>
          <a:xfrm>
            <a:off x="1325880" y="3079080"/>
            <a:ext cx="793440" cy="499320"/>
          </a:xfrm>
          <a:prstGeom prst="roundRect">
            <a:avLst>
              <a:gd name="adj" fmla="val 9115"/>
            </a:avLst>
          </a:prstGeom>
          <a:solidFill>
            <a:srgbClr val="4E404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fr-FR" sz="1800" b="0" u="none" strike="noStrike">
              <a:solidFill>
                <a:srgbClr val="FFFFFF"/>
              </a:solidFill>
              <a:effectLst/>
              <a:uFillTx/>
              <a:latin typeface="Roboto"/>
            </a:endParaRPr>
          </a:p>
        </p:txBody>
      </p:sp>
      <p:sp>
        <p:nvSpPr>
          <p:cNvPr id="544" name="Text 106"/>
          <p:cNvSpPr/>
          <p:nvPr/>
        </p:nvSpPr>
        <p:spPr>
          <a:xfrm>
            <a:off x="1298520" y="3051360"/>
            <a:ext cx="848160" cy="554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FFFFFF"/>
                </a:solidFill>
                <a:effectLst/>
                <a:uFillTx/>
                <a:latin typeface="Roboto"/>
                <a:ea typeface="Roboto"/>
              </a:rPr>
              <a:t>0.39</a:t>
            </a:r>
            <a:endParaRPr lang="fr-FR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45" name="Shape 107"/>
          <p:cNvSpPr/>
          <p:nvPr/>
        </p:nvSpPr>
        <p:spPr>
          <a:xfrm>
            <a:off x="2176200" y="3079080"/>
            <a:ext cx="793440" cy="499320"/>
          </a:xfrm>
          <a:prstGeom prst="roundRect">
            <a:avLst>
              <a:gd name="adj" fmla="val 9115"/>
            </a:avLst>
          </a:prstGeom>
          <a:solidFill>
            <a:srgbClr val="88644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fr-FR" sz="1800" b="0" u="none" strike="noStrike">
              <a:solidFill>
                <a:srgbClr val="FFFFFF"/>
              </a:solidFill>
              <a:effectLst/>
              <a:uFillTx/>
              <a:latin typeface="Roboto"/>
            </a:endParaRPr>
          </a:p>
        </p:txBody>
      </p:sp>
      <p:sp>
        <p:nvSpPr>
          <p:cNvPr id="546" name="Text 108"/>
          <p:cNvSpPr/>
          <p:nvPr/>
        </p:nvSpPr>
        <p:spPr>
          <a:xfrm>
            <a:off x="2148840" y="3051360"/>
            <a:ext cx="848160" cy="554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FFFFFF"/>
                </a:solidFill>
                <a:effectLst/>
                <a:uFillTx/>
                <a:latin typeface="Roboto"/>
                <a:ea typeface="Roboto"/>
              </a:rPr>
              <a:t>0.66</a:t>
            </a:r>
            <a:endParaRPr lang="fr-FR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47" name="Shape 109"/>
          <p:cNvSpPr/>
          <p:nvPr/>
        </p:nvSpPr>
        <p:spPr>
          <a:xfrm>
            <a:off x="3026520" y="3079080"/>
            <a:ext cx="793440" cy="499320"/>
          </a:xfrm>
          <a:prstGeom prst="roundRect">
            <a:avLst>
              <a:gd name="adj" fmla="val 9115"/>
            </a:avLst>
          </a:prstGeom>
          <a:solidFill>
            <a:srgbClr val="F2A65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fr-FR" sz="1800" b="0" u="none" strike="noStrike">
              <a:solidFill>
                <a:srgbClr val="FFFFFF"/>
              </a:solidFill>
              <a:effectLst/>
              <a:uFillTx/>
              <a:latin typeface="Roboto"/>
            </a:endParaRPr>
          </a:p>
        </p:txBody>
      </p:sp>
      <p:sp>
        <p:nvSpPr>
          <p:cNvPr id="548" name="Text 110"/>
          <p:cNvSpPr/>
          <p:nvPr/>
        </p:nvSpPr>
        <p:spPr>
          <a:xfrm>
            <a:off x="2999160" y="3051360"/>
            <a:ext cx="848160" cy="554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1" u="none" strike="noStrike">
                <a:solidFill>
                  <a:srgbClr val="FFFFFF"/>
                </a:solidFill>
                <a:effectLst/>
                <a:uFillTx/>
                <a:latin typeface="Roboto"/>
                <a:ea typeface="Roboto"/>
              </a:rPr>
              <a:t>1.00</a:t>
            </a:r>
            <a:endParaRPr lang="fr-FR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49" name="Shape 111"/>
          <p:cNvSpPr/>
          <p:nvPr/>
        </p:nvSpPr>
        <p:spPr>
          <a:xfrm>
            <a:off x="3877200" y="3079080"/>
            <a:ext cx="793440" cy="499320"/>
          </a:xfrm>
          <a:prstGeom prst="roundRect">
            <a:avLst>
              <a:gd name="adj" fmla="val 9115"/>
            </a:avLst>
          </a:prstGeom>
          <a:solidFill>
            <a:srgbClr val="634E4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fr-FR" sz="1800" b="0" u="none" strike="noStrike">
              <a:solidFill>
                <a:srgbClr val="FFFFFF"/>
              </a:solidFill>
              <a:effectLst/>
              <a:uFillTx/>
              <a:latin typeface="Roboto"/>
            </a:endParaRPr>
          </a:p>
        </p:txBody>
      </p:sp>
      <p:sp>
        <p:nvSpPr>
          <p:cNvPr id="550" name="Text 112"/>
          <p:cNvSpPr/>
          <p:nvPr/>
        </p:nvSpPr>
        <p:spPr>
          <a:xfrm>
            <a:off x="3849480" y="3051360"/>
            <a:ext cx="848160" cy="554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FFFFFF"/>
                </a:solidFill>
                <a:effectLst/>
                <a:uFillTx/>
                <a:latin typeface="Roboto"/>
                <a:ea typeface="Roboto"/>
              </a:rPr>
              <a:t>0.49</a:t>
            </a:r>
            <a:endParaRPr lang="fr-FR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51" name="Shape 113"/>
          <p:cNvSpPr/>
          <p:nvPr/>
        </p:nvSpPr>
        <p:spPr>
          <a:xfrm>
            <a:off x="4727520" y="3079080"/>
            <a:ext cx="793440" cy="499320"/>
          </a:xfrm>
          <a:prstGeom prst="roundRect">
            <a:avLst>
              <a:gd name="adj" fmla="val 9115"/>
            </a:avLst>
          </a:prstGeom>
          <a:solidFill>
            <a:srgbClr val="82604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fr-FR" sz="1800" b="0" u="none" strike="noStrike">
              <a:solidFill>
                <a:srgbClr val="FFFFFF"/>
              </a:solidFill>
              <a:effectLst/>
              <a:uFillTx/>
              <a:latin typeface="Roboto"/>
            </a:endParaRPr>
          </a:p>
        </p:txBody>
      </p:sp>
      <p:sp>
        <p:nvSpPr>
          <p:cNvPr id="552" name="Text 114"/>
          <p:cNvSpPr/>
          <p:nvPr/>
        </p:nvSpPr>
        <p:spPr>
          <a:xfrm>
            <a:off x="4700160" y="3051360"/>
            <a:ext cx="848160" cy="554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FFFFFF"/>
                </a:solidFill>
                <a:effectLst/>
                <a:uFillTx/>
                <a:latin typeface="Roboto"/>
                <a:ea typeface="Roboto"/>
              </a:rPr>
              <a:t>0.63</a:t>
            </a:r>
            <a:endParaRPr lang="fr-FR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53" name="Shape 115"/>
          <p:cNvSpPr/>
          <p:nvPr/>
        </p:nvSpPr>
        <p:spPr>
          <a:xfrm>
            <a:off x="5577840" y="3079080"/>
            <a:ext cx="793440" cy="499320"/>
          </a:xfrm>
          <a:prstGeom prst="roundRect">
            <a:avLst>
              <a:gd name="adj" fmla="val 9115"/>
            </a:avLst>
          </a:prstGeom>
          <a:solidFill>
            <a:srgbClr val="50424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fr-FR" sz="1800" b="0" u="none" strike="noStrike">
              <a:solidFill>
                <a:srgbClr val="FFFFFF"/>
              </a:solidFill>
              <a:effectLst/>
              <a:uFillTx/>
              <a:latin typeface="Roboto"/>
            </a:endParaRPr>
          </a:p>
        </p:txBody>
      </p:sp>
      <p:sp>
        <p:nvSpPr>
          <p:cNvPr id="554" name="Text 116"/>
          <p:cNvSpPr/>
          <p:nvPr/>
        </p:nvSpPr>
        <p:spPr>
          <a:xfrm>
            <a:off x="5550480" y="3051360"/>
            <a:ext cx="848160" cy="554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FFFFFF"/>
                </a:solidFill>
                <a:effectLst/>
                <a:uFillTx/>
                <a:latin typeface="Roboto"/>
                <a:ea typeface="Roboto"/>
              </a:rPr>
              <a:t>0.40</a:t>
            </a:r>
            <a:endParaRPr lang="fr-FR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55" name="Shape 117"/>
          <p:cNvSpPr/>
          <p:nvPr/>
        </p:nvSpPr>
        <p:spPr>
          <a:xfrm>
            <a:off x="6428160" y="3079080"/>
            <a:ext cx="793440" cy="499320"/>
          </a:xfrm>
          <a:prstGeom prst="roundRect">
            <a:avLst>
              <a:gd name="adj" fmla="val 9115"/>
            </a:avLst>
          </a:prstGeom>
          <a:solidFill>
            <a:srgbClr val="29293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fr-FR" sz="1800" b="0" u="none" strike="noStrike">
              <a:solidFill>
                <a:srgbClr val="FFFFFF"/>
              </a:solidFill>
              <a:effectLst/>
              <a:uFillTx/>
              <a:latin typeface="Roboto"/>
            </a:endParaRPr>
          </a:p>
        </p:txBody>
      </p:sp>
      <p:sp>
        <p:nvSpPr>
          <p:cNvPr id="556" name="Text 118"/>
          <p:cNvSpPr/>
          <p:nvPr/>
        </p:nvSpPr>
        <p:spPr>
          <a:xfrm>
            <a:off x="6400800" y="3051360"/>
            <a:ext cx="848160" cy="554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FFFFFF"/>
                </a:solidFill>
                <a:effectLst/>
                <a:uFillTx/>
                <a:latin typeface="Roboto"/>
                <a:ea typeface="Roboto"/>
              </a:rPr>
              <a:t>0.22</a:t>
            </a:r>
            <a:endParaRPr lang="fr-FR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57" name="Text 119"/>
          <p:cNvSpPr/>
          <p:nvPr/>
        </p:nvSpPr>
        <p:spPr>
          <a:xfrm>
            <a:off x="567000" y="3607920"/>
            <a:ext cx="729360" cy="554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8B96AC"/>
                </a:solidFill>
                <a:effectLst/>
                <a:uFillTx/>
                <a:latin typeface="Roboto"/>
                <a:ea typeface="Roboto"/>
              </a:rPr>
              <a:t>Fun</a:t>
            </a:r>
            <a:endParaRPr lang="fr-FR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58" name="Shape 120"/>
          <p:cNvSpPr/>
          <p:nvPr/>
        </p:nvSpPr>
        <p:spPr>
          <a:xfrm>
            <a:off x="1325880" y="3635280"/>
            <a:ext cx="793440" cy="499320"/>
          </a:xfrm>
          <a:prstGeom prst="roundRect">
            <a:avLst>
              <a:gd name="adj" fmla="val 9115"/>
            </a:avLst>
          </a:prstGeom>
          <a:solidFill>
            <a:srgbClr val="795B4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fr-FR" sz="1800" b="0" u="none" strike="noStrike">
              <a:solidFill>
                <a:srgbClr val="FFFFFF"/>
              </a:solidFill>
              <a:effectLst/>
              <a:uFillTx/>
              <a:latin typeface="Roboto"/>
            </a:endParaRPr>
          </a:p>
        </p:txBody>
      </p:sp>
      <p:sp>
        <p:nvSpPr>
          <p:cNvPr id="559" name="Text 121"/>
          <p:cNvSpPr/>
          <p:nvPr/>
        </p:nvSpPr>
        <p:spPr>
          <a:xfrm>
            <a:off x="1298520" y="3607920"/>
            <a:ext cx="848160" cy="554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FFFFFF"/>
                </a:solidFill>
                <a:effectLst/>
                <a:uFillTx/>
                <a:latin typeface="Roboto"/>
                <a:ea typeface="Roboto"/>
              </a:rPr>
              <a:t>0.59</a:t>
            </a:r>
            <a:endParaRPr lang="fr-FR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60" name="Shape 122"/>
          <p:cNvSpPr/>
          <p:nvPr/>
        </p:nvSpPr>
        <p:spPr>
          <a:xfrm>
            <a:off x="2176200" y="3635280"/>
            <a:ext cx="793440" cy="499320"/>
          </a:xfrm>
          <a:prstGeom prst="roundRect">
            <a:avLst>
              <a:gd name="adj" fmla="val 9115"/>
            </a:avLst>
          </a:prstGeom>
          <a:solidFill>
            <a:srgbClr val="634E4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fr-FR" sz="1800" b="0" u="none" strike="noStrike">
              <a:solidFill>
                <a:srgbClr val="FFFFFF"/>
              </a:solidFill>
              <a:effectLst/>
              <a:uFillTx/>
              <a:latin typeface="Roboto"/>
            </a:endParaRPr>
          </a:p>
        </p:txBody>
      </p:sp>
      <p:sp>
        <p:nvSpPr>
          <p:cNvPr id="561" name="Text 123"/>
          <p:cNvSpPr/>
          <p:nvPr/>
        </p:nvSpPr>
        <p:spPr>
          <a:xfrm>
            <a:off x="2148840" y="3607920"/>
            <a:ext cx="848160" cy="554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FFFFFF"/>
                </a:solidFill>
                <a:effectLst/>
                <a:uFillTx/>
                <a:latin typeface="Roboto"/>
                <a:ea typeface="Roboto"/>
              </a:rPr>
              <a:t>0.49</a:t>
            </a:r>
            <a:endParaRPr lang="fr-FR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62" name="Shape 124"/>
          <p:cNvSpPr/>
          <p:nvPr/>
        </p:nvSpPr>
        <p:spPr>
          <a:xfrm>
            <a:off x="3026520" y="3635280"/>
            <a:ext cx="793440" cy="499320"/>
          </a:xfrm>
          <a:prstGeom prst="roundRect">
            <a:avLst>
              <a:gd name="adj" fmla="val 9115"/>
            </a:avLst>
          </a:prstGeom>
          <a:solidFill>
            <a:srgbClr val="634E4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fr-FR" sz="1800" b="0" u="none" strike="noStrike">
              <a:solidFill>
                <a:srgbClr val="FFFFFF"/>
              </a:solidFill>
              <a:effectLst/>
              <a:uFillTx/>
              <a:latin typeface="Roboto"/>
            </a:endParaRPr>
          </a:p>
        </p:txBody>
      </p:sp>
      <p:sp>
        <p:nvSpPr>
          <p:cNvPr id="563" name="Text 125"/>
          <p:cNvSpPr/>
          <p:nvPr/>
        </p:nvSpPr>
        <p:spPr>
          <a:xfrm>
            <a:off x="2999160" y="3607920"/>
            <a:ext cx="848160" cy="554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FFFFFF"/>
                </a:solidFill>
                <a:effectLst/>
                <a:uFillTx/>
                <a:latin typeface="Roboto"/>
                <a:ea typeface="Roboto"/>
              </a:rPr>
              <a:t>0.49</a:t>
            </a:r>
            <a:endParaRPr lang="fr-FR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64" name="Shape 126"/>
          <p:cNvSpPr/>
          <p:nvPr/>
        </p:nvSpPr>
        <p:spPr>
          <a:xfrm>
            <a:off x="3877200" y="3635280"/>
            <a:ext cx="793440" cy="499320"/>
          </a:xfrm>
          <a:prstGeom prst="roundRect">
            <a:avLst>
              <a:gd name="adj" fmla="val 9115"/>
            </a:avLst>
          </a:prstGeom>
          <a:solidFill>
            <a:srgbClr val="F2A65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fr-FR" sz="1800" b="0" u="none" strike="noStrike">
              <a:solidFill>
                <a:srgbClr val="FFFFFF"/>
              </a:solidFill>
              <a:effectLst/>
              <a:uFillTx/>
              <a:latin typeface="Roboto"/>
            </a:endParaRPr>
          </a:p>
        </p:txBody>
      </p:sp>
      <p:sp>
        <p:nvSpPr>
          <p:cNvPr id="565" name="Text 127"/>
          <p:cNvSpPr/>
          <p:nvPr/>
        </p:nvSpPr>
        <p:spPr>
          <a:xfrm>
            <a:off x="3849480" y="3607920"/>
            <a:ext cx="848160" cy="554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1" u="none" strike="noStrike">
                <a:solidFill>
                  <a:srgbClr val="FFFFFF"/>
                </a:solidFill>
                <a:effectLst/>
                <a:uFillTx/>
                <a:latin typeface="Roboto"/>
                <a:ea typeface="Roboto"/>
              </a:rPr>
              <a:t>1.00</a:t>
            </a:r>
            <a:endParaRPr lang="fr-FR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66" name="Shape 128"/>
          <p:cNvSpPr/>
          <p:nvPr/>
        </p:nvSpPr>
        <p:spPr>
          <a:xfrm>
            <a:off x="4727520" y="3635280"/>
            <a:ext cx="793440" cy="499320"/>
          </a:xfrm>
          <a:prstGeom prst="roundRect">
            <a:avLst>
              <a:gd name="adj" fmla="val 9115"/>
            </a:avLst>
          </a:prstGeom>
          <a:solidFill>
            <a:srgbClr val="634E4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fr-FR" sz="1800" b="0" u="none" strike="noStrike">
              <a:solidFill>
                <a:srgbClr val="FFFFFF"/>
              </a:solidFill>
              <a:effectLst/>
              <a:uFillTx/>
              <a:latin typeface="Roboto"/>
            </a:endParaRPr>
          </a:p>
        </p:txBody>
      </p:sp>
      <p:sp>
        <p:nvSpPr>
          <p:cNvPr id="567" name="Text 129"/>
          <p:cNvSpPr/>
          <p:nvPr/>
        </p:nvSpPr>
        <p:spPr>
          <a:xfrm>
            <a:off x="4700160" y="3607920"/>
            <a:ext cx="848160" cy="554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FFFFFF"/>
                </a:solidFill>
                <a:effectLst/>
                <a:uFillTx/>
                <a:latin typeface="Roboto"/>
                <a:ea typeface="Roboto"/>
              </a:rPr>
              <a:t>0.49</a:t>
            </a:r>
            <a:endParaRPr lang="fr-FR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68" name="Shape 130"/>
          <p:cNvSpPr/>
          <p:nvPr/>
        </p:nvSpPr>
        <p:spPr>
          <a:xfrm>
            <a:off x="5577840" y="3635280"/>
            <a:ext cx="793440" cy="499320"/>
          </a:xfrm>
          <a:prstGeom prst="roundRect">
            <a:avLst>
              <a:gd name="adj" fmla="val 9115"/>
            </a:avLst>
          </a:prstGeom>
          <a:solidFill>
            <a:srgbClr val="805F4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fr-FR" sz="1800" b="0" u="none" strike="noStrike">
              <a:solidFill>
                <a:srgbClr val="FFFFFF"/>
              </a:solidFill>
              <a:effectLst/>
              <a:uFillTx/>
              <a:latin typeface="Roboto"/>
            </a:endParaRPr>
          </a:p>
        </p:txBody>
      </p:sp>
      <p:sp>
        <p:nvSpPr>
          <p:cNvPr id="569" name="Text 131"/>
          <p:cNvSpPr/>
          <p:nvPr/>
        </p:nvSpPr>
        <p:spPr>
          <a:xfrm>
            <a:off x="5550480" y="3607920"/>
            <a:ext cx="848160" cy="554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FFFFFF"/>
                </a:solidFill>
                <a:effectLst/>
                <a:uFillTx/>
                <a:latin typeface="Roboto"/>
                <a:ea typeface="Roboto"/>
              </a:rPr>
              <a:t>0.62</a:t>
            </a:r>
            <a:endParaRPr lang="fr-FR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70" name="Shape 132"/>
          <p:cNvSpPr/>
          <p:nvPr/>
        </p:nvSpPr>
        <p:spPr>
          <a:xfrm>
            <a:off x="6428160" y="3635280"/>
            <a:ext cx="793440" cy="499320"/>
          </a:xfrm>
          <a:prstGeom prst="roundRect">
            <a:avLst>
              <a:gd name="adj" fmla="val 9115"/>
            </a:avLst>
          </a:prstGeom>
          <a:solidFill>
            <a:srgbClr val="52434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fr-FR" sz="1800" b="0" u="none" strike="noStrike">
              <a:solidFill>
                <a:srgbClr val="FFFFFF"/>
              </a:solidFill>
              <a:effectLst/>
              <a:uFillTx/>
              <a:latin typeface="Roboto"/>
            </a:endParaRPr>
          </a:p>
        </p:txBody>
      </p:sp>
      <p:sp>
        <p:nvSpPr>
          <p:cNvPr id="571" name="Text 133"/>
          <p:cNvSpPr/>
          <p:nvPr/>
        </p:nvSpPr>
        <p:spPr>
          <a:xfrm>
            <a:off x="6400800" y="3607920"/>
            <a:ext cx="848160" cy="554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FFFFFF"/>
                </a:solidFill>
                <a:effectLst/>
                <a:uFillTx/>
                <a:latin typeface="Roboto"/>
                <a:ea typeface="Roboto"/>
              </a:rPr>
              <a:t>0.41</a:t>
            </a:r>
            <a:endParaRPr lang="fr-FR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72" name="Text 134"/>
          <p:cNvSpPr/>
          <p:nvPr/>
        </p:nvSpPr>
        <p:spPr>
          <a:xfrm>
            <a:off x="567000" y="4164480"/>
            <a:ext cx="729360" cy="554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8B96AC"/>
                </a:solidFill>
                <a:effectLst/>
                <a:uFillTx/>
                <a:latin typeface="Roboto"/>
                <a:ea typeface="Roboto"/>
              </a:rPr>
              <a:t>Amb</a:t>
            </a:r>
            <a:endParaRPr lang="fr-FR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73" name="Shape 135"/>
          <p:cNvSpPr/>
          <p:nvPr/>
        </p:nvSpPr>
        <p:spPr>
          <a:xfrm>
            <a:off x="1325880" y="4191840"/>
            <a:ext cx="793440" cy="499320"/>
          </a:xfrm>
          <a:prstGeom prst="roundRect">
            <a:avLst>
              <a:gd name="adj" fmla="val 9115"/>
            </a:avLst>
          </a:prstGeom>
          <a:solidFill>
            <a:srgbClr val="473C3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fr-FR" sz="1800" b="0" u="none" strike="noStrike">
              <a:solidFill>
                <a:srgbClr val="FFFFFF"/>
              </a:solidFill>
              <a:effectLst/>
              <a:uFillTx/>
              <a:latin typeface="Roboto"/>
            </a:endParaRPr>
          </a:p>
        </p:txBody>
      </p:sp>
      <p:sp>
        <p:nvSpPr>
          <p:cNvPr id="574" name="Text 136"/>
          <p:cNvSpPr/>
          <p:nvPr/>
        </p:nvSpPr>
        <p:spPr>
          <a:xfrm>
            <a:off x="1298520" y="4164480"/>
            <a:ext cx="848160" cy="554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FFFFFF"/>
                </a:solidFill>
                <a:effectLst/>
                <a:uFillTx/>
                <a:latin typeface="Roboto"/>
                <a:ea typeface="Roboto"/>
              </a:rPr>
              <a:t>0.36</a:t>
            </a:r>
            <a:endParaRPr lang="fr-FR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75" name="Shape 137"/>
          <p:cNvSpPr/>
          <p:nvPr/>
        </p:nvSpPr>
        <p:spPr>
          <a:xfrm>
            <a:off x="2176200" y="4191840"/>
            <a:ext cx="793440" cy="499320"/>
          </a:xfrm>
          <a:prstGeom prst="roundRect">
            <a:avLst>
              <a:gd name="adj" fmla="val 9115"/>
            </a:avLst>
          </a:prstGeom>
          <a:solidFill>
            <a:srgbClr val="5D4A4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fr-FR" sz="1800" b="0" u="none" strike="noStrike">
              <a:solidFill>
                <a:srgbClr val="FFFFFF"/>
              </a:solidFill>
              <a:effectLst/>
              <a:uFillTx/>
              <a:latin typeface="Roboto"/>
            </a:endParaRPr>
          </a:p>
        </p:txBody>
      </p:sp>
      <p:sp>
        <p:nvSpPr>
          <p:cNvPr id="576" name="Text 138"/>
          <p:cNvSpPr/>
          <p:nvPr/>
        </p:nvSpPr>
        <p:spPr>
          <a:xfrm>
            <a:off x="2148840" y="4164480"/>
            <a:ext cx="848160" cy="554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FFFFFF"/>
                </a:solidFill>
                <a:effectLst/>
                <a:uFillTx/>
                <a:latin typeface="Roboto"/>
                <a:ea typeface="Roboto"/>
              </a:rPr>
              <a:t>0.46</a:t>
            </a:r>
            <a:endParaRPr lang="fr-FR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77" name="Shape 139"/>
          <p:cNvSpPr/>
          <p:nvPr/>
        </p:nvSpPr>
        <p:spPr>
          <a:xfrm>
            <a:off x="3026520" y="4191840"/>
            <a:ext cx="793440" cy="499320"/>
          </a:xfrm>
          <a:prstGeom prst="roundRect">
            <a:avLst>
              <a:gd name="adj" fmla="val 9115"/>
            </a:avLst>
          </a:prstGeom>
          <a:solidFill>
            <a:srgbClr val="82604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fr-FR" sz="1800" b="0" u="none" strike="noStrike">
              <a:solidFill>
                <a:srgbClr val="FFFFFF"/>
              </a:solidFill>
              <a:effectLst/>
              <a:uFillTx/>
              <a:latin typeface="Roboto"/>
            </a:endParaRPr>
          </a:p>
        </p:txBody>
      </p:sp>
      <p:sp>
        <p:nvSpPr>
          <p:cNvPr id="578" name="Text 140"/>
          <p:cNvSpPr/>
          <p:nvPr/>
        </p:nvSpPr>
        <p:spPr>
          <a:xfrm>
            <a:off x="2999160" y="4164480"/>
            <a:ext cx="848160" cy="554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FFFFFF"/>
                </a:solidFill>
                <a:effectLst/>
                <a:uFillTx/>
                <a:latin typeface="Roboto"/>
                <a:ea typeface="Roboto"/>
              </a:rPr>
              <a:t>0.63</a:t>
            </a:r>
            <a:endParaRPr lang="fr-FR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79" name="Shape 141"/>
          <p:cNvSpPr/>
          <p:nvPr/>
        </p:nvSpPr>
        <p:spPr>
          <a:xfrm>
            <a:off x="3877200" y="4191840"/>
            <a:ext cx="793440" cy="499320"/>
          </a:xfrm>
          <a:prstGeom prst="roundRect">
            <a:avLst>
              <a:gd name="adj" fmla="val 9115"/>
            </a:avLst>
          </a:prstGeom>
          <a:solidFill>
            <a:srgbClr val="634E4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fr-FR" sz="1800" b="0" u="none" strike="noStrike">
              <a:solidFill>
                <a:srgbClr val="FFFFFF"/>
              </a:solidFill>
              <a:effectLst/>
              <a:uFillTx/>
              <a:latin typeface="Roboto"/>
            </a:endParaRPr>
          </a:p>
        </p:txBody>
      </p:sp>
      <p:sp>
        <p:nvSpPr>
          <p:cNvPr id="580" name="Text 142"/>
          <p:cNvSpPr/>
          <p:nvPr/>
        </p:nvSpPr>
        <p:spPr>
          <a:xfrm>
            <a:off x="3849480" y="4164480"/>
            <a:ext cx="848160" cy="554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FFFFFF"/>
                </a:solidFill>
                <a:effectLst/>
                <a:uFillTx/>
                <a:latin typeface="Roboto"/>
                <a:ea typeface="Roboto"/>
              </a:rPr>
              <a:t>0.49</a:t>
            </a:r>
            <a:endParaRPr lang="fr-FR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81" name="Shape 143"/>
          <p:cNvSpPr/>
          <p:nvPr/>
        </p:nvSpPr>
        <p:spPr>
          <a:xfrm>
            <a:off x="4727520" y="4191840"/>
            <a:ext cx="793440" cy="499320"/>
          </a:xfrm>
          <a:prstGeom prst="roundRect">
            <a:avLst>
              <a:gd name="adj" fmla="val 9115"/>
            </a:avLst>
          </a:prstGeom>
          <a:solidFill>
            <a:srgbClr val="F2A65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fr-FR" sz="1800" b="0" u="none" strike="noStrike">
              <a:solidFill>
                <a:srgbClr val="FFFFFF"/>
              </a:solidFill>
              <a:effectLst/>
              <a:uFillTx/>
              <a:latin typeface="Roboto"/>
            </a:endParaRPr>
          </a:p>
        </p:txBody>
      </p:sp>
      <p:sp>
        <p:nvSpPr>
          <p:cNvPr id="582" name="Text 144"/>
          <p:cNvSpPr/>
          <p:nvPr/>
        </p:nvSpPr>
        <p:spPr>
          <a:xfrm>
            <a:off x="4700160" y="4164480"/>
            <a:ext cx="848160" cy="554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1" u="none" strike="noStrike">
                <a:solidFill>
                  <a:srgbClr val="FFFFFF"/>
                </a:solidFill>
                <a:effectLst/>
                <a:uFillTx/>
                <a:latin typeface="Roboto"/>
                <a:ea typeface="Roboto"/>
              </a:rPr>
              <a:t>1.00</a:t>
            </a:r>
            <a:endParaRPr lang="fr-FR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83" name="Shape 145"/>
          <p:cNvSpPr/>
          <p:nvPr/>
        </p:nvSpPr>
        <p:spPr>
          <a:xfrm>
            <a:off x="5577840" y="4191840"/>
            <a:ext cx="793440" cy="499320"/>
          </a:xfrm>
          <a:prstGeom prst="roundRect">
            <a:avLst>
              <a:gd name="adj" fmla="val 9115"/>
            </a:avLst>
          </a:prstGeom>
          <a:solidFill>
            <a:srgbClr val="56464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fr-FR" sz="1800" b="0" u="none" strike="noStrike">
              <a:solidFill>
                <a:srgbClr val="FFFFFF"/>
              </a:solidFill>
              <a:effectLst/>
              <a:uFillTx/>
              <a:latin typeface="Roboto"/>
            </a:endParaRPr>
          </a:p>
        </p:txBody>
      </p:sp>
      <p:sp>
        <p:nvSpPr>
          <p:cNvPr id="584" name="Text 146"/>
          <p:cNvSpPr/>
          <p:nvPr/>
        </p:nvSpPr>
        <p:spPr>
          <a:xfrm>
            <a:off x="5550480" y="4164480"/>
            <a:ext cx="848160" cy="554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FFFFFF"/>
                </a:solidFill>
                <a:effectLst/>
                <a:uFillTx/>
                <a:latin typeface="Roboto"/>
                <a:ea typeface="Roboto"/>
              </a:rPr>
              <a:t>0.43</a:t>
            </a:r>
            <a:endParaRPr lang="fr-FR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85" name="Shape 147"/>
          <p:cNvSpPr/>
          <p:nvPr/>
        </p:nvSpPr>
        <p:spPr>
          <a:xfrm>
            <a:off x="6428160" y="4191840"/>
            <a:ext cx="793440" cy="499320"/>
          </a:xfrm>
          <a:prstGeom prst="roundRect">
            <a:avLst>
              <a:gd name="adj" fmla="val 9115"/>
            </a:avLst>
          </a:prstGeom>
          <a:solidFill>
            <a:srgbClr val="20243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fr-FR" sz="1800" b="0" u="none" strike="noStrike">
              <a:solidFill>
                <a:srgbClr val="FFFFFF"/>
              </a:solidFill>
              <a:effectLst/>
              <a:uFillTx/>
              <a:latin typeface="Roboto"/>
            </a:endParaRPr>
          </a:p>
        </p:txBody>
      </p:sp>
      <p:sp>
        <p:nvSpPr>
          <p:cNvPr id="586" name="Text 148"/>
          <p:cNvSpPr/>
          <p:nvPr/>
        </p:nvSpPr>
        <p:spPr>
          <a:xfrm>
            <a:off x="6400800" y="4164480"/>
            <a:ext cx="848160" cy="554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FFFFFF"/>
                </a:solidFill>
                <a:effectLst/>
                <a:uFillTx/>
                <a:latin typeface="Roboto"/>
                <a:ea typeface="Roboto"/>
              </a:rPr>
              <a:t>0.18</a:t>
            </a:r>
            <a:endParaRPr lang="fr-FR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87" name="Text 149"/>
          <p:cNvSpPr/>
          <p:nvPr/>
        </p:nvSpPr>
        <p:spPr>
          <a:xfrm>
            <a:off x="567000" y="4721040"/>
            <a:ext cx="729360" cy="554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8B96AC"/>
                </a:solidFill>
                <a:effectLst/>
                <a:uFillTx/>
                <a:latin typeface="Roboto"/>
                <a:ea typeface="Roboto"/>
              </a:rPr>
              <a:t>Shar</a:t>
            </a:r>
            <a:endParaRPr lang="fr-FR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88" name="Shape 150"/>
          <p:cNvSpPr/>
          <p:nvPr/>
        </p:nvSpPr>
        <p:spPr>
          <a:xfrm>
            <a:off x="1325880" y="4748400"/>
            <a:ext cx="793440" cy="499320"/>
          </a:xfrm>
          <a:prstGeom prst="roundRect">
            <a:avLst>
              <a:gd name="adj" fmla="val 9115"/>
            </a:avLst>
          </a:prstGeom>
          <a:solidFill>
            <a:srgbClr val="614C4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fr-FR" sz="1800" b="0" u="none" strike="noStrike">
              <a:solidFill>
                <a:srgbClr val="FFFFFF"/>
              </a:solidFill>
              <a:effectLst/>
              <a:uFillTx/>
              <a:latin typeface="Roboto"/>
            </a:endParaRPr>
          </a:p>
        </p:txBody>
      </p:sp>
      <p:sp>
        <p:nvSpPr>
          <p:cNvPr id="589" name="Text 151"/>
          <p:cNvSpPr/>
          <p:nvPr/>
        </p:nvSpPr>
        <p:spPr>
          <a:xfrm>
            <a:off x="1298520" y="4721040"/>
            <a:ext cx="848160" cy="554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FFFFFF"/>
                </a:solidFill>
                <a:effectLst/>
                <a:uFillTx/>
                <a:latin typeface="Roboto"/>
                <a:ea typeface="Roboto"/>
              </a:rPr>
              <a:t>0.48</a:t>
            </a:r>
            <a:endParaRPr lang="fr-FR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90" name="Shape 152"/>
          <p:cNvSpPr/>
          <p:nvPr/>
        </p:nvSpPr>
        <p:spPr>
          <a:xfrm>
            <a:off x="2176200" y="4748400"/>
            <a:ext cx="793440" cy="499320"/>
          </a:xfrm>
          <a:prstGeom prst="roundRect">
            <a:avLst>
              <a:gd name="adj" fmla="val 9115"/>
            </a:avLst>
          </a:prstGeom>
          <a:solidFill>
            <a:srgbClr val="50424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fr-FR" sz="1800" b="0" u="none" strike="noStrike">
              <a:solidFill>
                <a:srgbClr val="FFFFFF"/>
              </a:solidFill>
              <a:effectLst/>
              <a:uFillTx/>
              <a:latin typeface="Roboto"/>
            </a:endParaRPr>
          </a:p>
        </p:txBody>
      </p:sp>
      <p:sp>
        <p:nvSpPr>
          <p:cNvPr id="591" name="Text 153"/>
          <p:cNvSpPr/>
          <p:nvPr/>
        </p:nvSpPr>
        <p:spPr>
          <a:xfrm>
            <a:off x="2148840" y="4721040"/>
            <a:ext cx="848160" cy="554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FFFFFF"/>
                </a:solidFill>
                <a:effectLst/>
                <a:uFillTx/>
                <a:latin typeface="Roboto"/>
                <a:ea typeface="Roboto"/>
              </a:rPr>
              <a:t>0.40</a:t>
            </a:r>
            <a:endParaRPr lang="fr-FR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92" name="Shape 154"/>
          <p:cNvSpPr/>
          <p:nvPr/>
        </p:nvSpPr>
        <p:spPr>
          <a:xfrm>
            <a:off x="3026520" y="4748400"/>
            <a:ext cx="793440" cy="499320"/>
          </a:xfrm>
          <a:prstGeom prst="roundRect">
            <a:avLst>
              <a:gd name="adj" fmla="val 9115"/>
            </a:avLst>
          </a:prstGeom>
          <a:solidFill>
            <a:srgbClr val="50424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fr-FR" sz="1800" b="0" u="none" strike="noStrike">
              <a:solidFill>
                <a:srgbClr val="FFFFFF"/>
              </a:solidFill>
              <a:effectLst/>
              <a:uFillTx/>
              <a:latin typeface="Roboto"/>
            </a:endParaRPr>
          </a:p>
        </p:txBody>
      </p:sp>
      <p:sp>
        <p:nvSpPr>
          <p:cNvPr id="593" name="Text 155"/>
          <p:cNvSpPr/>
          <p:nvPr/>
        </p:nvSpPr>
        <p:spPr>
          <a:xfrm>
            <a:off x="2999160" y="4721040"/>
            <a:ext cx="848160" cy="554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FFFFFF"/>
                </a:solidFill>
                <a:effectLst/>
                <a:uFillTx/>
                <a:latin typeface="Roboto"/>
                <a:ea typeface="Roboto"/>
              </a:rPr>
              <a:t>0.40</a:t>
            </a:r>
            <a:endParaRPr lang="fr-FR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94" name="Shape 156"/>
          <p:cNvSpPr/>
          <p:nvPr/>
        </p:nvSpPr>
        <p:spPr>
          <a:xfrm>
            <a:off x="3877200" y="4748400"/>
            <a:ext cx="793440" cy="499320"/>
          </a:xfrm>
          <a:prstGeom prst="roundRect">
            <a:avLst>
              <a:gd name="adj" fmla="val 9115"/>
            </a:avLst>
          </a:prstGeom>
          <a:solidFill>
            <a:srgbClr val="805F4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fr-FR" sz="1800" b="0" u="none" strike="noStrike">
              <a:solidFill>
                <a:srgbClr val="FFFFFF"/>
              </a:solidFill>
              <a:effectLst/>
              <a:uFillTx/>
              <a:latin typeface="Roboto"/>
            </a:endParaRPr>
          </a:p>
        </p:txBody>
      </p:sp>
      <p:sp>
        <p:nvSpPr>
          <p:cNvPr id="595" name="Text 157"/>
          <p:cNvSpPr/>
          <p:nvPr/>
        </p:nvSpPr>
        <p:spPr>
          <a:xfrm>
            <a:off x="3849480" y="4721040"/>
            <a:ext cx="848160" cy="554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FFFFFF"/>
                </a:solidFill>
                <a:effectLst/>
                <a:uFillTx/>
                <a:latin typeface="Roboto"/>
                <a:ea typeface="Roboto"/>
              </a:rPr>
              <a:t>0.62</a:t>
            </a:r>
            <a:endParaRPr lang="fr-FR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96" name="Shape 158"/>
          <p:cNvSpPr/>
          <p:nvPr/>
        </p:nvSpPr>
        <p:spPr>
          <a:xfrm>
            <a:off x="4727520" y="4748400"/>
            <a:ext cx="793440" cy="499320"/>
          </a:xfrm>
          <a:prstGeom prst="roundRect">
            <a:avLst>
              <a:gd name="adj" fmla="val 9115"/>
            </a:avLst>
          </a:prstGeom>
          <a:solidFill>
            <a:srgbClr val="56464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fr-FR" sz="1800" b="0" u="none" strike="noStrike">
              <a:solidFill>
                <a:srgbClr val="FFFFFF"/>
              </a:solidFill>
              <a:effectLst/>
              <a:uFillTx/>
              <a:latin typeface="Roboto"/>
            </a:endParaRPr>
          </a:p>
        </p:txBody>
      </p:sp>
      <p:sp>
        <p:nvSpPr>
          <p:cNvPr id="597" name="Text 159"/>
          <p:cNvSpPr/>
          <p:nvPr/>
        </p:nvSpPr>
        <p:spPr>
          <a:xfrm>
            <a:off x="4700160" y="4721040"/>
            <a:ext cx="848160" cy="554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FFFFFF"/>
                </a:solidFill>
                <a:effectLst/>
                <a:uFillTx/>
                <a:latin typeface="Roboto"/>
                <a:ea typeface="Roboto"/>
              </a:rPr>
              <a:t>0.43</a:t>
            </a:r>
            <a:endParaRPr lang="fr-FR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98" name="Shape 160"/>
          <p:cNvSpPr/>
          <p:nvPr/>
        </p:nvSpPr>
        <p:spPr>
          <a:xfrm>
            <a:off x="5577840" y="4748400"/>
            <a:ext cx="793440" cy="499320"/>
          </a:xfrm>
          <a:prstGeom prst="roundRect">
            <a:avLst>
              <a:gd name="adj" fmla="val 9115"/>
            </a:avLst>
          </a:prstGeom>
          <a:solidFill>
            <a:srgbClr val="F2A65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fr-FR" sz="1800" b="0" u="none" strike="noStrike">
              <a:solidFill>
                <a:srgbClr val="FFFFFF"/>
              </a:solidFill>
              <a:effectLst/>
              <a:uFillTx/>
              <a:latin typeface="Roboto"/>
            </a:endParaRPr>
          </a:p>
        </p:txBody>
      </p:sp>
      <p:sp>
        <p:nvSpPr>
          <p:cNvPr id="599" name="Text 161"/>
          <p:cNvSpPr/>
          <p:nvPr/>
        </p:nvSpPr>
        <p:spPr>
          <a:xfrm>
            <a:off x="5550480" y="4721040"/>
            <a:ext cx="848160" cy="554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1" u="none" strike="noStrike">
                <a:solidFill>
                  <a:srgbClr val="FFFFFF"/>
                </a:solidFill>
                <a:effectLst/>
                <a:uFillTx/>
                <a:latin typeface="Roboto"/>
                <a:ea typeface="Roboto"/>
              </a:rPr>
              <a:t>1.00</a:t>
            </a:r>
            <a:endParaRPr lang="fr-FR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00" name="Shape 162"/>
          <p:cNvSpPr/>
          <p:nvPr/>
        </p:nvSpPr>
        <p:spPr>
          <a:xfrm>
            <a:off x="6428160" y="4748400"/>
            <a:ext cx="793440" cy="499320"/>
          </a:xfrm>
          <a:prstGeom prst="roundRect">
            <a:avLst>
              <a:gd name="adj" fmla="val 9115"/>
            </a:avLst>
          </a:prstGeom>
          <a:solidFill>
            <a:srgbClr val="50424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fr-FR" sz="1800" b="0" u="none" strike="noStrike">
              <a:solidFill>
                <a:srgbClr val="FFFFFF"/>
              </a:solidFill>
              <a:effectLst/>
              <a:uFillTx/>
              <a:latin typeface="Roboto"/>
            </a:endParaRPr>
          </a:p>
        </p:txBody>
      </p:sp>
      <p:sp>
        <p:nvSpPr>
          <p:cNvPr id="601" name="Text 163"/>
          <p:cNvSpPr/>
          <p:nvPr/>
        </p:nvSpPr>
        <p:spPr>
          <a:xfrm>
            <a:off x="6400800" y="4721040"/>
            <a:ext cx="848160" cy="554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FFFFFF"/>
                </a:solidFill>
                <a:effectLst/>
                <a:uFillTx/>
                <a:latin typeface="Roboto"/>
                <a:ea typeface="Roboto"/>
              </a:rPr>
              <a:t>0.40</a:t>
            </a:r>
            <a:endParaRPr lang="fr-FR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02" name="Text 164"/>
          <p:cNvSpPr/>
          <p:nvPr/>
        </p:nvSpPr>
        <p:spPr>
          <a:xfrm>
            <a:off x="567000" y="5277240"/>
            <a:ext cx="729360" cy="554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8B96AC"/>
                </a:solidFill>
                <a:effectLst/>
                <a:uFillTx/>
                <a:latin typeface="Roboto"/>
                <a:ea typeface="Roboto"/>
              </a:rPr>
              <a:t>Dec</a:t>
            </a:r>
            <a:endParaRPr lang="fr-FR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03" name="Shape 165"/>
          <p:cNvSpPr/>
          <p:nvPr/>
        </p:nvSpPr>
        <p:spPr>
          <a:xfrm>
            <a:off x="1325880" y="5304960"/>
            <a:ext cx="793440" cy="499320"/>
          </a:xfrm>
          <a:prstGeom prst="roundRect">
            <a:avLst>
              <a:gd name="adj" fmla="val 9115"/>
            </a:avLst>
          </a:prstGeom>
          <a:solidFill>
            <a:srgbClr val="634E4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fr-FR" sz="1800" b="0" u="none" strike="noStrike">
              <a:solidFill>
                <a:srgbClr val="FFFFFF"/>
              </a:solidFill>
              <a:effectLst/>
              <a:uFillTx/>
              <a:latin typeface="Roboto"/>
            </a:endParaRPr>
          </a:p>
        </p:txBody>
      </p:sp>
      <p:sp>
        <p:nvSpPr>
          <p:cNvPr id="604" name="Text 166"/>
          <p:cNvSpPr/>
          <p:nvPr/>
        </p:nvSpPr>
        <p:spPr>
          <a:xfrm>
            <a:off x="1298520" y="5277240"/>
            <a:ext cx="848160" cy="554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FFFFFF"/>
                </a:solidFill>
                <a:effectLst/>
                <a:uFillTx/>
                <a:latin typeface="Roboto"/>
                <a:ea typeface="Roboto"/>
              </a:rPr>
              <a:t>0.49</a:t>
            </a:r>
            <a:endParaRPr lang="fr-FR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05" name="Shape 167"/>
          <p:cNvSpPr/>
          <p:nvPr/>
        </p:nvSpPr>
        <p:spPr>
          <a:xfrm>
            <a:off x="2176200" y="5304960"/>
            <a:ext cx="793440" cy="499320"/>
          </a:xfrm>
          <a:prstGeom prst="roundRect">
            <a:avLst>
              <a:gd name="adj" fmla="val 9115"/>
            </a:avLst>
          </a:prstGeom>
          <a:solidFill>
            <a:srgbClr val="27283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fr-FR" sz="1800" b="0" u="none" strike="noStrike">
              <a:solidFill>
                <a:srgbClr val="FFFFFF"/>
              </a:solidFill>
              <a:effectLst/>
              <a:uFillTx/>
              <a:latin typeface="Roboto"/>
            </a:endParaRPr>
          </a:p>
        </p:txBody>
      </p:sp>
      <p:sp>
        <p:nvSpPr>
          <p:cNvPr id="606" name="Text 168"/>
          <p:cNvSpPr/>
          <p:nvPr/>
        </p:nvSpPr>
        <p:spPr>
          <a:xfrm>
            <a:off x="2148840" y="5277240"/>
            <a:ext cx="848160" cy="554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FFFFFF"/>
                </a:solidFill>
                <a:effectLst/>
                <a:uFillTx/>
                <a:latin typeface="Roboto"/>
                <a:ea typeface="Roboto"/>
              </a:rPr>
              <a:t>0.21</a:t>
            </a:r>
            <a:endParaRPr lang="fr-FR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07" name="Shape 169"/>
          <p:cNvSpPr/>
          <p:nvPr/>
        </p:nvSpPr>
        <p:spPr>
          <a:xfrm>
            <a:off x="3026520" y="5304960"/>
            <a:ext cx="793440" cy="499320"/>
          </a:xfrm>
          <a:prstGeom prst="roundRect">
            <a:avLst>
              <a:gd name="adj" fmla="val 9115"/>
            </a:avLst>
          </a:prstGeom>
          <a:solidFill>
            <a:srgbClr val="29293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fr-FR" sz="1800" b="0" u="none" strike="noStrike">
              <a:solidFill>
                <a:srgbClr val="FFFFFF"/>
              </a:solidFill>
              <a:effectLst/>
              <a:uFillTx/>
              <a:latin typeface="Roboto"/>
            </a:endParaRPr>
          </a:p>
        </p:txBody>
      </p:sp>
      <p:sp>
        <p:nvSpPr>
          <p:cNvPr id="608" name="Text 170"/>
          <p:cNvSpPr/>
          <p:nvPr/>
        </p:nvSpPr>
        <p:spPr>
          <a:xfrm>
            <a:off x="2999160" y="5277240"/>
            <a:ext cx="848160" cy="554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FFFFFF"/>
                </a:solidFill>
                <a:effectLst/>
                <a:uFillTx/>
                <a:latin typeface="Roboto"/>
                <a:ea typeface="Roboto"/>
              </a:rPr>
              <a:t>0.22</a:t>
            </a:r>
            <a:endParaRPr lang="fr-FR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09" name="Shape 171"/>
          <p:cNvSpPr/>
          <p:nvPr/>
        </p:nvSpPr>
        <p:spPr>
          <a:xfrm>
            <a:off x="3877200" y="5304960"/>
            <a:ext cx="793440" cy="499320"/>
          </a:xfrm>
          <a:prstGeom prst="roundRect">
            <a:avLst>
              <a:gd name="adj" fmla="val 9115"/>
            </a:avLst>
          </a:prstGeom>
          <a:solidFill>
            <a:srgbClr val="52434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fr-FR" sz="1800" b="0" u="none" strike="noStrike">
              <a:solidFill>
                <a:srgbClr val="FFFFFF"/>
              </a:solidFill>
              <a:effectLst/>
              <a:uFillTx/>
              <a:latin typeface="Roboto"/>
            </a:endParaRPr>
          </a:p>
        </p:txBody>
      </p:sp>
      <p:sp>
        <p:nvSpPr>
          <p:cNvPr id="610" name="Text 172"/>
          <p:cNvSpPr/>
          <p:nvPr/>
        </p:nvSpPr>
        <p:spPr>
          <a:xfrm>
            <a:off x="3849480" y="5277240"/>
            <a:ext cx="848160" cy="554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FFFFFF"/>
                </a:solidFill>
                <a:effectLst/>
                <a:uFillTx/>
                <a:latin typeface="Roboto"/>
                <a:ea typeface="Roboto"/>
              </a:rPr>
              <a:t>0.41</a:t>
            </a:r>
            <a:endParaRPr lang="fr-FR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11" name="Shape 173"/>
          <p:cNvSpPr/>
          <p:nvPr/>
        </p:nvSpPr>
        <p:spPr>
          <a:xfrm>
            <a:off x="4727520" y="5304960"/>
            <a:ext cx="793440" cy="499320"/>
          </a:xfrm>
          <a:prstGeom prst="roundRect">
            <a:avLst>
              <a:gd name="adj" fmla="val 9115"/>
            </a:avLst>
          </a:prstGeom>
          <a:solidFill>
            <a:srgbClr val="20243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fr-FR" sz="1800" b="0" u="none" strike="noStrike">
              <a:solidFill>
                <a:srgbClr val="FFFFFF"/>
              </a:solidFill>
              <a:effectLst/>
              <a:uFillTx/>
              <a:latin typeface="Roboto"/>
            </a:endParaRPr>
          </a:p>
        </p:txBody>
      </p:sp>
      <p:sp>
        <p:nvSpPr>
          <p:cNvPr id="612" name="Text 174"/>
          <p:cNvSpPr/>
          <p:nvPr/>
        </p:nvSpPr>
        <p:spPr>
          <a:xfrm>
            <a:off x="4700160" y="5277240"/>
            <a:ext cx="848160" cy="554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FFFFFF"/>
                </a:solidFill>
                <a:effectLst/>
                <a:uFillTx/>
                <a:latin typeface="Roboto"/>
                <a:ea typeface="Roboto"/>
              </a:rPr>
              <a:t>0.18</a:t>
            </a:r>
            <a:endParaRPr lang="fr-FR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13" name="Shape 175"/>
          <p:cNvSpPr/>
          <p:nvPr/>
        </p:nvSpPr>
        <p:spPr>
          <a:xfrm>
            <a:off x="5577840" y="5304960"/>
            <a:ext cx="793440" cy="499320"/>
          </a:xfrm>
          <a:prstGeom prst="roundRect">
            <a:avLst>
              <a:gd name="adj" fmla="val 9115"/>
            </a:avLst>
          </a:prstGeom>
          <a:solidFill>
            <a:srgbClr val="50424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fr-FR" sz="1800" b="0" u="none" strike="noStrike">
              <a:solidFill>
                <a:srgbClr val="FFFFFF"/>
              </a:solidFill>
              <a:effectLst/>
              <a:uFillTx/>
              <a:latin typeface="Roboto"/>
            </a:endParaRPr>
          </a:p>
        </p:txBody>
      </p:sp>
      <p:sp>
        <p:nvSpPr>
          <p:cNvPr id="614" name="Text 176"/>
          <p:cNvSpPr/>
          <p:nvPr/>
        </p:nvSpPr>
        <p:spPr>
          <a:xfrm>
            <a:off x="5550480" y="5277240"/>
            <a:ext cx="848160" cy="554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FFFFFF"/>
                </a:solidFill>
                <a:effectLst/>
                <a:uFillTx/>
                <a:latin typeface="Roboto"/>
                <a:ea typeface="Roboto"/>
              </a:rPr>
              <a:t>0.40</a:t>
            </a:r>
            <a:endParaRPr lang="fr-FR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15" name="Shape 177"/>
          <p:cNvSpPr/>
          <p:nvPr/>
        </p:nvSpPr>
        <p:spPr>
          <a:xfrm>
            <a:off x="6428160" y="5304960"/>
            <a:ext cx="793440" cy="499320"/>
          </a:xfrm>
          <a:prstGeom prst="roundRect">
            <a:avLst>
              <a:gd name="adj" fmla="val 9115"/>
            </a:avLst>
          </a:prstGeom>
          <a:solidFill>
            <a:srgbClr val="F2A65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fr-FR" sz="1800" b="0" u="none" strike="noStrike">
              <a:solidFill>
                <a:srgbClr val="FFFFFF"/>
              </a:solidFill>
              <a:effectLst/>
              <a:uFillTx/>
              <a:latin typeface="Roboto"/>
            </a:endParaRPr>
          </a:p>
        </p:txBody>
      </p:sp>
      <p:sp>
        <p:nvSpPr>
          <p:cNvPr id="616" name="Text 178"/>
          <p:cNvSpPr/>
          <p:nvPr/>
        </p:nvSpPr>
        <p:spPr>
          <a:xfrm>
            <a:off x="6400800" y="5277240"/>
            <a:ext cx="848160" cy="554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1" u="none" strike="noStrike">
                <a:solidFill>
                  <a:srgbClr val="FFFFFF"/>
                </a:solidFill>
                <a:effectLst/>
                <a:uFillTx/>
                <a:latin typeface="Roboto"/>
                <a:ea typeface="Roboto"/>
              </a:rPr>
              <a:t>1.00</a:t>
            </a:r>
            <a:endParaRPr lang="fr-FR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17" name="Shape 179"/>
          <p:cNvSpPr/>
          <p:nvPr/>
        </p:nvSpPr>
        <p:spPr>
          <a:xfrm>
            <a:off x="7680960" y="1371600"/>
            <a:ext cx="4048560" cy="4661280"/>
          </a:xfrm>
          <a:prstGeom prst="roundRect">
            <a:avLst>
              <a:gd name="adj" fmla="val 2032"/>
            </a:avLst>
          </a:prstGeom>
          <a:solidFill>
            <a:srgbClr val="263659"/>
          </a:solidFill>
          <a:ln w="12700">
            <a:solidFill>
              <a:srgbClr val="3D4B72"/>
            </a:solidFill>
            <a:round/>
          </a:ln>
          <a:effectLst>
            <a:outerShdw algn="bl" blurRad="101520" dir="5400000" dist="38160" kx="0" ky="0" rotWithShape="0" sx="100000" sy="10000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fr-FR" sz="1800" b="0" u="none" strike="noStrike">
              <a:solidFill>
                <a:srgbClr val="FFFFFF"/>
              </a:solidFill>
              <a:effectLst/>
              <a:uFillTx/>
              <a:latin typeface="Roboto"/>
            </a:endParaRPr>
          </a:p>
        </p:txBody>
      </p:sp>
      <p:sp>
        <p:nvSpPr>
          <p:cNvPr id="618" name="Text 180"/>
          <p:cNvSpPr/>
          <p:nvPr/>
        </p:nvSpPr>
        <p:spPr>
          <a:xfrm>
            <a:off x="7936920" y="1591200"/>
            <a:ext cx="3536640" cy="253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pc="150" strike="noStrike">
                <a:solidFill>
                  <a:srgbClr val="F2A65A"/>
                </a:solidFill>
                <a:effectLst/>
                <a:uFillTx/>
                <a:latin typeface="Roboto"/>
                <a:ea typeface="Roboto"/>
              </a:rPr>
              <a:t>WHAT IT MEANS</a:t>
            </a:r>
            <a:endParaRPr lang="fr-FR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19" name="Text 181"/>
          <p:cNvSpPr/>
          <p:nvPr/>
        </p:nvSpPr>
        <p:spPr>
          <a:xfrm>
            <a:off x="7936920" y="1938600"/>
            <a:ext cx="3536640" cy="383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marL="177840" indent="-177840" defTabSz="914400">
              <a:lnSpc>
                <a:spcPct val="128000"/>
              </a:lnSpc>
              <a:buClr>
                <a:srgbClr val="FFFFFF"/>
              </a:buClr>
              <a:buFont typeface="Symbol" charset="2"/>
              <a:buChar char=""/>
            </a:pPr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Roboto"/>
                <a:ea typeface="Roboto"/>
              </a:rPr>
              <a:t>Attractiveness has the strongest link to saying yes (r = 0.49).</a:t>
            </a:r>
            <a:endParaRPr lang="fr-FR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177840" indent="-177840" defTabSz="914400">
              <a:lnSpc>
                <a:spcPct val="128000"/>
              </a:lnSpc>
              <a:buClr>
                <a:srgbClr val="FFFFFF"/>
              </a:buClr>
              <a:buFont typeface="Symbol" charset="2"/>
              <a:buChar char=""/>
            </a:pPr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Roboto"/>
                <a:ea typeface="Roboto"/>
              </a:rPr>
              <a:t>Fun (0.41) and shared interests (0.40) also correlate positively with the decision.</a:t>
            </a:r>
            <a:endParaRPr lang="fr-FR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177840" indent="-177840" defTabSz="914400">
              <a:lnSpc>
                <a:spcPct val="128000"/>
              </a:lnSpc>
              <a:buClr>
                <a:srgbClr val="FFFFFF"/>
              </a:buClr>
              <a:buFont typeface="Symbol" charset="2"/>
              <a:buChar char=""/>
            </a:pPr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Roboto"/>
                <a:ea typeface="Roboto"/>
              </a:rPr>
              <a:t>Sincerity, intelligence and ambition show much weaker links (r ≈ 0.18–0.22).</a:t>
            </a:r>
            <a:endParaRPr lang="fr-FR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177840" indent="-177840" defTabSz="914400">
              <a:lnSpc>
                <a:spcPct val="128000"/>
              </a:lnSpc>
              <a:buClr>
                <a:srgbClr val="FFFFFF"/>
              </a:buClr>
              <a:buFont typeface="Symbol" charset="2"/>
              <a:buChar char=""/>
            </a:pPr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Roboto"/>
                <a:ea typeface="Roboto"/>
              </a:rPr>
              <a:t>This pattern is confirmed later once all six attributes are combined in the machine learning model.</a:t>
            </a:r>
            <a:endParaRPr lang="fr-FR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20" name="Shape 182"/>
          <p:cNvSpPr/>
          <p:nvPr/>
        </p:nvSpPr>
        <p:spPr>
          <a:xfrm>
            <a:off x="548640" y="6263640"/>
            <a:ext cx="11091600" cy="360"/>
          </a:xfrm>
          <a:prstGeom prst="line">
            <a:avLst/>
          </a:prstGeom>
          <a:ln w="12700">
            <a:solidFill>
              <a:srgbClr val="3D4B7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fr-FR" sz="1800" b="0" u="none" strike="noStrike">
              <a:solidFill>
                <a:srgbClr val="FFFFFF"/>
              </a:solidFill>
              <a:effectLst/>
              <a:uFillTx/>
              <a:latin typeface="Roboto"/>
            </a:endParaRPr>
          </a:p>
        </p:txBody>
      </p:sp>
      <p:sp>
        <p:nvSpPr>
          <p:cNvPr id="621" name="Text 183"/>
          <p:cNvSpPr/>
          <p:nvPr/>
        </p:nvSpPr>
        <p:spPr>
          <a:xfrm>
            <a:off x="457200" y="6355080"/>
            <a:ext cx="8227440" cy="27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5C6684"/>
                </a:solidFill>
                <a:effectLst/>
                <a:uFillTx/>
                <a:latin typeface="Roboto"/>
                <a:ea typeface="Roboto"/>
              </a:rPr>
              <a:t>Speed dating experiment · Attraction, preferences &amp; machine learning</a:t>
            </a:r>
            <a:endParaRPr lang="fr-FR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22" name="Text 184"/>
          <p:cNvSpPr/>
          <p:nvPr/>
        </p:nvSpPr>
        <p:spPr>
          <a:xfrm>
            <a:off x="11274480" y="6355080"/>
            <a:ext cx="455040" cy="27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5C6684"/>
                </a:solidFill>
                <a:effectLst/>
                <a:uFillTx/>
                <a:latin typeface="Roboto"/>
                <a:ea typeface="Roboto"/>
              </a:rPr>
              <a:t>06</a:t>
            </a:r>
            <a:endParaRPr lang="fr-FR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3" name="Shape 0"/>
          <p:cNvSpPr/>
          <p:nvPr/>
        </p:nvSpPr>
        <p:spPr>
          <a:xfrm>
            <a:off x="0" y="0"/>
            <a:ext cx="360" cy="6858000"/>
          </a:xfrm>
          <a:prstGeom prst="line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0" tIns="45000" rIns="0" bIns="45000" anchor="t" anchorCtr="1">
            <a:noAutofit/>
          </a:bodyPr>
          <a:p>
            <a:endParaRPr lang="fr-FR" sz="1800" b="0" u="none" strike="noStrike">
              <a:solidFill>
                <a:srgbClr val="FFFFFF"/>
              </a:solidFill>
              <a:effectLst/>
              <a:uFillTx/>
              <a:latin typeface="Roboto"/>
            </a:endParaRPr>
          </a:p>
        </p:txBody>
      </p:sp>
      <p:sp>
        <p:nvSpPr>
          <p:cNvPr id="624" name="Shape 1"/>
          <p:cNvSpPr/>
          <p:nvPr/>
        </p:nvSpPr>
        <p:spPr>
          <a:xfrm>
            <a:off x="304560" y="0"/>
            <a:ext cx="360" cy="6858000"/>
          </a:xfrm>
          <a:prstGeom prst="line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0" tIns="45000" rIns="0" bIns="45000" anchor="t" anchorCtr="1">
            <a:noAutofit/>
          </a:bodyPr>
          <a:p>
            <a:endParaRPr lang="fr-FR" sz="1800" b="0" u="none" strike="noStrike">
              <a:solidFill>
                <a:srgbClr val="FFFFFF"/>
              </a:solidFill>
              <a:effectLst/>
              <a:uFillTx/>
              <a:latin typeface="Roboto"/>
            </a:endParaRPr>
          </a:p>
        </p:txBody>
      </p:sp>
      <p:sp>
        <p:nvSpPr>
          <p:cNvPr id="625" name="Shape 2"/>
          <p:cNvSpPr/>
          <p:nvPr/>
        </p:nvSpPr>
        <p:spPr>
          <a:xfrm>
            <a:off x="609480" y="0"/>
            <a:ext cx="360" cy="6858000"/>
          </a:xfrm>
          <a:prstGeom prst="line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0" tIns="45000" rIns="0" bIns="45000" anchor="t" anchorCtr="1">
            <a:noAutofit/>
          </a:bodyPr>
          <a:p>
            <a:endParaRPr lang="fr-FR" sz="1800" b="0" u="none" strike="noStrike">
              <a:solidFill>
                <a:srgbClr val="FFFFFF"/>
              </a:solidFill>
              <a:effectLst/>
              <a:uFillTx/>
              <a:latin typeface="Roboto"/>
            </a:endParaRPr>
          </a:p>
        </p:txBody>
      </p:sp>
      <p:sp>
        <p:nvSpPr>
          <p:cNvPr id="626" name="Shape 3"/>
          <p:cNvSpPr/>
          <p:nvPr/>
        </p:nvSpPr>
        <p:spPr>
          <a:xfrm>
            <a:off x="914040" y="0"/>
            <a:ext cx="360" cy="6858000"/>
          </a:xfrm>
          <a:prstGeom prst="line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0" tIns="45000" rIns="0" bIns="45000" anchor="t" anchorCtr="1">
            <a:noAutofit/>
          </a:bodyPr>
          <a:p>
            <a:endParaRPr lang="fr-FR" sz="1800" b="0" u="none" strike="noStrike">
              <a:solidFill>
                <a:srgbClr val="FFFFFF"/>
              </a:solidFill>
              <a:effectLst/>
              <a:uFillTx/>
              <a:latin typeface="Roboto"/>
            </a:endParaRPr>
          </a:p>
        </p:txBody>
      </p:sp>
      <p:sp>
        <p:nvSpPr>
          <p:cNvPr id="627" name="Shape 4"/>
          <p:cNvSpPr/>
          <p:nvPr/>
        </p:nvSpPr>
        <p:spPr>
          <a:xfrm>
            <a:off x="1218960" y="0"/>
            <a:ext cx="360" cy="6858000"/>
          </a:xfrm>
          <a:prstGeom prst="line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0" tIns="45000" rIns="0" bIns="45000" anchor="t" anchorCtr="1">
            <a:noAutofit/>
          </a:bodyPr>
          <a:p>
            <a:endParaRPr lang="fr-FR" sz="1800" b="0" u="none" strike="noStrike">
              <a:solidFill>
                <a:srgbClr val="FFFFFF"/>
              </a:solidFill>
              <a:effectLst/>
              <a:uFillTx/>
              <a:latin typeface="Roboto"/>
            </a:endParaRPr>
          </a:p>
        </p:txBody>
      </p:sp>
      <p:sp>
        <p:nvSpPr>
          <p:cNvPr id="628" name="Shape 5"/>
          <p:cNvSpPr/>
          <p:nvPr/>
        </p:nvSpPr>
        <p:spPr>
          <a:xfrm>
            <a:off x="1523520" y="0"/>
            <a:ext cx="360" cy="6858000"/>
          </a:xfrm>
          <a:prstGeom prst="line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0" tIns="45000" rIns="0" bIns="45000" anchor="t" anchorCtr="1">
            <a:noAutofit/>
          </a:bodyPr>
          <a:p>
            <a:endParaRPr lang="fr-FR" sz="1800" b="0" u="none" strike="noStrike">
              <a:solidFill>
                <a:srgbClr val="FFFFFF"/>
              </a:solidFill>
              <a:effectLst/>
              <a:uFillTx/>
              <a:latin typeface="Roboto"/>
            </a:endParaRPr>
          </a:p>
        </p:txBody>
      </p:sp>
      <p:sp>
        <p:nvSpPr>
          <p:cNvPr id="629" name="Shape 6"/>
          <p:cNvSpPr/>
          <p:nvPr/>
        </p:nvSpPr>
        <p:spPr>
          <a:xfrm>
            <a:off x="1828440" y="0"/>
            <a:ext cx="360" cy="6858000"/>
          </a:xfrm>
          <a:prstGeom prst="line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0" tIns="45000" rIns="0" bIns="45000" anchor="t" anchorCtr="1">
            <a:noAutofit/>
          </a:bodyPr>
          <a:p>
            <a:endParaRPr lang="fr-FR" sz="1800" b="0" u="none" strike="noStrike">
              <a:solidFill>
                <a:srgbClr val="FFFFFF"/>
              </a:solidFill>
              <a:effectLst/>
              <a:uFillTx/>
              <a:latin typeface="Roboto"/>
            </a:endParaRPr>
          </a:p>
        </p:txBody>
      </p:sp>
      <p:sp>
        <p:nvSpPr>
          <p:cNvPr id="630" name="Shape 7"/>
          <p:cNvSpPr/>
          <p:nvPr/>
        </p:nvSpPr>
        <p:spPr>
          <a:xfrm>
            <a:off x="2133360" y="0"/>
            <a:ext cx="360" cy="6858000"/>
          </a:xfrm>
          <a:prstGeom prst="line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0" tIns="45000" rIns="0" bIns="45000" anchor="t" anchorCtr="1">
            <a:noAutofit/>
          </a:bodyPr>
          <a:p>
            <a:endParaRPr lang="fr-FR" sz="1800" b="0" u="none" strike="noStrike">
              <a:solidFill>
                <a:srgbClr val="FFFFFF"/>
              </a:solidFill>
              <a:effectLst/>
              <a:uFillTx/>
              <a:latin typeface="Roboto"/>
            </a:endParaRPr>
          </a:p>
        </p:txBody>
      </p:sp>
      <p:sp>
        <p:nvSpPr>
          <p:cNvPr id="631" name="Shape 8"/>
          <p:cNvSpPr/>
          <p:nvPr/>
        </p:nvSpPr>
        <p:spPr>
          <a:xfrm>
            <a:off x="2437920" y="0"/>
            <a:ext cx="360" cy="6858000"/>
          </a:xfrm>
          <a:prstGeom prst="line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0" tIns="45000" rIns="0" bIns="45000" anchor="t" anchorCtr="1">
            <a:noAutofit/>
          </a:bodyPr>
          <a:p>
            <a:endParaRPr lang="fr-FR" sz="1800" b="0" u="none" strike="noStrike">
              <a:solidFill>
                <a:srgbClr val="FFFFFF"/>
              </a:solidFill>
              <a:effectLst/>
              <a:uFillTx/>
              <a:latin typeface="Roboto"/>
            </a:endParaRPr>
          </a:p>
        </p:txBody>
      </p:sp>
      <p:sp>
        <p:nvSpPr>
          <p:cNvPr id="632" name="Shape 9"/>
          <p:cNvSpPr/>
          <p:nvPr/>
        </p:nvSpPr>
        <p:spPr>
          <a:xfrm>
            <a:off x="2742840" y="0"/>
            <a:ext cx="360" cy="6858000"/>
          </a:xfrm>
          <a:prstGeom prst="line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0" tIns="45000" rIns="0" bIns="45000" anchor="t" anchorCtr="1">
            <a:noAutofit/>
          </a:bodyPr>
          <a:p>
            <a:endParaRPr lang="fr-FR" sz="1800" b="0" u="none" strike="noStrike">
              <a:solidFill>
                <a:srgbClr val="FFFFFF"/>
              </a:solidFill>
              <a:effectLst/>
              <a:uFillTx/>
              <a:latin typeface="Roboto"/>
            </a:endParaRPr>
          </a:p>
        </p:txBody>
      </p:sp>
      <p:sp>
        <p:nvSpPr>
          <p:cNvPr id="633" name="Shape 10"/>
          <p:cNvSpPr/>
          <p:nvPr/>
        </p:nvSpPr>
        <p:spPr>
          <a:xfrm>
            <a:off x="3047400" y="0"/>
            <a:ext cx="360" cy="6858000"/>
          </a:xfrm>
          <a:prstGeom prst="line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0" tIns="45000" rIns="0" bIns="45000" anchor="t" anchorCtr="1">
            <a:noAutofit/>
          </a:bodyPr>
          <a:p>
            <a:endParaRPr lang="fr-FR" sz="1800" b="0" u="none" strike="noStrike">
              <a:solidFill>
                <a:srgbClr val="FFFFFF"/>
              </a:solidFill>
              <a:effectLst/>
              <a:uFillTx/>
              <a:latin typeface="Roboto"/>
            </a:endParaRPr>
          </a:p>
        </p:txBody>
      </p:sp>
      <p:sp>
        <p:nvSpPr>
          <p:cNvPr id="634" name="Shape 11"/>
          <p:cNvSpPr/>
          <p:nvPr/>
        </p:nvSpPr>
        <p:spPr>
          <a:xfrm>
            <a:off x="3352320" y="0"/>
            <a:ext cx="360" cy="6858000"/>
          </a:xfrm>
          <a:prstGeom prst="line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0" tIns="45000" rIns="0" bIns="45000" anchor="t" anchorCtr="1">
            <a:noAutofit/>
          </a:bodyPr>
          <a:p>
            <a:endParaRPr lang="fr-FR" sz="1800" b="0" u="none" strike="noStrike">
              <a:solidFill>
                <a:srgbClr val="FFFFFF"/>
              </a:solidFill>
              <a:effectLst/>
              <a:uFillTx/>
              <a:latin typeface="Roboto"/>
            </a:endParaRPr>
          </a:p>
        </p:txBody>
      </p:sp>
      <p:sp>
        <p:nvSpPr>
          <p:cNvPr id="635" name="Shape 12"/>
          <p:cNvSpPr/>
          <p:nvPr/>
        </p:nvSpPr>
        <p:spPr>
          <a:xfrm>
            <a:off x="3656880" y="0"/>
            <a:ext cx="360" cy="6858000"/>
          </a:xfrm>
          <a:prstGeom prst="line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0" tIns="45000" rIns="0" bIns="45000" anchor="t" anchorCtr="1">
            <a:noAutofit/>
          </a:bodyPr>
          <a:p>
            <a:endParaRPr lang="fr-FR" sz="1800" b="0" u="none" strike="noStrike">
              <a:solidFill>
                <a:srgbClr val="FFFFFF"/>
              </a:solidFill>
              <a:effectLst/>
              <a:uFillTx/>
              <a:latin typeface="Roboto"/>
            </a:endParaRPr>
          </a:p>
        </p:txBody>
      </p:sp>
      <p:sp>
        <p:nvSpPr>
          <p:cNvPr id="636" name="Shape 13"/>
          <p:cNvSpPr/>
          <p:nvPr/>
        </p:nvSpPr>
        <p:spPr>
          <a:xfrm>
            <a:off x="3961800" y="0"/>
            <a:ext cx="360" cy="6858000"/>
          </a:xfrm>
          <a:prstGeom prst="line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0" tIns="45000" rIns="0" bIns="45000" anchor="t" anchorCtr="1">
            <a:noAutofit/>
          </a:bodyPr>
          <a:p>
            <a:endParaRPr lang="fr-FR" sz="1800" b="0" u="none" strike="noStrike">
              <a:solidFill>
                <a:srgbClr val="FFFFFF"/>
              </a:solidFill>
              <a:effectLst/>
              <a:uFillTx/>
              <a:latin typeface="Roboto"/>
            </a:endParaRPr>
          </a:p>
        </p:txBody>
      </p:sp>
      <p:sp>
        <p:nvSpPr>
          <p:cNvPr id="637" name="Shape 14"/>
          <p:cNvSpPr/>
          <p:nvPr/>
        </p:nvSpPr>
        <p:spPr>
          <a:xfrm>
            <a:off x="4266720" y="0"/>
            <a:ext cx="360" cy="6858000"/>
          </a:xfrm>
          <a:prstGeom prst="line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0" tIns="45000" rIns="0" bIns="45000" anchor="t" anchorCtr="1">
            <a:noAutofit/>
          </a:bodyPr>
          <a:p>
            <a:endParaRPr lang="fr-FR" sz="1800" b="0" u="none" strike="noStrike">
              <a:solidFill>
                <a:srgbClr val="FFFFFF"/>
              </a:solidFill>
              <a:effectLst/>
              <a:uFillTx/>
              <a:latin typeface="Roboto"/>
            </a:endParaRPr>
          </a:p>
        </p:txBody>
      </p:sp>
      <p:sp>
        <p:nvSpPr>
          <p:cNvPr id="638" name="Shape 15"/>
          <p:cNvSpPr/>
          <p:nvPr/>
        </p:nvSpPr>
        <p:spPr>
          <a:xfrm>
            <a:off x="4571280" y="0"/>
            <a:ext cx="360" cy="6858000"/>
          </a:xfrm>
          <a:prstGeom prst="line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0" tIns="45000" rIns="0" bIns="45000" anchor="t" anchorCtr="1">
            <a:noAutofit/>
          </a:bodyPr>
          <a:p>
            <a:endParaRPr lang="fr-FR" sz="1800" b="0" u="none" strike="noStrike">
              <a:solidFill>
                <a:srgbClr val="FFFFFF"/>
              </a:solidFill>
              <a:effectLst/>
              <a:uFillTx/>
              <a:latin typeface="Roboto"/>
            </a:endParaRPr>
          </a:p>
        </p:txBody>
      </p:sp>
      <p:sp>
        <p:nvSpPr>
          <p:cNvPr id="639" name="Shape 16"/>
          <p:cNvSpPr/>
          <p:nvPr/>
        </p:nvSpPr>
        <p:spPr>
          <a:xfrm>
            <a:off x="4876200" y="0"/>
            <a:ext cx="360" cy="6858000"/>
          </a:xfrm>
          <a:prstGeom prst="line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0" tIns="45000" rIns="0" bIns="45000" anchor="t" anchorCtr="1">
            <a:noAutofit/>
          </a:bodyPr>
          <a:p>
            <a:endParaRPr lang="fr-FR" sz="1800" b="0" u="none" strike="noStrike">
              <a:solidFill>
                <a:srgbClr val="FFFFFF"/>
              </a:solidFill>
              <a:effectLst/>
              <a:uFillTx/>
              <a:latin typeface="Roboto"/>
            </a:endParaRPr>
          </a:p>
        </p:txBody>
      </p:sp>
      <p:sp>
        <p:nvSpPr>
          <p:cNvPr id="640" name="Shape 17"/>
          <p:cNvSpPr/>
          <p:nvPr/>
        </p:nvSpPr>
        <p:spPr>
          <a:xfrm>
            <a:off x="5180760" y="0"/>
            <a:ext cx="360" cy="6858000"/>
          </a:xfrm>
          <a:prstGeom prst="line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0" tIns="45000" rIns="0" bIns="45000" anchor="t" anchorCtr="1">
            <a:noAutofit/>
          </a:bodyPr>
          <a:p>
            <a:endParaRPr lang="fr-FR" sz="1800" b="0" u="none" strike="noStrike">
              <a:solidFill>
                <a:srgbClr val="FFFFFF"/>
              </a:solidFill>
              <a:effectLst/>
              <a:uFillTx/>
              <a:latin typeface="Roboto"/>
            </a:endParaRPr>
          </a:p>
        </p:txBody>
      </p:sp>
      <p:sp>
        <p:nvSpPr>
          <p:cNvPr id="641" name="Shape 18"/>
          <p:cNvSpPr/>
          <p:nvPr/>
        </p:nvSpPr>
        <p:spPr>
          <a:xfrm>
            <a:off x="5485680" y="0"/>
            <a:ext cx="360" cy="6858000"/>
          </a:xfrm>
          <a:prstGeom prst="line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0" tIns="45000" rIns="0" bIns="45000" anchor="t" anchorCtr="1">
            <a:noAutofit/>
          </a:bodyPr>
          <a:p>
            <a:endParaRPr lang="fr-FR" sz="1800" b="0" u="none" strike="noStrike">
              <a:solidFill>
                <a:srgbClr val="FFFFFF"/>
              </a:solidFill>
              <a:effectLst/>
              <a:uFillTx/>
              <a:latin typeface="Roboto"/>
            </a:endParaRPr>
          </a:p>
        </p:txBody>
      </p:sp>
      <p:sp>
        <p:nvSpPr>
          <p:cNvPr id="642" name="Shape 19"/>
          <p:cNvSpPr/>
          <p:nvPr/>
        </p:nvSpPr>
        <p:spPr>
          <a:xfrm>
            <a:off x="5790600" y="0"/>
            <a:ext cx="360" cy="6858000"/>
          </a:xfrm>
          <a:prstGeom prst="line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0" tIns="45000" rIns="0" bIns="45000" anchor="t" anchorCtr="1">
            <a:noAutofit/>
          </a:bodyPr>
          <a:p>
            <a:endParaRPr lang="fr-FR" sz="1800" b="0" u="none" strike="noStrike">
              <a:solidFill>
                <a:srgbClr val="FFFFFF"/>
              </a:solidFill>
              <a:effectLst/>
              <a:uFillTx/>
              <a:latin typeface="Roboto"/>
            </a:endParaRPr>
          </a:p>
        </p:txBody>
      </p:sp>
      <p:sp>
        <p:nvSpPr>
          <p:cNvPr id="643" name="Shape 20"/>
          <p:cNvSpPr/>
          <p:nvPr/>
        </p:nvSpPr>
        <p:spPr>
          <a:xfrm>
            <a:off x="6095160" y="0"/>
            <a:ext cx="360" cy="6858000"/>
          </a:xfrm>
          <a:prstGeom prst="line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0" tIns="45000" rIns="0" bIns="45000" anchor="t" anchorCtr="1">
            <a:noAutofit/>
          </a:bodyPr>
          <a:p>
            <a:endParaRPr lang="fr-FR" sz="1800" b="0" u="none" strike="noStrike">
              <a:solidFill>
                <a:srgbClr val="FFFFFF"/>
              </a:solidFill>
              <a:effectLst/>
              <a:uFillTx/>
              <a:latin typeface="Roboto"/>
            </a:endParaRPr>
          </a:p>
        </p:txBody>
      </p:sp>
      <p:sp>
        <p:nvSpPr>
          <p:cNvPr id="644" name="Shape 21"/>
          <p:cNvSpPr/>
          <p:nvPr/>
        </p:nvSpPr>
        <p:spPr>
          <a:xfrm>
            <a:off x="6400080" y="0"/>
            <a:ext cx="360" cy="6858000"/>
          </a:xfrm>
          <a:prstGeom prst="line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0" tIns="45000" rIns="0" bIns="45000" anchor="t" anchorCtr="1">
            <a:noAutofit/>
          </a:bodyPr>
          <a:p>
            <a:endParaRPr lang="fr-FR" sz="1800" b="0" u="none" strike="noStrike">
              <a:solidFill>
                <a:srgbClr val="FFFFFF"/>
              </a:solidFill>
              <a:effectLst/>
              <a:uFillTx/>
              <a:latin typeface="Roboto"/>
            </a:endParaRPr>
          </a:p>
        </p:txBody>
      </p:sp>
      <p:sp>
        <p:nvSpPr>
          <p:cNvPr id="645" name="Shape 22"/>
          <p:cNvSpPr/>
          <p:nvPr/>
        </p:nvSpPr>
        <p:spPr>
          <a:xfrm>
            <a:off x="6704640" y="0"/>
            <a:ext cx="360" cy="6858000"/>
          </a:xfrm>
          <a:prstGeom prst="line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0" tIns="45000" rIns="0" bIns="45000" anchor="t" anchorCtr="1">
            <a:noAutofit/>
          </a:bodyPr>
          <a:p>
            <a:endParaRPr lang="fr-FR" sz="1800" b="0" u="none" strike="noStrike">
              <a:solidFill>
                <a:srgbClr val="FFFFFF"/>
              </a:solidFill>
              <a:effectLst/>
              <a:uFillTx/>
              <a:latin typeface="Roboto"/>
            </a:endParaRPr>
          </a:p>
        </p:txBody>
      </p:sp>
      <p:sp>
        <p:nvSpPr>
          <p:cNvPr id="646" name="Shape 23"/>
          <p:cNvSpPr/>
          <p:nvPr/>
        </p:nvSpPr>
        <p:spPr>
          <a:xfrm>
            <a:off x="7009560" y="0"/>
            <a:ext cx="360" cy="6858000"/>
          </a:xfrm>
          <a:prstGeom prst="line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0" tIns="45000" rIns="0" bIns="45000" anchor="t" anchorCtr="1">
            <a:noAutofit/>
          </a:bodyPr>
          <a:p>
            <a:endParaRPr lang="fr-FR" sz="1800" b="0" u="none" strike="noStrike">
              <a:solidFill>
                <a:srgbClr val="FFFFFF"/>
              </a:solidFill>
              <a:effectLst/>
              <a:uFillTx/>
              <a:latin typeface="Roboto"/>
            </a:endParaRPr>
          </a:p>
        </p:txBody>
      </p:sp>
      <p:sp>
        <p:nvSpPr>
          <p:cNvPr id="647" name="Shape 24"/>
          <p:cNvSpPr/>
          <p:nvPr/>
        </p:nvSpPr>
        <p:spPr>
          <a:xfrm>
            <a:off x="7314120" y="0"/>
            <a:ext cx="360" cy="6858000"/>
          </a:xfrm>
          <a:prstGeom prst="line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0" tIns="45000" rIns="0" bIns="45000" anchor="t" anchorCtr="1">
            <a:noAutofit/>
          </a:bodyPr>
          <a:p>
            <a:endParaRPr lang="fr-FR" sz="1800" b="0" u="none" strike="noStrike">
              <a:solidFill>
                <a:srgbClr val="FFFFFF"/>
              </a:solidFill>
              <a:effectLst/>
              <a:uFillTx/>
              <a:latin typeface="Roboto"/>
            </a:endParaRPr>
          </a:p>
        </p:txBody>
      </p:sp>
      <p:sp>
        <p:nvSpPr>
          <p:cNvPr id="648" name="Shape 25"/>
          <p:cNvSpPr/>
          <p:nvPr/>
        </p:nvSpPr>
        <p:spPr>
          <a:xfrm>
            <a:off x="7619040" y="0"/>
            <a:ext cx="360" cy="6858000"/>
          </a:xfrm>
          <a:prstGeom prst="line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0" tIns="45000" rIns="0" bIns="45000" anchor="t" anchorCtr="1">
            <a:noAutofit/>
          </a:bodyPr>
          <a:p>
            <a:endParaRPr lang="fr-FR" sz="1800" b="0" u="none" strike="noStrike">
              <a:solidFill>
                <a:srgbClr val="FFFFFF"/>
              </a:solidFill>
              <a:effectLst/>
              <a:uFillTx/>
              <a:latin typeface="Roboto"/>
            </a:endParaRPr>
          </a:p>
        </p:txBody>
      </p:sp>
      <p:sp>
        <p:nvSpPr>
          <p:cNvPr id="649" name="Shape 26"/>
          <p:cNvSpPr/>
          <p:nvPr/>
        </p:nvSpPr>
        <p:spPr>
          <a:xfrm>
            <a:off x="7923960" y="0"/>
            <a:ext cx="360" cy="6858000"/>
          </a:xfrm>
          <a:prstGeom prst="line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0" tIns="45000" rIns="0" bIns="45000" anchor="t" anchorCtr="1">
            <a:noAutofit/>
          </a:bodyPr>
          <a:p>
            <a:endParaRPr lang="fr-FR" sz="1800" b="0" u="none" strike="noStrike">
              <a:solidFill>
                <a:srgbClr val="FFFFFF"/>
              </a:solidFill>
              <a:effectLst/>
              <a:uFillTx/>
              <a:latin typeface="Roboto"/>
            </a:endParaRPr>
          </a:p>
        </p:txBody>
      </p:sp>
      <p:sp>
        <p:nvSpPr>
          <p:cNvPr id="650" name="Shape 27"/>
          <p:cNvSpPr/>
          <p:nvPr/>
        </p:nvSpPr>
        <p:spPr>
          <a:xfrm>
            <a:off x="8228520" y="0"/>
            <a:ext cx="360" cy="6858000"/>
          </a:xfrm>
          <a:prstGeom prst="line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0" tIns="45000" rIns="0" bIns="45000" anchor="t" anchorCtr="1">
            <a:noAutofit/>
          </a:bodyPr>
          <a:p>
            <a:endParaRPr lang="fr-FR" sz="1800" b="0" u="none" strike="noStrike">
              <a:solidFill>
                <a:srgbClr val="FFFFFF"/>
              </a:solidFill>
              <a:effectLst/>
              <a:uFillTx/>
              <a:latin typeface="Roboto"/>
            </a:endParaRPr>
          </a:p>
        </p:txBody>
      </p:sp>
      <p:sp>
        <p:nvSpPr>
          <p:cNvPr id="651" name="Shape 28"/>
          <p:cNvSpPr/>
          <p:nvPr/>
        </p:nvSpPr>
        <p:spPr>
          <a:xfrm>
            <a:off x="8533440" y="0"/>
            <a:ext cx="360" cy="6858000"/>
          </a:xfrm>
          <a:prstGeom prst="line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0" tIns="45000" rIns="0" bIns="45000" anchor="t" anchorCtr="1">
            <a:noAutofit/>
          </a:bodyPr>
          <a:p>
            <a:endParaRPr lang="fr-FR" sz="1800" b="0" u="none" strike="noStrike">
              <a:solidFill>
                <a:srgbClr val="FFFFFF"/>
              </a:solidFill>
              <a:effectLst/>
              <a:uFillTx/>
              <a:latin typeface="Roboto"/>
            </a:endParaRPr>
          </a:p>
        </p:txBody>
      </p:sp>
      <p:sp>
        <p:nvSpPr>
          <p:cNvPr id="652" name="Shape 29"/>
          <p:cNvSpPr/>
          <p:nvPr/>
        </p:nvSpPr>
        <p:spPr>
          <a:xfrm>
            <a:off x="8838000" y="0"/>
            <a:ext cx="360" cy="6858000"/>
          </a:xfrm>
          <a:prstGeom prst="line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0" tIns="45000" rIns="0" bIns="45000" anchor="t" anchorCtr="1">
            <a:noAutofit/>
          </a:bodyPr>
          <a:p>
            <a:endParaRPr lang="fr-FR" sz="1800" b="0" u="none" strike="noStrike">
              <a:solidFill>
                <a:srgbClr val="FFFFFF"/>
              </a:solidFill>
              <a:effectLst/>
              <a:uFillTx/>
              <a:latin typeface="Roboto"/>
            </a:endParaRPr>
          </a:p>
        </p:txBody>
      </p:sp>
      <p:sp>
        <p:nvSpPr>
          <p:cNvPr id="653" name="Shape 30"/>
          <p:cNvSpPr/>
          <p:nvPr/>
        </p:nvSpPr>
        <p:spPr>
          <a:xfrm>
            <a:off x="9142920" y="0"/>
            <a:ext cx="360" cy="6858000"/>
          </a:xfrm>
          <a:prstGeom prst="line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0" tIns="45000" rIns="0" bIns="45000" anchor="t" anchorCtr="1">
            <a:noAutofit/>
          </a:bodyPr>
          <a:p>
            <a:endParaRPr lang="fr-FR" sz="1800" b="0" u="none" strike="noStrike">
              <a:solidFill>
                <a:srgbClr val="FFFFFF"/>
              </a:solidFill>
              <a:effectLst/>
              <a:uFillTx/>
              <a:latin typeface="Roboto"/>
            </a:endParaRPr>
          </a:p>
        </p:txBody>
      </p:sp>
      <p:sp>
        <p:nvSpPr>
          <p:cNvPr id="654" name="Shape 31"/>
          <p:cNvSpPr/>
          <p:nvPr/>
        </p:nvSpPr>
        <p:spPr>
          <a:xfrm>
            <a:off x="9447840" y="0"/>
            <a:ext cx="360" cy="6858000"/>
          </a:xfrm>
          <a:prstGeom prst="line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0" tIns="45000" rIns="0" bIns="45000" anchor="t" anchorCtr="1">
            <a:noAutofit/>
          </a:bodyPr>
          <a:p>
            <a:endParaRPr lang="fr-FR" sz="1800" b="0" u="none" strike="noStrike">
              <a:solidFill>
                <a:srgbClr val="FFFFFF"/>
              </a:solidFill>
              <a:effectLst/>
              <a:uFillTx/>
              <a:latin typeface="Roboto"/>
            </a:endParaRPr>
          </a:p>
        </p:txBody>
      </p:sp>
      <p:sp>
        <p:nvSpPr>
          <p:cNvPr id="655" name="Shape 32"/>
          <p:cNvSpPr/>
          <p:nvPr/>
        </p:nvSpPr>
        <p:spPr>
          <a:xfrm>
            <a:off x="9752400" y="0"/>
            <a:ext cx="360" cy="6858000"/>
          </a:xfrm>
          <a:prstGeom prst="line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0" tIns="45000" rIns="0" bIns="45000" anchor="t" anchorCtr="1">
            <a:noAutofit/>
          </a:bodyPr>
          <a:p>
            <a:endParaRPr lang="fr-FR" sz="1800" b="0" u="none" strike="noStrike">
              <a:solidFill>
                <a:srgbClr val="FFFFFF"/>
              </a:solidFill>
              <a:effectLst/>
              <a:uFillTx/>
              <a:latin typeface="Roboto"/>
            </a:endParaRPr>
          </a:p>
        </p:txBody>
      </p:sp>
      <p:sp>
        <p:nvSpPr>
          <p:cNvPr id="656" name="Shape 33"/>
          <p:cNvSpPr/>
          <p:nvPr/>
        </p:nvSpPr>
        <p:spPr>
          <a:xfrm>
            <a:off x="10057320" y="0"/>
            <a:ext cx="360" cy="6858000"/>
          </a:xfrm>
          <a:prstGeom prst="line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0" tIns="45000" rIns="0" bIns="45000" anchor="t" anchorCtr="1">
            <a:noAutofit/>
          </a:bodyPr>
          <a:p>
            <a:endParaRPr lang="fr-FR" sz="1800" b="0" u="none" strike="noStrike">
              <a:solidFill>
                <a:srgbClr val="FFFFFF"/>
              </a:solidFill>
              <a:effectLst/>
              <a:uFillTx/>
              <a:latin typeface="Roboto"/>
            </a:endParaRPr>
          </a:p>
        </p:txBody>
      </p:sp>
      <p:sp>
        <p:nvSpPr>
          <p:cNvPr id="657" name="Shape 34"/>
          <p:cNvSpPr/>
          <p:nvPr/>
        </p:nvSpPr>
        <p:spPr>
          <a:xfrm>
            <a:off x="10361880" y="0"/>
            <a:ext cx="360" cy="6858000"/>
          </a:xfrm>
          <a:prstGeom prst="line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0" tIns="45000" rIns="0" bIns="45000" anchor="t" anchorCtr="1">
            <a:noAutofit/>
          </a:bodyPr>
          <a:p>
            <a:endParaRPr lang="fr-FR" sz="1800" b="0" u="none" strike="noStrike">
              <a:solidFill>
                <a:srgbClr val="FFFFFF"/>
              </a:solidFill>
              <a:effectLst/>
              <a:uFillTx/>
              <a:latin typeface="Roboto"/>
            </a:endParaRPr>
          </a:p>
        </p:txBody>
      </p:sp>
      <p:sp>
        <p:nvSpPr>
          <p:cNvPr id="658" name="Shape 35"/>
          <p:cNvSpPr/>
          <p:nvPr/>
        </p:nvSpPr>
        <p:spPr>
          <a:xfrm>
            <a:off x="10666800" y="0"/>
            <a:ext cx="360" cy="6858000"/>
          </a:xfrm>
          <a:prstGeom prst="line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0" tIns="45000" rIns="0" bIns="45000" anchor="t" anchorCtr="1">
            <a:noAutofit/>
          </a:bodyPr>
          <a:p>
            <a:endParaRPr lang="fr-FR" sz="1800" b="0" u="none" strike="noStrike">
              <a:solidFill>
                <a:srgbClr val="FFFFFF"/>
              </a:solidFill>
              <a:effectLst/>
              <a:uFillTx/>
              <a:latin typeface="Roboto"/>
            </a:endParaRPr>
          </a:p>
        </p:txBody>
      </p:sp>
      <p:sp>
        <p:nvSpPr>
          <p:cNvPr id="659" name="Shape 36"/>
          <p:cNvSpPr/>
          <p:nvPr/>
        </p:nvSpPr>
        <p:spPr>
          <a:xfrm>
            <a:off x="10971360" y="0"/>
            <a:ext cx="360" cy="6858000"/>
          </a:xfrm>
          <a:prstGeom prst="line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0" tIns="45000" rIns="0" bIns="45000" anchor="t" anchorCtr="1">
            <a:noAutofit/>
          </a:bodyPr>
          <a:p>
            <a:endParaRPr lang="fr-FR" sz="1800" b="0" u="none" strike="noStrike">
              <a:solidFill>
                <a:srgbClr val="FFFFFF"/>
              </a:solidFill>
              <a:effectLst/>
              <a:uFillTx/>
              <a:latin typeface="Roboto"/>
            </a:endParaRPr>
          </a:p>
        </p:txBody>
      </p:sp>
      <p:sp>
        <p:nvSpPr>
          <p:cNvPr id="660" name="Shape 37"/>
          <p:cNvSpPr/>
          <p:nvPr/>
        </p:nvSpPr>
        <p:spPr>
          <a:xfrm>
            <a:off x="11276280" y="0"/>
            <a:ext cx="360" cy="6858000"/>
          </a:xfrm>
          <a:prstGeom prst="line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0" tIns="45000" rIns="0" bIns="45000" anchor="t" anchorCtr="1">
            <a:noAutofit/>
          </a:bodyPr>
          <a:p>
            <a:endParaRPr lang="fr-FR" sz="1800" b="0" u="none" strike="noStrike">
              <a:solidFill>
                <a:srgbClr val="FFFFFF"/>
              </a:solidFill>
              <a:effectLst/>
              <a:uFillTx/>
              <a:latin typeface="Roboto"/>
            </a:endParaRPr>
          </a:p>
        </p:txBody>
      </p:sp>
      <p:sp>
        <p:nvSpPr>
          <p:cNvPr id="661" name="Shape 38"/>
          <p:cNvSpPr/>
          <p:nvPr/>
        </p:nvSpPr>
        <p:spPr>
          <a:xfrm>
            <a:off x="11581200" y="0"/>
            <a:ext cx="360" cy="6858000"/>
          </a:xfrm>
          <a:prstGeom prst="line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0" tIns="45000" rIns="0" bIns="45000" anchor="t" anchorCtr="1">
            <a:noAutofit/>
          </a:bodyPr>
          <a:p>
            <a:endParaRPr lang="fr-FR" sz="1800" b="0" u="none" strike="noStrike">
              <a:solidFill>
                <a:srgbClr val="FFFFFF"/>
              </a:solidFill>
              <a:effectLst/>
              <a:uFillTx/>
              <a:latin typeface="Roboto"/>
            </a:endParaRPr>
          </a:p>
        </p:txBody>
      </p:sp>
      <p:sp>
        <p:nvSpPr>
          <p:cNvPr id="662" name="Shape 39"/>
          <p:cNvSpPr/>
          <p:nvPr/>
        </p:nvSpPr>
        <p:spPr>
          <a:xfrm>
            <a:off x="11885760" y="0"/>
            <a:ext cx="360" cy="6858000"/>
          </a:xfrm>
          <a:prstGeom prst="line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0" tIns="45000" rIns="0" bIns="45000" anchor="t" anchorCtr="1">
            <a:noAutofit/>
          </a:bodyPr>
          <a:p>
            <a:endParaRPr lang="fr-FR" sz="1800" b="0" u="none" strike="noStrike">
              <a:solidFill>
                <a:srgbClr val="FFFFFF"/>
              </a:solidFill>
              <a:effectLst/>
              <a:uFillTx/>
              <a:latin typeface="Roboto"/>
            </a:endParaRPr>
          </a:p>
        </p:txBody>
      </p:sp>
      <p:sp>
        <p:nvSpPr>
          <p:cNvPr id="663" name="Shape 40"/>
          <p:cNvSpPr/>
          <p:nvPr/>
        </p:nvSpPr>
        <p:spPr>
          <a:xfrm>
            <a:off x="12190680" y="0"/>
            <a:ext cx="360" cy="6858000"/>
          </a:xfrm>
          <a:prstGeom prst="line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0" tIns="45000" rIns="0" bIns="45000" anchor="t" anchorCtr="1">
            <a:noAutofit/>
          </a:bodyPr>
          <a:p>
            <a:endParaRPr lang="fr-FR" sz="1800" b="0" u="none" strike="noStrike">
              <a:solidFill>
                <a:srgbClr val="FFFFFF"/>
              </a:solidFill>
              <a:effectLst/>
              <a:uFillTx/>
              <a:latin typeface="Roboto"/>
            </a:endParaRPr>
          </a:p>
        </p:txBody>
      </p:sp>
      <p:sp>
        <p:nvSpPr>
          <p:cNvPr id="664" name="Shape 41"/>
          <p:cNvSpPr/>
          <p:nvPr/>
        </p:nvSpPr>
        <p:spPr>
          <a:xfrm>
            <a:off x="0" y="0"/>
            <a:ext cx="12191400" cy="360"/>
          </a:xfrm>
          <a:prstGeom prst="line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fr-FR" sz="1800" b="0" u="none" strike="noStrike">
              <a:solidFill>
                <a:srgbClr val="FFFFFF"/>
              </a:solidFill>
              <a:effectLst/>
              <a:uFillTx/>
              <a:latin typeface="Roboto"/>
            </a:endParaRPr>
          </a:p>
        </p:txBody>
      </p:sp>
      <p:sp>
        <p:nvSpPr>
          <p:cNvPr id="665" name="Shape 42"/>
          <p:cNvSpPr/>
          <p:nvPr/>
        </p:nvSpPr>
        <p:spPr>
          <a:xfrm>
            <a:off x="0" y="304560"/>
            <a:ext cx="12191400" cy="360"/>
          </a:xfrm>
          <a:prstGeom prst="line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fr-FR" sz="1800" b="0" u="none" strike="noStrike">
              <a:solidFill>
                <a:srgbClr val="FFFFFF"/>
              </a:solidFill>
              <a:effectLst/>
              <a:uFillTx/>
              <a:latin typeface="Roboto"/>
            </a:endParaRPr>
          </a:p>
        </p:txBody>
      </p:sp>
      <p:sp>
        <p:nvSpPr>
          <p:cNvPr id="666" name="Shape 43"/>
          <p:cNvSpPr/>
          <p:nvPr/>
        </p:nvSpPr>
        <p:spPr>
          <a:xfrm>
            <a:off x="0" y="609480"/>
            <a:ext cx="12191400" cy="360"/>
          </a:xfrm>
          <a:prstGeom prst="line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fr-FR" sz="1800" b="0" u="none" strike="noStrike">
              <a:solidFill>
                <a:srgbClr val="FFFFFF"/>
              </a:solidFill>
              <a:effectLst/>
              <a:uFillTx/>
              <a:latin typeface="Roboto"/>
            </a:endParaRPr>
          </a:p>
        </p:txBody>
      </p:sp>
      <p:sp>
        <p:nvSpPr>
          <p:cNvPr id="667" name="Shape 44"/>
          <p:cNvSpPr/>
          <p:nvPr/>
        </p:nvSpPr>
        <p:spPr>
          <a:xfrm>
            <a:off x="0" y="914040"/>
            <a:ext cx="12191400" cy="360"/>
          </a:xfrm>
          <a:prstGeom prst="line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fr-FR" sz="1800" b="0" u="none" strike="noStrike">
              <a:solidFill>
                <a:srgbClr val="FFFFFF"/>
              </a:solidFill>
              <a:effectLst/>
              <a:uFillTx/>
              <a:latin typeface="Roboto"/>
            </a:endParaRPr>
          </a:p>
        </p:txBody>
      </p:sp>
      <p:sp>
        <p:nvSpPr>
          <p:cNvPr id="668" name="Shape 45"/>
          <p:cNvSpPr/>
          <p:nvPr/>
        </p:nvSpPr>
        <p:spPr>
          <a:xfrm>
            <a:off x="0" y="1218960"/>
            <a:ext cx="12191400" cy="360"/>
          </a:xfrm>
          <a:prstGeom prst="line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fr-FR" sz="1800" b="0" u="none" strike="noStrike">
              <a:solidFill>
                <a:srgbClr val="FFFFFF"/>
              </a:solidFill>
              <a:effectLst/>
              <a:uFillTx/>
              <a:latin typeface="Roboto"/>
            </a:endParaRPr>
          </a:p>
        </p:txBody>
      </p:sp>
      <p:sp>
        <p:nvSpPr>
          <p:cNvPr id="669" name="Shape 46"/>
          <p:cNvSpPr/>
          <p:nvPr/>
        </p:nvSpPr>
        <p:spPr>
          <a:xfrm>
            <a:off x="0" y="1523520"/>
            <a:ext cx="12191400" cy="360"/>
          </a:xfrm>
          <a:prstGeom prst="line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fr-FR" sz="1800" b="0" u="none" strike="noStrike">
              <a:solidFill>
                <a:srgbClr val="FFFFFF"/>
              </a:solidFill>
              <a:effectLst/>
              <a:uFillTx/>
              <a:latin typeface="Roboto"/>
            </a:endParaRPr>
          </a:p>
        </p:txBody>
      </p:sp>
      <p:sp>
        <p:nvSpPr>
          <p:cNvPr id="670" name="Shape 47"/>
          <p:cNvSpPr/>
          <p:nvPr/>
        </p:nvSpPr>
        <p:spPr>
          <a:xfrm>
            <a:off x="0" y="1828440"/>
            <a:ext cx="12191400" cy="360"/>
          </a:xfrm>
          <a:prstGeom prst="line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fr-FR" sz="1800" b="0" u="none" strike="noStrike">
              <a:solidFill>
                <a:srgbClr val="FFFFFF"/>
              </a:solidFill>
              <a:effectLst/>
              <a:uFillTx/>
              <a:latin typeface="Roboto"/>
            </a:endParaRPr>
          </a:p>
        </p:txBody>
      </p:sp>
      <p:sp>
        <p:nvSpPr>
          <p:cNvPr id="671" name="Shape 48"/>
          <p:cNvSpPr/>
          <p:nvPr/>
        </p:nvSpPr>
        <p:spPr>
          <a:xfrm>
            <a:off x="0" y="2133360"/>
            <a:ext cx="12191400" cy="360"/>
          </a:xfrm>
          <a:prstGeom prst="line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fr-FR" sz="1800" b="0" u="none" strike="noStrike">
              <a:solidFill>
                <a:srgbClr val="FFFFFF"/>
              </a:solidFill>
              <a:effectLst/>
              <a:uFillTx/>
              <a:latin typeface="Roboto"/>
            </a:endParaRPr>
          </a:p>
        </p:txBody>
      </p:sp>
      <p:sp>
        <p:nvSpPr>
          <p:cNvPr id="672" name="Shape 49"/>
          <p:cNvSpPr/>
          <p:nvPr/>
        </p:nvSpPr>
        <p:spPr>
          <a:xfrm>
            <a:off x="0" y="2437920"/>
            <a:ext cx="12191400" cy="360"/>
          </a:xfrm>
          <a:prstGeom prst="line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fr-FR" sz="1800" b="0" u="none" strike="noStrike">
              <a:solidFill>
                <a:srgbClr val="FFFFFF"/>
              </a:solidFill>
              <a:effectLst/>
              <a:uFillTx/>
              <a:latin typeface="Roboto"/>
            </a:endParaRPr>
          </a:p>
        </p:txBody>
      </p:sp>
      <p:sp>
        <p:nvSpPr>
          <p:cNvPr id="673" name="Shape 50"/>
          <p:cNvSpPr/>
          <p:nvPr/>
        </p:nvSpPr>
        <p:spPr>
          <a:xfrm>
            <a:off x="0" y="2742840"/>
            <a:ext cx="12191400" cy="360"/>
          </a:xfrm>
          <a:prstGeom prst="line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fr-FR" sz="1800" b="0" u="none" strike="noStrike">
              <a:solidFill>
                <a:srgbClr val="FFFFFF"/>
              </a:solidFill>
              <a:effectLst/>
              <a:uFillTx/>
              <a:latin typeface="Roboto"/>
            </a:endParaRPr>
          </a:p>
        </p:txBody>
      </p:sp>
      <p:sp>
        <p:nvSpPr>
          <p:cNvPr id="674" name="Shape 51"/>
          <p:cNvSpPr/>
          <p:nvPr/>
        </p:nvSpPr>
        <p:spPr>
          <a:xfrm>
            <a:off x="0" y="3047400"/>
            <a:ext cx="12191400" cy="360"/>
          </a:xfrm>
          <a:prstGeom prst="line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fr-FR" sz="1800" b="0" u="none" strike="noStrike">
              <a:solidFill>
                <a:srgbClr val="FFFFFF"/>
              </a:solidFill>
              <a:effectLst/>
              <a:uFillTx/>
              <a:latin typeface="Roboto"/>
            </a:endParaRPr>
          </a:p>
        </p:txBody>
      </p:sp>
      <p:sp>
        <p:nvSpPr>
          <p:cNvPr id="675" name="Shape 52"/>
          <p:cNvSpPr/>
          <p:nvPr/>
        </p:nvSpPr>
        <p:spPr>
          <a:xfrm>
            <a:off x="0" y="3352320"/>
            <a:ext cx="12191400" cy="360"/>
          </a:xfrm>
          <a:prstGeom prst="line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fr-FR" sz="1800" b="0" u="none" strike="noStrike">
              <a:solidFill>
                <a:srgbClr val="FFFFFF"/>
              </a:solidFill>
              <a:effectLst/>
              <a:uFillTx/>
              <a:latin typeface="Roboto"/>
            </a:endParaRPr>
          </a:p>
        </p:txBody>
      </p:sp>
      <p:sp>
        <p:nvSpPr>
          <p:cNvPr id="676" name="Shape 53"/>
          <p:cNvSpPr/>
          <p:nvPr/>
        </p:nvSpPr>
        <p:spPr>
          <a:xfrm>
            <a:off x="0" y="3656880"/>
            <a:ext cx="12191400" cy="360"/>
          </a:xfrm>
          <a:prstGeom prst="line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fr-FR" sz="1800" b="0" u="none" strike="noStrike">
              <a:solidFill>
                <a:srgbClr val="FFFFFF"/>
              </a:solidFill>
              <a:effectLst/>
              <a:uFillTx/>
              <a:latin typeface="Roboto"/>
            </a:endParaRPr>
          </a:p>
        </p:txBody>
      </p:sp>
      <p:sp>
        <p:nvSpPr>
          <p:cNvPr id="677" name="Shape 54"/>
          <p:cNvSpPr/>
          <p:nvPr/>
        </p:nvSpPr>
        <p:spPr>
          <a:xfrm>
            <a:off x="0" y="3961800"/>
            <a:ext cx="12191400" cy="360"/>
          </a:xfrm>
          <a:prstGeom prst="line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fr-FR" sz="1800" b="0" u="none" strike="noStrike">
              <a:solidFill>
                <a:srgbClr val="FFFFFF"/>
              </a:solidFill>
              <a:effectLst/>
              <a:uFillTx/>
              <a:latin typeface="Roboto"/>
            </a:endParaRPr>
          </a:p>
        </p:txBody>
      </p:sp>
      <p:sp>
        <p:nvSpPr>
          <p:cNvPr id="678" name="Shape 55"/>
          <p:cNvSpPr/>
          <p:nvPr/>
        </p:nvSpPr>
        <p:spPr>
          <a:xfrm>
            <a:off x="0" y="4266720"/>
            <a:ext cx="12191400" cy="360"/>
          </a:xfrm>
          <a:prstGeom prst="line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fr-FR" sz="1800" b="0" u="none" strike="noStrike">
              <a:solidFill>
                <a:srgbClr val="FFFFFF"/>
              </a:solidFill>
              <a:effectLst/>
              <a:uFillTx/>
              <a:latin typeface="Roboto"/>
            </a:endParaRPr>
          </a:p>
        </p:txBody>
      </p:sp>
      <p:sp>
        <p:nvSpPr>
          <p:cNvPr id="679" name="Shape 56"/>
          <p:cNvSpPr/>
          <p:nvPr/>
        </p:nvSpPr>
        <p:spPr>
          <a:xfrm>
            <a:off x="0" y="4571280"/>
            <a:ext cx="12191400" cy="360"/>
          </a:xfrm>
          <a:prstGeom prst="line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fr-FR" sz="1800" b="0" u="none" strike="noStrike">
              <a:solidFill>
                <a:srgbClr val="FFFFFF"/>
              </a:solidFill>
              <a:effectLst/>
              <a:uFillTx/>
              <a:latin typeface="Roboto"/>
            </a:endParaRPr>
          </a:p>
        </p:txBody>
      </p:sp>
      <p:sp>
        <p:nvSpPr>
          <p:cNvPr id="680" name="Shape 57"/>
          <p:cNvSpPr/>
          <p:nvPr/>
        </p:nvSpPr>
        <p:spPr>
          <a:xfrm>
            <a:off x="0" y="4876200"/>
            <a:ext cx="12191400" cy="360"/>
          </a:xfrm>
          <a:prstGeom prst="line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fr-FR" sz="1800" b="0" u="none" strike="noStrike">
              <a:solidFill>
                <a:srgbClr val="FFFFFF"/>
              </a:solidFill>
              <a:effectLst/>
              <a:uFillTx/>
              <a:latin typeface="Roboto"/>
            </a:endParaRPr>
          </a:p>
        </p:txBody>
      </p:sp>
      <p:sp>
        <p:nvSpPr>
          <p:cNvPr id="681" name="Shape 58"/>
          <p:cNvSpPr/>
          <p:nvPr/>
        </p:nvSpPr>
        <p:spPr>
          <a:xfrm>
            <a:off x="0" y="5180760"/>
            <a:ext cx="12191400" cy="360"/>
          </a:xfrm>
          <a:prstGeom prst="line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fr-FR" sz="1800" b="0" u="none" strike="noStrike">
              <a:solidFill>
                <a:srgbClr val="FFFFFF"/>
              </a:solidFill>
              <a:effectLst/>
              <a:uFillTx/>
              <a:latin typeface="Roboto"/>
            </a:endParaRPr>
          </a:p>
        </p:txBody>
      </p:sp>
      <p:sp>
        <p:nvSpPr>
          <p:cNvPr id="682" name="Shape 59"/>
          <p:cNvSpPr/>
          <p:nvPr/>
        </p:nvSpPr>
        <p:spPr>
          <a:xfrm>
            <a:off x="0" y="5485680"/>
            <a:ext cx="12191400" cy="360"/>
          </a:xfrm>
          <a:prstGeom prst="line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fr-FR" sz="1800" b="0" u="none" strike="noStrike">
              <a:solidFill>
                <a:srgbClr val="FFFFFF"/>
              </a:solidFill>
              <a:effectLst/>
              <a:uFillTx/>
              <a:latin typeface="Roboto"/>
            </a:endParaRPr>
          </a:p>
        </p:txBody>
      </p:sp>
      <p:sp>
        <p:nvSpPr>
          <p:cNvPr id="683" name="Shape 60"/>
          <p:cNvSpPr/>
          <p:nvPr/>
        </p:nvSpPr>
        <p:spPr>
          <a:xfrm>
            <a:off x="0" y="5790600"/>
            <a:ext cx="12191400" cy="360"/>
          </a:xfrm>
          <a:prstGeom prst="line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fr-FR" sz="1800" b="0" u="none" strike="noStrike">
              <a:solidFill>
                <a:srgbClr val="FFFFFF"/>
              </a:solidFill>
              <a:effectLst/>
              <a:uFillTx/>
              <a:latin typeface="Roboto"/>
            </a:endParaRPr>
          </a:p>
        </p:txBody>
      </p:sp>
      <p:sp>
        <p:nvSpPr>
          <p:cNvPr id="684" name="Shape 61"/>
          <p:cNvSpPr/>
          <p:nvPr/>
        </p:nvSpPr>
        <p:spPr>
          <a:xfrm>
            <a:off x="0" y="6095160"/>
            <a:ext cx="12191400" cy="360"/>
          </a:xfrm>
          <a:prstGeom prst="line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fr-FR" sz="1800" b="0" u="none" strike="noStrike">
              <a:solidFill>
                <a:srgbClr val="FFFFFF"/>
              </a:solidFill>
              <a:effectLst/>
              <a:uFillTx/>
              <a:latin typeface="Roboto"/>
            </a:endParaRPr>
          </a:p>
        </p:txBody>
      </p:sp>
      <p:sp>
        <p:nvSpPr>
          <p:cNvPr id="685" name="Shape 62"/>
          <p:cNvSpPr/>
          <p:nvPr/>
        </p:nvSpPr>
        <p:spPr>
          <a:xfrm>
            <a:off x="0" y="6400080"/>
            <a:ext cx="12191400" cy="360"/>
          </a:xfrm>
          <a:prstGeom prst="line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fr-FR" sz="1800" b="0" u="none" strike="noStrike">
              <a:solidFill>
                <a:srgbClr val="FFFFFF"/>
              </a:solidFill>
              <a:effectLst/>
              <a:uFillTx/>
              <a:latin typeface="Roboto"/>
            </a:endParaRPr>
          </a:p>
        </p:txBody>
      </p:sp>
      <p:sp>
        <p:nvSpPr>
          <p:cNvPr id="686" name="Shape 63"/>
          <p:cNvSpPr/>
          <p:nvPr/>
        </p:nvSpPr>
        <p:spPr>
          <a:xfrm>
            <a:off x="0" y="6704640"/>
            <a:ext cx="12191400" cy="360"/>
          </a:xfrm>
          <a:prstGeom prst="line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fr-FR" sz="1800" b="0" u="none" strike="noStrike">
              <a:solidFill>
                <a:srgbClr val="FFFFFF"/>
              </a:solidFill>
              <a:effectLst/>
              <a:uFillTx/>
              <a:latin typeface="Roboto"/>
            </a:endParaRPr>
          </a:p>
        </p:txBody>
      </p:sp>
      <p:sp>
        <p:nvSpPr>
          <p:cNvPr id="687" name="Text 64"/>
          <p:cNvSpPr/>
          <p:nvPr/>
        </p:nvSpPr>
        <p:spPr>
          <a:xfrm>
            <a:off x="457200" y="384120"/>
            <a:ext cx="9141840" cy="253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pc="201" strike="noStrike">
                <a:solidFill>
                  <a:srgbClr val="F2A65A"/>
                </a:solidFill>
                <a:effectLst/>
                <a:uFillTx/>
                <a:latin typeface="Roboto"/>
                <a:ea typeface="Roboto"/>
              </a:rPr>
              <a:t>03 · HYPOTHESIS TESTING</a:t>
            </a:r>
            <a:endParaRPr lang="fr-FR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88" name="Text 65"/>
          <p:cNvSpPr/>
          <p:nvPr/>
        </p:nvSpPr>
        <p:spPr>
          <a:xfrm>
            <a:off x="457200" y="640080"/>
            <a:ext cx="10513440" cy="54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000" b="1" u="none" strike="noStrike">
                <a:solidFill>
                  <a:srgbClr val="FFFFFF"/>
                </a:solidFill>
                <a:effectLst/>
                <a:uFillTx/>
                <a:latin typeface="Roboto"/>
                <a:ea typeface="Roboto"/>
              </a:rPr>
              <a:t>Is It Real or Just Noise?</a:t>
            </a:r>
            <a:endParaRPr lang="fr-FR" sz="3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89" name="Shape 66"/>
          <p:cNvSpPr/>
          <p:nvPr/>
        </p:nvSpPr>
        <p:spPr>
          <a:xfrm>
            <a:off x="457200" y="1371600"/>
            <a:ext cx="7461720" cy="381960"/>
          </a:xfrm>
          <a:prstGeom prst="roundRect">
            <a:avLst>
              <a:gd name="adj" fmla="val 21429"/>
            </a:avLst>
          </a:prstGeom>
          <a:solidFill>
            <a:srgbClr val="111726"/>
          </a:solidFill>
          <a:ln w="12700">
            <a:solidFill>
              <a:srgbClr val="3D4B7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fr-FR" sz="1800" b="0" u="none" strike="noStrike">
              <a:solidFill>
                <a:srgbClr val="FFFFFF"/>
              </a:solidFill>
              <a:effectLst/>
              <a:uFillTx/>
              <a:latin typeface="Roboto"/>
            </a:endParaRPr>
          </a:p>
        </p:txBody>
      </p:sp>
      <p:sp>
        <p:nvSpPr>
          <p:cNvPr id="690" name="Text 67"/>
          <p:cNvSpPr/>
          <p:nvPr/>
        </p:nvSpPr>
        <p:spPr>
          <a:xfrm>
            <a:off x="457200" y="1371600"/>
            <a:ext cx="7861680" cy="381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8B96AC"/>
                </a:solidFill>
                <a:effectLst/>
                <a:uFillTx/>
                <a:latin typeface="Roboto"/>
                <a:ea typeface="Roboto"/>
              </a:rPr>
              <a:t>Mann-Whitney U tests  ·  α = 0.05  ·  Cohen's d for effect size</a:t>
            </a:r>
            <a:endParaRPr lang="fr-FR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91" name="Shape 68"/>
          <p:cNvSpPr/>
          <p:nvPr/>
        </p:nvSpPr>
        <p:spPr>
          <a:xfrm>
            <a:off x="457200" y="1965960"/>
            <a:ext cx="3637080" cy="4021200"/>
          </a:xfrm>
          <a:prstGeom prst="roundRect">
            <a:avLst>
              <a:gd name="adj" fmla="val 2261"/>
            </a:avLst>
          </a:prstGeom>
          <a:solidFill>
            <a:srgbClr val="263659"/>
          </a:solidFill>
          <a:ln w="12700">
            <a:solidFill>
              <a:srgbClr val="3D4B72"/>
            </a:solidFill>
            <a:round/>
          </a:ln>
          <a:effectLst>
            <a:outerShdw algn="bl" blurRad="101520" dir="5400000" dist="38160" kx="0" ky="0" rotWithShape="0" sx="100000" sy="10000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fr-FR" sz="1800" b="0" u="none" strike="noStrike">
              <a:solidFill>
                <a:srgbClr val="FFFFFF"/>
              </a:solidFill>
              <a:effectLst/>
              <a:uFillTx/>
              <a:latin typeface="Roboto"/>
            </a:endParaRPr>
          </a:p>
        </p:txBody>
      </p:sp>
      <p:sp>
        <p:nvSpPr>
          <p:cNvPr id="692" name="Text 69"/>
          <p:cNvSpPr/>
          <p:nvPr/>
        </p:nvSpPr>
        <p:spPr>
          <a:xfrm>
            <a:off x="685800" y="2167200"/>
            <a:ext cx="3179880" cy="27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pc="99" strike="noStrike">
                <a:solidFill>
                  <a:srgbClr val="F2A65A"/>
                </a:solidFill>
                <a:effectLst/>
                <a:uFillTx/>
                <a:latin typeface="Roboto"/>
                <a:ea typeface="Roboto"/>
              </a:rPr>
              <a:t>DECISION RATE</a:t>
            </a:r>
            <a:endParaRPr lang="fr-FR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93" name="Text 70"/>
          <p:cNvSpPr/>
          <p:nvPr/>
        </p:nvSpPr>
        <p:spPr>
          <a:xfrm>
            <a:off x="685800" y="2514600"/>
            <a:ext cx="3179880" cy="866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600" b="1" u="none" strike="noStrike">
                <a:solidFill>
                  <a:srgbClr val="003CFF"/>
                </a:solidFill>
                <a:effectLst/>
                <a:uFillTx/>
                <a:latin typeface="Roboto"/>
                <a:ea typeface="Roboto"/>
              </a:rPr>
              <a:t>48.1%</a:t>
            </a:r>
            <a:endParaRPr lang="fr-FR" sz="2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8B96AC"/>
                </a:solidFill>
                <a:effectLst/>
                <a:uFillTx/>
                <a:latin typeface="Roboto"/>
                <a:ea typeface="Roboto"/>
              </a:rPr>
              <a:t>Male 'yes' rate</a:t>
            </a:r>
            <a:endParaRPr lang="fr-FR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94" name="Text 71"/>
          <p:cNvSpPr/>
          <p:nvPr/>
        </p:nvSpPr>
        <p:spPr>
          <a:xfrm>
            <a:off x="685800" y="3429000"/>
            <a:ext cx="3179880" cy="866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600" b="1" u="none" strike="noStrike">
                <a:solidFill>
                  <a:srgbClr val="FF94FF"/>
                </a:solidFill>
                <a:effectLst/>
                <a:uFillTx/>
                <a:latin typeface="Roboto"/>
                <a:ea typeface="Roboto"/>
              </a:rPr>
              <a:t>37.4%</a:t>
            </a:r>
            <a:endParaRPr lang="fr-FR" sz="2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8B96AC"/>
                </a:solidFill>
                <a:effectLst/>
                <a:uFillTx/>
                <a:latin typeface="Roboto"/>
                <a:ea typeface="Roboto"/>
              </a:rPr>
              <a:t>Female 'yes' rate</a:t>
            </a:r>
            <a:endParaRPr lang="fr-FR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95" name="Shape 72"/>
          <p:cNvSpPr/>
          <p:nvPr/>
        </p:nvSpPr>
        <p:spPr>
          <a:xfrm>
            <a:off x="685800" y="4489560"/>
            <a:ext cx="3182040" cy="360"/>
          </a:xfrm>
          <a:prstGeom prst="line">
            <a:avLst/>
          </a:prstGeom>
          <a:ln w="12700">
            <a:solidFill>
              <a:srgbClr val="3D4B7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fr-FR" sz="1800" b="0" u="none" strike="noStrike">
              <a:solidFill>
                <a:srgbClr val="FFFFFF"/>
              </a:solidFill>
              <a:effectLst/>
              <a:uFillTx/>
              <a:latin typeface="Roboto"/>
            </a:endParaRPr>
          </a:p>
        </p:txBody>
      </p:sp>
      <p:sp>
        <p:nvSpPr>
          <p:cNvPr id="696" name="Text 73"/>
          <p:cNvSpPr/>
          <p:nvPr/>
        </p:nvSpPr>
        <p:spPr>
          <a:xfrm>
            <a:off x="685800" y="4617720"/>
            <a:ext cx="3179880" cy="36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FFFFFF"/>
                </a:solidFill>
                <a:effectLst/>
                <a:uFillTx/>
                <a:latin typeface="Roboto"/>
                <a:ea typeface="Roboto"/>
              </a:rPr>
              <a:t>Cohen's d = 0.428  ·  p &lt; 0.001</a:t>
            </a:r>
            <a:endParaRPr lang="fr-FR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97" name="Text 74"/>
          <p:cNvSpPr/>
          <p:nvPr/>
        </p:nvSpPr>
        <p:spPr>
          <a:xfrm>
            <a:off x="685800" y="4983480"/>
            <a:ext cx="3179880" cy="1003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25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FFFFFF"/>
                </a:solidFill>
                <a:effectLst/>
                <a:uFillTx/>
                <a:latin typeface="Roboto"/>
                <a:ea typeface="Roboto"/>
              </a:rPr>
              <a:t>Reject H₀: a real gender gap in who says yes.</a:t>
            </a:r>
            <a:endParaRPr lang="fr-FR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98" name="Shape 75"/>
          <p:cNvSpPr/>
          <p:nvPr/>
        </p:nvSpPr>
        <p:spPr>
          <a:xfrm>
            <a:off x="4279320" y="1965960"/>
            <a:ext cx="3637080" cy="4021200"/>
          </a:xfrm>
          <a:prstGeom prst="roundRect">
            <a:avLst>
              <a:gd name="adj" fmla="val 2261"/>
            </a:avLst>
          </a:prstGeom>
          <a:solidFill>
            <a:srgbClr val="263659"/>
          </a:solidFill>
          <a:ln w="12700">
            <a:solidFill>
              <a:srgbClr val="3D4B72"/>
            </a:solidFill>
            <a:round/>
          </a:ln>
          <a:effectLst>
            <a:outerShdw algn="bl" blurRad="101520" dir="5400000" dist="38160" kx="0" ky="0" rotWithShape="0" sx="100000" sy="10000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fr-FR" sz="1800" b="0" u="none" strike="noStrike">
              <a:solidFill>
                <a:srgbClr val="FFFFFF"/>
              </a:solidFill>
              <a:effectLst/>
              <a:uFillTx/>
              <a:latin typeface="Roboto"/>
            </a:endParaRPr>
          </a:p>
        </p:txBody>
      </p:sp>
      <p:sp>
        <p:nvSpPr>
          <p:cNvPr id="699" name="Text 76"/>
          <p:cNvSpPr/>
          <p:nvPr/>
        </p:nvSpPr>
        <p:spPr>
          <a:xfrm>
            <a:off x="4507920" y="2167200"/>
            <a:ext cx="3179880" cy="27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pc="99" strike="noStrike">
                <a:solidFill>
                  <a:srgbClr val="F2A65A"/>
                </a:solidFill>
                <a:effectLst/>
                <a:uFillTx/>
                <a:latin typeface="Roboto"/>
                <a:ea typeface="Roboto"/>
              </a:rPr>
              <a:t>STATED PREFERENCES</a:t>
            </a:r>
            <a:endParaRPr lang="fr-FR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00" name="Text 77"/>
          <p:cNvSpPr/>
          <p:nvPr/>
        </p:nvSpPr>
        <p:spPr>
          <a:xfrm>
            <a:off x="4507920" y="2532960"/>
            <a:ext cx="3179880" cy="77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2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FFFFFF"/>
                </a:solidFill>
                <a:effectLst/>
                <a:uFillTx/>
                <a:latin typeface="Roboto"/>
                <a:ea typeface="Roboto"/>
              </a:rPr>
              <a:t>Attractiveness</a:t>
            </a:r>
            <a:endParaRPr lang="fr-FR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2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8B96AC"/>
                </a:solidFill>
                <a:effectLst/>
                <a:uFillTx/>
                <a:latin typeface="Roboto"/>
                <a:ea typeface="Roboto"/>
              </a:rPr>
              <a:t>d = 0.76, p &lt; 0.001: men value it far more</a:t>
            </a:r>
            <a:endParaRPr lang="fr-FR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01" name="Text 78"/>
          <p:cNvSpPr/>
          <p:nvPr/>
        </p:nvSpPr>
        <p:spPr>
          <a:xfrm>
            <a:off x="4507920" y="3355920"/>
            <a:ext cx="3179880" cy="77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2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FFFFFF"/>
                </a:solidFill>
                <a:effectLst/>
                <a:uFillTx/>
                <a:latin typeface="Roboto"/>
                <a:ea typeface="Roboto"/>
              </a:rPr>
              <a:t>Ambition</a:t>
            </a:r>
            <a:endParaRPr lang="fr-FR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2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8B96AC"/>
                </a:solidFill>
                <a:effectLst/>
                <a:uFillTx/>
                <a:latin typeface="Roboto"/>
                <a:ea typeface="Roboto"/>
              </a:rPr>
              <a:t>d = -0.71, p &lt; 0.001: women value it far more</a:t>
            </a:r>
            <a:endParaRPr lang="fr-FR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02" name="Shape 79"/>
          <p:cNvSpPr/>
          <p:nvPr/>
        </p:nvSpPr>
        <p:spPr>
          <a:xfrm>
            <a:off x="4507920" y="4489560"/>
            <a:ext cx="3182040" cy="360"/>
          </a:xfrm>
          <a:prstGeom prst="line">
            <a:avLst/>
          </a:prstGeom>
          <a:ln w="12700">
            <a:solidFill>
              <a:srgbClr val="3D4B7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fr-FR" sz="1800" b="0" u="none" strike="noStrike">
              <a:solidFill>
                <a:srgbClr val="FFFFFF"/>
              </a:solidFill>
              <a:effectLst/>
              <a:uFillTx/>
              <a:latin typeface="Roboto"/>
            </a:endParaRPr>
          </a:p>
        </p:txBody>
      </p:sp>
      <p:sp>
        <p:nvSpPr>
          <p:cNvPr id="703" name="Text 80"/>
          <p:cNvSpPr/>
          <p:nvPr/>
        </p:nvSpPr>
        <p:spPr>
          <a:xfrm>
            <a:off x="4507920" y="4617720"/>
            <a:ext cx="3179880" cy="36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FFFFFF"/>
                </a:solidFill>
                <a:effectLst/>
                <a:uFillTx/>
                <a:latin typeface="Roboto"/>
                <a:ea typeface="Roboto"/>
              </a:rPr>
              <a:t>Fun &amp; intelligence: not significant.</a:t>
            </a:r>
            <a:endParaRPr lang="fr-FR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04" name="Text 81"/>
          <p:cNvSpPr/>
          <p:nvPr/>
        </p:nvSpPr>
        <p:spPr>
          <a:xfrm>
            <a:off x="4507920" y="4983480"/>
            <a:ext cx="3179880" cy="1003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25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FFFFFF"/>
                </a:solidFill>
                <a:effectLst/>
                <a:uFillTx/>
                <a:latin typeface="Roboto"/>
                <a:ea typeface="Roboto"/>
              </a:rPr>
              <a:t>Reject H₀: men and women state different priorities.</a:t>
            </a:r>
            <a:endParaRPr lang="fr-FR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05" name="Shape 82"/>
          <p:cNvSpPr/>
          <p:nvPr/>
        </p:nvSpPr>
        <p:spPr>
          <a:xfrm>
            <a:off x="8101440" y="1965960"/>
            <a:ext cx="3637080" cy="4021200"/>
          </a:xfrm>
          <a:prstGeom prst="roundRect">
            <a:avLst>
              <a:gd name="adj" fmla="val 2261"/>
            </a:avLst>
          </a:prstGeom>
          <a:solidFill>
            <a:srgbClr val="263659"/>
          </a:solidFill>
          <a:ln w="12700">
            <a:solidFill>
              <a:srgbClr val="3D4B72"/>
            </a:solidFill>
            <a:round/>
          </a:ln>
          <a:effectLst>
            <a:outerShdw algn="bl" blurRad="101520" dir="5400000" dist="38160" kx="0" ky="0" rotWithShape="0" sx="100000" sy="10000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fr-FR" sz="1800" b="0" u="none" strike="noStrike">
              <a:solidFill>
                <a:srgbClr val="FFFFFF"/>
              </a:solidFill>
              <a:effectLst/>
              <a:uFillTx/>
              <a:latin typeface="Roboto"/>
            </a:endParaRPr>
          </a:p>
        </p:txBody>
      </p:sp>
      <p:sp>
        <p:nvSpPr>
          <p:cNvPr id="706" name="Text 83"/>
          <p:cNvSpPr/>
          <p:nvPr/>
        </p:nvSpPr>
        <p:spPr>
          <a:xfrm>
            <a:off x="8330040" y="2167200"/>
            <a:ext cx="3179880" cy="27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pc="99" strike="noStrike">
                <a:solidFill>
                  <a:srgbClr val="F2A65A"/>
                </a:solidFill>
                <a:effectLst/>
                <a:uFillTx/>
                <a:latin typeface="Roboto"/>
                <a:ea typeface="Roboto"/>
              </a:rPr>
              <a:t>MISSING DATA</a:t>
            </a:r>
            <a:endParaRPr lang="fr-FR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07" name="Shape 800"/>
          <p:cNvSpPr/>
          <p:nvPr/>
        </p:nvSpPr>
        <p:spPr>
          <a:xfrm>
            <a:off x="8356680" y="2576880"/>
            <a:ext cx="1416240" cy="218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1" u="none" strike="noStrike">
                <a:solidFill>
                  <a:srgbClr val="8B96AC"/>
                </a:solidFill>
                <a:effectLst/>
                <a:uFillTx/>
                <a:latin typeface="Roboto"/>
                <a:ea typeface="Roboto"/>
              </a:rPr>
              <a:t>GROUP</a:t>
            </a:r>
            <a:endParaRPr lang="fr-FR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08" name="Shape 801"/>
          <p:cNvSpPr/>
          <p:nvPr/>
        </p:nvSpPr>
        <p:spPr>
          <a:xfrm>
            <a:off x="9774000" y="2576880"/>
            <a:ext cx="776160" cy="218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1" u="none" strike="noStrike">
                <a:solidFill>
                  <a:srgbClr val="8B96AC"/>
                </a:solidFill>
                <a:effectLst/>
                <a:uFillTx/>
                <a:latin typeface="Roboto"/>
                <a:ea typeface="Roboto"/>
              </a:rPr>
              <a:t>N</a:t>
            </a:r>
            <a:endParaRPr lang="fr-FR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09" name="Shape 802"/>
          <p:cNvSpPr/>
          <p:nvPr/>
        </p:nvSpPr>
        <p:spPr>
          <a:xfrm>
            <a:off x="10551240" y="2576880"/>
            <a:ext cx="929880" cy="218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1" u="none" strike="noStrike">
                <a:solidFill>
                  <a:srgbClr val="8B96AC"/>
                </a:solidFill>
                <a:effectLst/>
                <a:uFillTx/>
                <a:latin typeface="Roboto"/>
                <a:ea typeface="Roboto"/>
              </a:rPr>
              <a:t>YES RATE</a:t>
            </a:r>
            <a:endParaRPr lang="fr-FR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10" name="Shape 803"/>
          <p:cNvSpPr/>
          <p:nvPr/>
        </p:nvSpPr>
        <p:spPr>
          <a:xfrm>
            <a:off x="8356680" y="2851200"/>
            <a:ext cx="1416240" cy="27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FFFFFF"/>
                </a:solidFill>
                <a:effectLst/>
                <a:uFillTx/>
                <a:latin typeface="Roboto"/>
                <a:ea typeface="Roboto"/>
              </a:rPr>
              <a:t>Complete</a:t>
            </a:r>
            <a:endParaRPr lang="fr-FR" sz="11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11" name="Shape 804"/>
          <p:cNvSpPr/>
          <p:nvPr/>
        </p:nvSpPr>
        <p:spPr>
          <a:xfrm>
            <a:off x="9774000" y="2851200"/>
            <a:ext cx="776160" cy="27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8B96AC"/>
                </a:solidFill>
                <a:effectLst/>
                <a:uFillTx/>
                <a:latin typeface="Roboto"/>
                <a:ea typeface="Roboto"/>
              </a:rPr>
              <a:t>7,040</a:t>
            </a:r>
            <a:endParaRPr lang="fr-FR" sz="11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12" name="Shape 805"/>
          <p:cNvSpPr/>
          <p:nvPr/>
        </p:nvSpPr>
        <p:spPr>
          <a:xfrm>
            <a:off x="10551240" y="2851200"/>
            <a:ext cx="929880" cy="27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1" u="none" strike="noStrike">
                <a:solidFill>
                  <a:srgbClr val="FFFFFF"/>
                </a:solidFill>
                <a:effectLst/>
                <a:uFillTx/>
                <a:latin typeface="Roboto"/>
                <a:ea typeface="Roboto"/>
              </a:rPr>
              <a:t>43.1%</a:t>
            </a:r>
            <a:endParaRPr lang="fr-FR" sz="11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13" name="Shape 806"/>
          <p:cNvSpPr/>
          <p:nvPr/>
        </p:nvSpPr>
        <p:spPr>
          <a:xfrm>
            <a:off x="8356680" y="3125880"/>
            <a:ext cx="1416240" cy="27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FFFFFF"/>
                </a:solidFill>
                <a:effectLst/>
                <a:uFillTx/>
                <a:latin typeface="Roboto"/>
                <a:ea typeface="Roboto"/>
              </a:rPr>
              <a:t>Partial</a:t>
            </a:r>
            <a:endParaRPr lang="fr-FR" sz="11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14" name="Shape 807"/>
          <p:cNvSpPr/>
          <p:nvPr/>
        </p:nvSpPr>
        <p:spPr>
          <a:xfrm>
            <a:off x="9774000" y="3125880"/>
            <a:ext cx="776160" cy="27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8B96AC"/>
                </a:solidFill>
                <a:effectLst/>
                <a:uFillTx/>
                <a:latin typeface="Roboto"/>
                <a:ea typeface="Roboto"/>
              </a:rPr>
              <a:t>1,146</a:t>
            </a:r>
            <a:endParaRPr lang="fr-FR" sz="11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15" name="Shape 808"/>
          <p:cNvSpPr/>
          <p:nvPr/>
        </p:nvSpPr>
        <p:spPr>
          <a:xfrm>
            <a:off x="10551240" y="3125880"/>
            <a:ext cx="929880" cy="27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1" u="none" strike="noStrike">
                <a:solidFill>
                  <a:srgbClr val="FFFFFF"/>
                </a:solidFill>
                <a:effectLst/>
                <a:uFillTx/>
                <a:latin typeface="Roboto"/>
                <a:ea typeface="Roboto"/>
              </a:rPr>
              <a:t>41.5%</a:t>
            </a:r>
            <a:endParaRPr lang="fr-FR" sz="11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16" name="Shape 809"/>
          <p:cNvSpPr/>
          <p:nvPr/>
        </p:nvSpPr>
        <p:spPr>
          <a:xfrm>
            <a:off x="8356680" y="3400560"/>
            <a:ext cx="1416240" cy="27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FFFFFF"/>
                </a:solidFill>
                <a:effectLst/>
                <a:uFillTx/>
                <a:latin typeface="Roboto"/>
                <a:ea typeface="Roboto"/>
              </a:rPr>
              <a:t>All-missing</a:t>
            </a:r>
            <a:endParaRPr lang="fr-FR" sz="11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17" name="Shape 810"/>
          <p:cNvSpPr/>
          <p:nvPr/>
        </p:nvSpPr>
        <p:spPr>
          <a:xfrm>
            <a:off x="9774000" y="3400560"/>
            <a:ext cx="776160" cy="27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8B96AC"/>
                </a:solidFill>
                <a:effectLst/>
                <a:uFillTx/>
                <a:latin typeface="Roboto"/>
                <a:ea typeface="Roboto"/>
              </a:rPr>
              <a:t>192</a:t>
            </a:r>
            <a:endParaRPr lang="fr-FR" sz="11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18" name="Shape 811"/>
          <p:cNvSpPr/>
          <p:nvPr/>
        </p:nvSpPr>
        <p:spPr>
          <a:xfrm>
            <a:off x="10551240" y="3400560"/>
            <a:ext cx="929880" cy="27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1" u="none" strike="noStrike">
                <a:solidFill>
                  <a:srgbClr val="FFFFFF"/>
                </a:solidFill>
                <a:effectLst/>
                <a:uFillTx/>
                <a:latin typeface="Roboto"/>
                <a:ea typeface="Roboto"/>
              </a:rPr>
              <a:t>3.1%</a:t>
            </a:r>
            <a:endParaRPr lang="fr-FR" sz="11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19" name="Shape 812"/>
          <p:cNvSpPr/>
          <p:nvPr/>
        </p:nvSpPr>
        <p:spPr>
          <a:xfrm>
            <a:off x="8356680" y="3783240"/>
            <a:ext cx="3124440" cy="291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8B96AC"/>
                </a:solidFill>
                <a:effectLst/>
                <a:uFillTx/>
                <a:latin typeface="Roboto"/>
                <a:ea typeface="Roboto"/>
              </a:rPr>
              <a:t>Complete vs. partial:  </a:t>
            </a:r>
            <a:r>
              <a:rPr lang="en-US" sz="1100" b="1" u="none" strike="noStrike">
                <a:solidFill>
                  <a:srgbClr val="FFFFFF"/>
                </a:solidFill>
                <a:effectLst/>
                <a:uFillTx/>
                <a:latin typeface="Roboto"/>
                <a:ea typeface="Roboto"/>
              </a:rPr>
              <a:t>p = 0.329</a:t>
            </a:r>
            <a:endParaRPr lang="fr-FR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20" name="Shape 813"/>
          <p:cNvSpPr/>
          <p:nvPr/>
        </p:nvSpPr>
        <p:spPr>
          <a:xfrm>
            <a:off x="8356680" y="4102920"/>
            <a:ext cx="3124440" cy="291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8B96AC"/>
                </a:solidFill>
                <a:effectLst/>
                <a:uFillTx/>
                <a:latin typeface="Roboto"/>
                <a:ea typeface="Roboto"/>
              </a:rPr>
              <a:t>Complete vs. all-missing:  </a:t>
            </a:r>
            <a:r>
              <a:rPr lang="en-US" sz="1100" b="1" u="none" strike="noStrike">
                <a:solidFill>
                  <a:srgbClr val="FFFFFF"/>
                </a:solidFill>
                <a:effectLst/>
                <a:uFillTx/>
                <a:latin typeface="Roboto"/>
                <a:ea typeface="Roboto"/>
              </a:rPr>
              <a:t>p &lt; 0.001</a:t>
            </a:r>
            <a:endParaRPr lang="fr-FR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21" name="Shape 86"/>
          <p:cNvSpPr/>
          <p:nvPr/>
        </p:nvSpPr>
        <p:spPr>
          <a:xfrm>
            <a:off x="8330040" y="4489560"/>
            <a:ext cx="3182040" cy="360"/>
          </a:xfrm>
          <a:prstGeom prst="line">
            <a:avLst/>
          </a:prstGeom>
          <a:ln w="12700">
            <a:solidFill>
              <a:srgbClr val="3D4B7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fr-FR" sz="1800" b="0" u="none" strike="noStrike">
              <a:solidFill>
                <a:srgbClr val="FFFFFF"/>
              </a:solidFill>
              <a:effectLst/>
              <a:uFillTx/>
              <a:latin typeface="Roboto"/>
            </a:endParaRPr>
          </a:p>
        </p:txBody>
      </p:sp>
      <p:sp>
        <p:nvSpPr>
          <p:cNvPr id="722" name="Text 87"/>
          <p:cNvSpPr/>
          <p:nvPr/>
        </p:nvSpPr>
        <p:spPr>
          <a:xfrm>
            <a:off x="8330040" y="4617720"/>
            <a:ext cx="3179880" cy="1369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25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FFFFFF"/>
                </a:solidFill>
                <a:effectLst/>
                <a:uFillTx/>
                <a:latin typeface="Roboto"/>
                <a:ea typeface="Roboto"/>
              </a:rPr>
              <a:t>Impute partially-missing rows with mean.</a:t>
            </a:r>
            <a:endParaRPr lang="fr-FR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25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FFFFFF"/>
                </a:solidFill>
                <a:effectLst/>
                <a:uFillTx/>
                <a:latin typeface="Roboto"/>
                <a:ea typeface="Roboto"/>
              </a:rPr>
              <a:t>Drop fully-missing rows before modeling.</a:t>
            </a:r>
            <a:endParaRPr lang="fr-FR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23" name="Shape 88"/>
          <p:cNvSpPr/>
          <p:nvPr/>
        </p:nvSpPr>
        <p:spPr>
          <a:xfrm>
            <a:off x="548640" y="6263640"/>
            <a:ext cx="11091600" cy="360"/>
          </a:xfrm>
          <a:prstGeom prst="line">
            <a:avLst/>
          </a:prstGeom>
          <a:ln w="12700">
            <a:solidFill>
              <a:srgbClr val="3D4B7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fr-FR" sz="1800" b="0" u="none" strike="noStrike">
              <a:solidFill>
                <a:srgbClr val="FFFFFF"/>
              </a:solidFill>
              <a:effectLst/>
              <a:uFillTx/>
              <a:latin typeface="Roboto"/>
            </a:endParaRPr>
          </a:p>
        </p:txBody>
      </p:sp>
      <p:sp>
        <p:nvSpPr>
          <p:cNvPr id="724" name="Text 89"/>
          <p:cNvSpPr/>
          <p:nvPr/>
        </p:nvSpPr>
        <p:spPr>
          <a:xfrm>
            <a:off x="457200" y="6355080"/>
            <a:ext cx="8227440" cy="27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5C6684"/>
                </a:solidFill>
                <a:effectLst/>
                <a:uFillTx/>
                <a:latin typeface="Roboto"/>
                <a:ea typeface="Roboto"/>
              </a:rPr>
              <a:t>Speed dating experiment · Attraction, preferences &amp; machine learning</a:t>
            </a:r>
            <a:endParaRPr lang="fr-FR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25" name="Text 90"/>
          <p:cNvSpPr/>
          <p:nvPr/>
        </p:nvSpPr>
        <p:spPr>
          <a:xfrm>
            <a:off x="11274480" y="6355080"/>
            <a:ext cx="455040" cy="27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5C6684"/>
                </a:solidFill>
                <a:effectLst/>
                <a:uFillTx/>
                <a:latin typeface="Roboto"/>
                <a:ea typeface="Roboto"/>
              </a:rPr>
              <a:t>07</a:t>
            </a:r>
            <a:endParaRPr lang="fr-FR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26" name="Shape 64"/>
          <p:cNvSpPr/>
          <p:nvPr/>
        </p:nvSpPr>
        <p:spPr>
          <a:xfrm>
            <a:off x="8101440" y="1371600"/>
            <a:ext cx="3637080" cy="381960"/>
          </a:xfrm>
          <a:prstGeom prst="roundRect">
            <a:avLst>
              <a:gd name="adj" fmla="val 21429"/>
            </a:avLst>
          </a:prstGeom>
          <a:solidFill>
            <a:srgbClr val="111726"/>
          </a:solidFill>
          <a:ln w="12700">
            <a:solidFill>
              <a:srgbClr val="3D4B7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8B96AC"/>
                </a:solidFill>
                <a:effectLst/>
                <a:uFillTx/>
                <a:latin typeface="Roboto"/>
                <a:ea typeface="Roboto"/>
              </a:rPr>
              <a:t>Chi-square test  ·  Cramér’s V for effect size</a:t>
            </a:r>
            <a:endParaRPr lang="fr-FR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" name="Shape 0"/>
          <p:cNvSpPr/>
          <p:nvPr/>
        </p:nvSpPr>
        <p:spPr>
          <a:xfrm>
            <a:off x="0" y="0"/>
            <a:ext cx="360" cy="6858000"/>
          </a:xfrm>
          <a:prstGeom prst="line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0" tIns="45000" rIns="0" bIns="45000" anchor="t" anchorCtr="1">
            <a:noAutofit/>
          </a:bodyPr>
          <a:p>
            <a:endParaRPr lang="fr-FR" sz="1800" b="0" u="none" strike="noStrike">
              <a:solidFill>
                <a:srgbClr val="FFFFFF"/>
              </a:solidFill>
              <a:effectLst/>
              <a:uFillTx/>
              <a:latin typeface="Roboto"/>
            </a:endParaRPr>
          </a:p>
        </p:txBody>
      </p:sp>
      <p:sp>
        <p:nvSpPr>
          <p:cNvPr id="728" name="Shape 1"/>
          <p:cNvSpPr/>
          <p:nvPr/>
        </p:nvSpPr>
        <p:spPr>
          <a:xfrm>
            <a:off x="304560" y="0"/>
            <a:ext cx="360" cy="6858000"/>
          </a:xfrm>
          <a:prstGeom prst="line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0" tIns="45000" rIns="0" bIns="45000" anchor="t" anchorCtr="1">
            <a:noAutofit/>
          </a:bodyPr>
          <a:p>
            <a:endParaRPr lang="fr-FR" sz="1800" b="0" u="none" strike="noStrike">
              <a:solidFill>
                <a:srgbClr val="FFFFFF"/>
              </a:solidFill>
              <a:effectLst/>
              <a:uFillTx/>
              <a:latin typeface="Roboto"/>
            </a:endParaRPr>
          </a:p>
        </p:txBody>
      </p:sp>
      <p:sp>
        <p:nvSpPr>
          <p:cNvPr id="729" name="Shape 2"/>
          <p:cNvSpPr/>
          <p:nvPr/>
        </p:nvSpPr>
        <p:spPr>
          <a:xfrm>
            <a:off x="609480" y="0"/>
            <a:ext cx="360" cy="6858000"/>
          </a:xfrm>
          <a:prstGeom prst="line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0" tIns="45000" rIns="0" bIns="45000" anchor="t" anchorCtr="1">
            <a:noAutofit/>
          </a:bodyPr>
          <a:p>
            <a:endParaRPr lang="fr-FR" sz="1800" b="0" u="none" strike="noStrike">
              <a:solidFill>
                <a:srgbClr val="FFFFFF"/>
              </a:solidFill>
              <a:effectLst/>
              <a:uFillTx/>
              <a:latin typeface="Roboto"/>
            </a:endParaRPr>
          </a:p>
        </p:txBody>
      </p:sp>
      <p:sp>
        <p:nvSpPr>
          <p:cNvPr id="730" name="Shape 3"/>
          <p:cNvSpPr/>
          <p:nvPr/>
        </p:nvSpPr>
        <p:spPr>
          <a:xfrm>
            <a:off x="914040" y="0"/>
            <a:ext cx="360" cy="6858000"/>
          </a:xfrm>
          <a:prstGeom prst="line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0" tIns="45000" rIns="0" bIns="45000" anchor="t" anchorCtr="1">
            <a:noAutofit/>
          </a:bodyPr>
          <a:p>
            <a:endParaRPr lang="fr-FR" sz="1800" b="0" u="none" strike="noStrike">
              <a:solidFill>
                <a:srgbClr val="FFFFFF"/>
              </a:solidFill>
              <a:effectLst/>
              <a:uFillTx/>
              <a:latin typeface="Roboto"/>
            </a:endParaRPr>
          </a:p>
        </p:txBody>
      </p:sp>
      <p:sp>
        <p:nvSpPr>
          <p:cNvPr id="731" name="Shape 4"/>
          <p:cNvSpPr/>
          <p:nvPr/>
        </p:nvSpPr>
        <p:spPr>
          <a:xfrm>
            <a:off x="1218960" y="0"/>
            <a:ext cx="360" cy="6858000"/>
          </a:xfrm>
          <a:prstGeom prst="line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0" tIns="45000" rIns="0" bIns="45000" anchor="t" anchorCtr="1">
            <a:noAutofit/>
          </a:bodyPr>
          <a:p>
            <a:endParaRPr lang="fr-FR" sz="1800" b="0" u="none" strike="noStrike">
              <a:solidFill>
                <a:srgbClr val="FFFFFF"/>
              </a:solidFill>
              <a:effectLst/>
              <a:uFillTx/>
              <a:latin typeface="Roboto"/>
            </a:endParaRPr>
          </a:p>
        </p:txBody>
      </p:sp>
      <p:sp>
        <p:nvSpPr>
          <p:cNvPr id="732" name="Shape 5"/>
          <p:cNvSpPr/>
          <p:nvPr/>
        </p:nvSpPr>
        <p:spPr>
          <a:xfrm>
            <a:off x="1523520" y="0"/>
            <a:ext cx="360" cy="6858000"/>
          </a:xfrm>
          <a:prstGeom prst="line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0" tIns="45000" rIns="0" bIns="45000" anchor="t" anchorCtr="1">
            <a:noAutofit/>
          </a:bodyPr>
          <a:p>
            <a:endParaRPr lang="fr-FR" sz="1800" b="0" u="none" strike="noStrike">
              <a:solidFill>
                <a:srgbClr val="FFFFFF"/>
              </a:solidFill>
              <a:effectLst/>
              <a:uFillTx/>
              <a:latin typeface="Roboto"/>
            </a:endParaRPr>
          </a:p>
        </p:txBody>
      </p:sp>
      <p:sp>
        <p:nvSpPr>
          <p:cNvPr id="733" name="Shape 6"/>
          <p:cNvSpPr/>
          <p:nvPr/>
        </p:nvSpPr>
        <p:spPr>
          <a:xfrm>
            <a:off x="1828440" y="0"/>
            <a:ext cx="360" cy="6858000"/>
          </a:xfrm>
          <a:prstGeom prst="line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0" tIns="45000" rIns="0" bIns="45000" anchor="t" anchorCtr="1">
            <a:noAutofit/>
          </a:bodyPr>
          <a:p>
            <a:endParaRPr lang="fr-FR" sz="1800" b="0" u="none" strike="noStrike">
              <a:solidFill>
                <a:srgbClr val="FFFFFF"/>
              </a:solidFill>
              <a:effectLst/>
              <a:uFillTx/>
              <a:latin typeface="Roboto"/>
            </a:endParaRPr>
          </a:p>
        </p:txBody>
      </p:sp>
      <p:sp>
        <p:nvSpPr>
          <p:cNvPr id="734" name="Shape 7"/>
          <p:cNvSpPr/>
          <p:nvPr/>
        </p:nvSpPr>
        <p:spPr>
          <a:xfrm>
            <a:off x="2133360" y="0"/>
            <a:ext cx="360" cy="6858000"/>
          </a:xfrm>
          <a:prstGeom prst="line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0" tIns="45000" rIns="0" bIns="45000" anchor="t" anchorCtr="1">
            <a:noAutofit/>
          </a:bodyPr>
          <a:p>
            <a:endParaRPr lang="fr-FR" sz="1800" b="0" u="none" strike="noStrike">
              <a:solidFill>
                <a:srgbClr val="FFFFFF"/>
              </a:solidFill>
              <a:effectLst/>
              <a:uFillTx/>
              <a:latin typeface="Roboto"/>
            </a:endParaRPr>
          </a:p>
        </p:txBody>
      </p:sp>
      <p:sp>
        <p:nvSpPr>
          <p:cNvPr id="735" name="Shape 8"/>
          <p:cNvSpPr/>
          <p:nvPr/>
        </p:nvSpPr>
        <p:spPr>
          <a:xfrm>
            <a:off x="2437920" y="0"/>
            <a:ext cx="360" cy="6858000"/>
          </a:xfrm>
          <a:prstGeom prst="line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0" tIns="45000" rIns="0" bIns="45000" anchor="t" anchorCtr="1">
            <a:noAutofit/>
          </a:bodyPr>
          <a:p>
            <a:endParaRPr lang="fr-FR" sz="1800" b="0" u="none" strike="noStrike">
              <a:solidFill>
                <a:srgbClr val="FFFFFF"/>
              </a:solidFill>
              <a:effectLst/>
              <a:uFillTx/>
              <a:latin typeface="Roboto"/>
            </a:endParaRPr>
          </a:p>
        </p:txBody>
      </p:sp>
      <p:sp>
        <p:nvSpPr>
          <p:cNvPr id="736" name="Shape 9"/>
          <p:cNvSpPr/>
          <p:nvPr/>
        </p:nvSpPr>
        <p:spPr>
          <a:xfrm>
            <a:off x="2742840" y="0"/>
            <a:ext cx="360" cy="6858000"/>
          </a:xfrm>
          <a:prstGeom prst="line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0" tIns="45000" rIns="0" bIns="45000" anchor="t" anchorCtr="1">
            <a:noAutofit/>
          </a:bodyPr>
          <a:p>
            <a:endParaRPr lang="fr-FR" sz="1800" b="0" u="none" strike="noStrike">
              <a:solidFill>
                <a:srgbClr val="FFFFFF"/>
              </a:solidFill>
              <a:effectLst/>
              <a:uFillTx/>
              <a:latin typeface="Roboto"/>
            </a:endParaRPr>
          </a:p>
        </p:txBody>
      </p:sp>
      <p:sp>
        <p:nvSpPr>
          <p:cNvPr id="737" name="Shape 10"/>
          <p:cNvSpPr/>
          <p:nvPr/>
        </p:nvSpPr>
        <p:spPr>
          <a:xfrm>
            <a:off x="3047400" y="0"/>
            <a:ext cx="360" cy="6858000"/>
          </a:xfrm>
          <a:prstGeom prst="line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0" tIns="45000" rIns="0" bIns="45000" anchor="t" anchorCtr="1">
            <a:noAutofit/>
          </a:bodyPr>
          <a:p>
            <a:endParaRPr lang="fr-FR" sz="1800" b="0" u="none" strike="noStrike">
              <a:solidFill>
                <a:srgbClr val="FFFFFF"/>
              </a:solidFill>
              <a:effectLst/>
              <a:uFillTx/>
              <a:latin typeface="Roboto"/>
            </a:endParaRPr>
          </a:p>
        </p:txBody>
      </p:sp>
      <p:sp>
        <p:nvSpPr>
          <p:cNvPr id="738" name="Shape 11"/>
          <p:cNvSpPr/>
          <p:nvPr/>
        </p:nvSpPr>
        <p:spPr>
          <a:xfrm>
            <a:off x="3352320" y="0"/>
            <a:ext cx="360" cy="6858000"/>
          </a:xfrm>
          <a:prstGeom prst="line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0" tIns="45000" rIns="0" bIns="45000" anchor="t" anchorCtr="1">
            <a:noAutofit/>
          </a:bodyPr>
          <a:p>
            <a:endParaRPr lang="fr-FR" sz="1800" b="0" u="none" strike="noStrike">
              <a:solidFill>
                <a:srgbClr val="FFFFFF"/>
              </a:solidFill>
              <a:effectLst/>
              <a:uFillTx/>
              <a:latin typeface="Roboto"/>
            </a:endParaRPr>
          </a:p>
        </p:txBody>
      </p:sp>
      <p:sp>
        <p:nvSpPr>
          <p:cNvPr id="739" name="Shape 12"/>
          <p:cNvSpPr/>
          <p:nvPr/>
        </p:nvSpPr>
        <p:spPr>
          <a:xfrm>
            <a:off x="3656880" y="0"/>
            <a:ext cx="360" cy="6858000"/>
          </a:xfrm>
          <a:prstGeom prst="line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0" tIns="45000" rIns="0" bIns="45000" anchor="t" anchorCtr="1">
            <a:noAutofit/>
          </a:bodyPr>
          <a:p>
            <a:endParaRPr lang="fr-FR" sz="1800" b="0" u="none" strike="noStrike">
              <a:solidFill>
                <a:srgbClr val="FFFFFF"/>
              </a:solidFill>
              <a:effectLst/>
              <a:uFillTx/>
              <a:latin typeface="Roboto"/>
            </a:endParaRPr>
          </a:p>
        </p:txBody>
      </p:sp>
      <p:sp>
        <p:nvSpPr>
          <p:cNvPr id="740" name="Shape 13"/>
          <p:cNvSpPr/>
          <p:nvPr/>
        </p:nvSpPr>
        <p:spPr>
          <a:xfrm>
            <a:off x="3961800" y="0"/>
            <a:ext cx="360" cy="6858000"/>
          </a:xfrm>
          <a:prstGeom prst="line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0" tIns="45000" rIns="0" bIns="45000" anchor="t" anchorCtr="1">
            <a:noAutofit/>
          </a:bodyPr>
          <a:p>
            <a:endParaRPr lang="fr-FR" sz="1800" b="0" u="none" strike="noStrike">
              <a:solidFill>
                <a:srgbClr val="FFFFFF"/>
              </a:solidFill>
              <a:effectLst/>
              <a:uFillTx/>
              <a:latin typeface="Roboto"/>
            </a:endParaRPr>
          </a:p>
        </p:txBody>
      </p:sp>
      <p:sp>
        <p:nvSpPr>
          <p:cNvPr id="741" name="Shape 14"/>
          <p:cNvSpPr/>
          <p:nvPr/>
        </p:nvSpPr>
        <p:spPr>
          <a:xfrm>
            <a:off x="4266720" y="0"/>
            <a:ext cx="360" cy="6858000"/>
          </a:xfrm>
          <a:prstGeom prst="line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0" tIns="45000" rIns="0" bIns="45000" anchor="t" anchorCtr="1">
            <a:noAutofit/>
          </a:bodyPr>
          <a:p>
            <a:endParaRPr lang="fr-FR" sz="1800" b="0" u="none" strike="noStrike">
              <a:solidFill>
                <a:srgbClr val="FFFFFF"/>
              </a:solidFill>
              <a:effectLst/>
              <a:uFillTx/>
              <a:latin typeface="Roboto"/>
            </a:endParaRPr>
          </a:p>
        </p:txBody>
      </p:sp>
      <p:sp>
        <p:nvSpPr>
          <p:cNvPr id="742" name="Shape 15"/>
          <p:cNvSpPr/>
          <p:nvPr/>
        </p:nvSpPr>
        <p:spPr>
          <a:xfrm>
            <a:off x="4571280" y="0"/>
            <a:ext cx="360" cy="6858000"/>
          </a:xfrm>
          <a:prstGeom prst="line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0" tIns="45000" rIns="0" bIns="45000" anchor="t" anchorCtr="1">
            <a:noAutofit/>
          </a:bodyPr>
          <a:p>
            <a:endParaRPr lang="fr-FR" sz="1800" b="0" u="none" strike="noStrike">
              <a:solidFill>
                <a:srgbClr val="FFFFFF"/>
              </a:solidFill>
              <a:effectLst/>
              <a:uFillTx/>
              <a:latin typeface="Roboto"/>
            </a:endParaRPr>
          </a:p>
        </p:txBody>
      </p:sp>
      <p:sp>
        <p:nvSpPr>
          <p:cNvPr id="743" name="Shape 16"/>
          <p:cNvSpPr/>
          <p:nvPr/>
        </p:nvSpPr>
        <p:spPr>
          <a:xfrm>
            <a:off x="4876200" y="0"/>
            <a:ext cx="360" cy="6858000"/>
          </a:xfrm>
          <a:prstGeom prst="line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0" tIns="45000" rIns="0" bIns="45000" anchor="t" anchorCtr="1">
            <a:noAutofit/>
          </a:bodyPr>
          <a:p>
            <a:endParaRPr lang="fr-FR" sz="1800" b="0" u="none" strike="noStrike">
              <a:solidFill>
                <a:srgbClr val="FFFFFF"/>
              </a:solidFill>
              <a:effectLst/>
              <a:uFillTx/>
              <a:latin typeface="Roboto"/>
            </a:endParaRPr>
          </a:p>
        </p:txBody>
      </p:sp>
      <p:sp>
        <p:nvSpPr>
          <p:cNvPr id="744" name="Shape 17"/>
          <p:cNvSpPr/>
          <p:nvPr/>
        </p:nvSpPr>
        <p:spPr>
          <a:xfrm>
            <a:off x="5180760" y="0"/>
            <a:ext cx="360" cy="6858000"/>
          </a:xfrm>
          <a:prstGeom prst="line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0" tIns="45000" rIns="0" bIns="45000" anchor="t" anchorCtr="1">
            <a:noAutofit/>
          </a:bodyPr>
          <a:p>
            <a:endParaRPr lang="fr-FR" sz="1800" b="0" u="none" strike="noStrike">
              <a:solidFill>
                <a:srgbClr val="FFFFFF"/>
              </a:solidFill>
              <a:effectLst/>
              <a:uFillTx/>
              <a:latin typeface="Roboto"/>
            </a:endParaRPr>
          </a:p>
        </p:txBody>
      </p:sp>
      <p:sp>
        <p:nvSpPr>
          <p:cNvPr id="745" name="Shape 18"/>
          <p:cNvSpPr/>
          <p:nvPr/>
        </p:nvSpPr>
        <p:spPr>
          <a:xfrm>
            <a:off x="5485680" y="0"/>
            <a:ext cx="360" cy="6858000"/>
          </a:xfrm>
          <a:prstGeom prst="line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0" tIns="45000" rIns="0" bIns="45000" anchor="t" anchorCtr="1">
            <a:noAutofit/>
          </a:bodyPr>
          <a:p>
            <a:endParaRPr lang="fr-FR" sz="1800" b="0" u="none" strike="noStrike">
              <a:solidFill>
                <a:srgbClr val="FFFFFF"/>
              </a:solidFill>
              <a:effectLst/>
              <a:uFillTx/>
              <a:latin typeface="Roboto"/>
            </a:endParaRPr>
          </a:p>
        </p:txBody>
      </p:sp>
      <p:sp>
        <p:nvSpPr>
          <p:cNvPr id="746" name="Shape 19"/>
          <p:cNvSpPr/>
          <p:nvPr/>
        </p:nvSpPr>
        <p:spPr>
          <a:xfrm>
            <a:off x="5790600" y="0"/>
            <a:ext cx="360" cy="6858000"/>
          </a:xfrm>
          <a:prstGeom prst="line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0" tIns="45000" rIns="0" bIns="45000" anchor="t" anchorCtr="1">
            <a:noAutofit/>
          </a:bodyPr>
          <a:p>
            <a:endParaRPr lang="fr-FR" sz="1800" b="0" u="none" strike="noStrike">
              <a:solidFill>
                <a:srgbClr val="FFFFFF"/>
              </a:solidFill>
              <a:effectLst/>
              <a:uFillTx/>
              <a:latin typeface="Roboto"/>
            </a:endParaRPr>
          </a:p>
        </p:txBody>
      </p:sp>
      <p:sp>
        <p:nvSpPr>
          <p:cNvPr id="747" name="Shape 20"/>
          <p:cNvSpPr/>
          <p:nvPr/>
        </p:nvSpPr>
        <p:spPr>
          <a:xfrm>
            <a:off x="6095160" y="0"/>
            <a:ext cx="360" cy="6858000"/>
          </a:xfrm>
          <a:prstGeom prst="line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0" tIns="45000" rIns="0" bIns="45000" anchor="t" anchorCtr="1">
            <a:noAutofit/>
          </a:bodyPr>
          <a:p>
            <a:endParaRPr lang="fr-FR" sz="1800" b="0" u="none" strike="noStrike">
              <a:solidFill>
                <a:srgbClr val="FFFFFF"/>
              </a:solidFill>
              <a:effectLst/>
              <a:uFillTx/>
              <a:latin typeface="Roboto"/>
            </a:endParaRPr>
          </a:p>
        </p:txBody>
      </p:sp>
      <p:sp>
        <p:nvSpPr>
          <p:cNvPr id="748" name="Shape 21"/>
          <p:cNvSpPr/>
          <p:nvPr/>
        </p:nvSpPr>
        <p:spPr>
          <a:xfrm>
            <a:off x="6400080" y="0"/>
            <a:ext cx="360" cy="6858000"/>
          </a:xfrm>
          <a:prstGeom prst="line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0" tIns="45000" rIns="0" bIns="45000" anchor="t" anchorCtr="1">
            <a:noAutofit/>
          </a:bodyPr>
          <a:p>
            <a:endParaRPr lang="fr-FR" sz="1800" b="0" u="none" strike="noStrike">
              <a:solidFill>
                <a:srgbClr val="FFFFFF"/>
              </a:solidFill>
              <a:effectLst/>
              <a:uFillTx/>
              <a:latin typeface="Roboto"/>
            </a:endParaRPr>
          </a:p>
        </p:txBody>
      </p:sp>
      <p:sp>
        <p:nvSpPr>
          <p:cNvPr id="749" name="Shape 22"/>
          <p:cNvSpPr/>
          <p:nvPr/>
        </p:nvSpPr>
        <p:spPr>
          <a:xfrm>
            <a:off x="6704640" y="0"/>
            <a:ext cx="360" cy="6858000"/>
          </a:xfrm>
          <a:prstGeom prst="line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0" tIns="45000" rIns="0" bIns="45000" anchor="t" anchorCtr="1">
            <a:noAutofit/>
          </a:bodyPr>
          <a:p>
            <a:endParaRPr lang="fr-FR" sz="1800" b="0" u="none" strike="noStrike">
              <a:solidFill>
                <a:srgbClr val="FFFFFF"/>
              </a:solidFill>
              <a:effectLst/>
              <a:uFillTx/>
              <a:latin typeface="Roboto"/>
            </a:endParaRPr>
          </a:p>
        </p:txBody>
      </p:sp>
      <p:sp>
        <p:nvSpPr>
          <p:cNvPr id="750" name="Shape 23"/>
          <p:cNvSpPr/>
          <p:nvPr/>
        </p:nvSpPr>
        <p:spPr>
          <a:xfrm>
            <a:off x="7009560" y="0"/>
            <a:ext cx="360" cy="6858000"/>
          </a:xfrm>
          <a:prstGeom prst="line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0" tIns="45000" rIns="0" bIns="45000" anchor="t" anchorCtr="1">
            <a:noAutofit/>
          </a:bodyPr>
          <a:p>
            <a:endParaRPr lang="fr-FR" sz="1800" b="0" u="none" strike="noStrike">
              <a:solidFill>
                <a:srgbClr val="FFFFFF"/>
              </a:solidFill>
              <a:effectLst/>
              <a:uFillTx/>
              <a:latin typeface="Roboto"/>
            </a:endParaRPr>
          </a:p>
        </p:txBody>
      </p:sp>
      <p:sp>
        <p:nvSpPr>
          <p:cNvPr id="751" name="Shape 24"/>
          <p:cNvSpPr/>
          <p:nvPr/>
        </p:nvSpPr>
        <p:spPr>
          <a:xfrm>
            <a:off x="7314120" y="0"/>
            <a:ext cx="360" cy="6858000"/>
          </a:xfrm>
          <a:prstGeom prst="line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0" tIns="45000" rIns="0" bIns="45000" anchor="t" anchorCtr="1">
            <a:noAutofit/>
          </a:bodyPr>
          <a:p>
            <a:endParaRPr lang="fr-FR" sz="1800" b="0" u="none" strike="noStrike">
              <a:solidFill>
                <a:srgbClr val="FFFFFF"/>
              </a:solidFill>
              <a:effectLst/>
              <a:uFillTx/>
              <a:latin typeface="Roboto"/>
            </a:endParaRPr>
          </a:p>
        </p:txBody>
      </p:sp>
      <p:sp>
        <p:nvSpPr>
          <p:cNvPr id="752" name="Shape 25"/>
          <p:cNvSpPr/>
          <p:nvPr/>
        </p:nvSpPr>
        <p:spPr>
          <a:xfrm>
            <a:off x="7619040" y="0"/>
            <a:ext cx="360" cy="6858000"/>
          </a:xfrm>
          <a:prstGeom prst="line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0" tIns="45000" rIns="0" bIns="45000" anchor="t" anchorCtr="1">
            <a:noAutofit/>
          </a:bodyPr>
          <a:p>
            <a:endParaRPr lang="fr-FR" sz="1800" b="0" u="none" strike="noStrike">
              <a:solidFill>
                <a:srgbClr val="FFFFFF"/>
              </a:solidFill>
              <a:effectLst/>
              <a:uFillTx/>
              <a:latin typeface="Roboto"/>
            </a:endParaRPr>
          </a:p>
        </p:txBody>
      </p:sp>
      <p:sp>
        <p:nvSpPr>
          <p:cNvPr id="753" name="Shape 26"/>
          <p:cNvSpPr/>
          <p:nvPr/>
        </p:nvSpPr>
        <p:spPr>
          <a:xfrm>
            <a:off x="7923960" y="0"/>
            <a:ext cx="360" cy="6858000"/>
          </a:xfrm>
          <a:prstGeom prst="line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0" tIns="45000" rIns="0" bIns="45000" anchor="t" anchorCtr="1">
            <a:noAutofit/>
          </a:bodyPr>
          <a:p>
            <a:endParaRPr lang="fr-FR" sz="1800" b="0" u="none" strike="noStrike">
              <a:solidFill>
                <a:srgbClr val="FFFFFF"/>
              </a:solidFill>
              <a:effectLst/>
              <a:uFillTx/>
              <a:latin typeface="Roboto"/>
            </a:endParaRPr>
          </a:p>
        </p:txBody>
      </p:sp>
      <p:sp>
        <p:nvSpPr>
          <p:cNvPr id="754" name="Shape 27"/>
          <p:cNvSpPr/>
          <p:nvPr/>
        </p:nvSpPr>
        <p:spPr>
          <a:xfrm>
            <a:off x="8228520" y="0"/>
            <a:ext cx="360" cy="6858000"/>
          </a:xfrm>
          <a:prstGeom prst="line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0" tIns="45000" rIns="0" bIns="45000" anchor="t" anchorCtr="1">
            <a:noAutofit/>
          </a:bodyPr>
          <a:p>
            <a:endParaRPr lang="fr-FR" sz="1800" b="0" u="none" strike="noStrike">
              <a:solidFill>
                <a:srgbClr val="FFFFFF"/>
              </a:solidFill>
              <a:effectLst/>
              <a:uFillTx/>
              <a:latin typeface="Roboto"/>
            </a:endParaRPr>
          </a:p>
        </p:txBody>
      </p:sp>
      <p:sp>
        <p:nvSpPr>
          <p:cNvPr id="755" name="Shape 28"/>
          <p:cNvSpPr/>
          <p:nvPr/>
        </p:nvSpPr>
        <p:spPr>
          <a:xfrm>
            <a:off x="8533440" y="0"/>
            <a:ext cx="360" cy="6858000"/>
          </a:xfrm>
          <a:prstGeom prst="line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0" tIns="45000" rIns="0" bIns="45000" anchor="t" anchorCtr="1">
            <a:noAutofit/>
          </a:bodyPr>
          <a:p>
            <a:endParaRPr lang="fr-FR" sz="1800" b="0" u="none" strike="noStrike">
              <a:solidFill>
                <a:srgbClr val="FFFFFF"/>
              </a:solidFill>
              <a:effectLst/>
              <a:uFillTx/>
              <a:latin typeface="Roboto"/>
            </a:endParaRPr>
          </a:p>
        </p:txBody>
      </p:sp>
      <p:sp>
        <p:nvSpPr>
          <p:cNvPr id="756" name="Shape 29"/>
          <p:cNvSpPr/>
          <p:nvPr/>
        </p:nvSpPr>
        <p:spPr>
          <a:xfrm>
            <a:off x="8838000" y="0"/>
            <a:ext cx="360" cy="6858000"/>
          </a:xfrm>
          <a:prstGeom prst="line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0" tIns="45000" rIns="0" bIns="45000" anchor="t" anchorCtr="1">
            <a:noAutofit/>
          </a:bodyPr>
          <a:p>
            <a:endParaRPr lang="fr-FR" sz="1800" b="0" u="none" strike="noStrike">
              <a:solidFill>
                <a:srgbClr val="FFFFFF"/>
              </a:solidFill>
              <a:effectLst/>
              <a:uFillTx/>
              <a:latin typeface="Roboto"/>
            </a:endParaRPr>
          </a:p>
        </p:txBody>
      </p:sp>
      <p:sp>
        <p:nvSpPr>
          <p:cNvPr id="757" name="Shape 30"/>
          <p:cNvSpPr/>
          <p:nvPr/>
        </p:nvSpPr>
        <p:spPr>
          <a:xfrm>
            <a:off x="9142920" y="0"/>
            <a:ext cx="360" cy="6858000"/>
          </a:xfrm>
          <a:prstGeom prst="line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0" tIns="45000" rIns="0" bIns="45000" anchor="t" anchorCtr="1">
            <a:noAutofit/>
          </a:bodyPr>
          <a:p>
            <a:endParaRPr lang="fr-FR" sz="1800" b="0" u="none" strike="noStrike">
              <a:solidFill>
                <a:srgbClr val="FFFFFF"/>
              </a:solidFill>
              <a:effectLst/>
              <a:uFillTx/>
              <a:latin typeface="Roboto"/>
            </a:endParaRPr>
          </a:p>
        </p:txBody>
      </p:sp>
      <p:sp>
        <p:nvSpPr>
          <p:cNvPr id="758" name="Shape 31"/>
          <p:cNvSpPr/>
          <p:nvPr/>
        </p:nvSpPr>
        <p:spPr>
          <a:xfrm>
            <a:off x="9447840" y="0"/>
            <a:ext cx="360" cy="6858000"/>
          </a:xfrm>
          <a:prstGeom prst="line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0" tIns="45000" rIns="0" bIns="45000" anchor="t" anchorCtr="1">
            <a:noAutofit/>
          </a:bodyPr>
          <a:p>
            <a:endParaRPr lang="fr-FR" sz="1800" b="0" u="none" strike="noStrike">
              <a:solidFill>
                <a:srgbClr val="FFFFFF"/>
              </a:solidFill>
              <a:effectLst/>
              <a:uFillTx/>
              <a:latin typeface="Roboto"/>
            </a:endParaRPr>
          </a:p>
        </p:txBody>
      </p:sp>
      <p:sp>
        <p:nvSpPr>
          <p:cNvPr id="759" name="Shape 32"/>
          <p:cNvSpPr/>
          <p:nvPr/>
        </p:nvSpPr>
        <p:spPr>
          <a:xfrm>
            <a:off x="9752400" y="0"/>
            <a:ext cx="360" cy="6858000"/>
          </a:xfrm>
          <a:prstGeom prst="line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0" tIns="45000" rIns="0" bIns="45000" anchor="t" anchorCtr="1">
            <a:noAutofit/>
          </a:bodyPr>
          <a:p>
            <a:endParaRPr lang="fr-FR" sz="1800" b="0" u="none" strike="noStrike">
              <a:solidFill>
                <a:srgbClr val="FFFFFF"/>
              </a:solidFill>
              <a:effectLst/>
              <a:uFillTx/>
              <a:latin typeface="Roboto"/>
            </a:endParaRPr>
          </a:p>
        </p:txBody>
      </p:sp>
      <p:sp>
        <p:nvSpPr>
          <p:cNvPr id="760" name="Shape 33"/>
          <p:cNvSpPr/>
          <p:nvPr/>
        </p:nvSpPr>
        <p:spPr>
          <a:xfrm>
            <a:off x="10057320" y="0"/>
            <a:ext cx="360" cy="6858000"/>
          </a:xfrm>
          <a:prstGeom prst="line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0" tIns="45000" rIns="0" bIns="45000" anchor="t" anchorCtr="1">
            <a:noAutofit/>
          </a:bodyPr>
          <a:p>
            <a:endParaRPr lang="fr-FR" sz="1800" b="0" u="none" strike="noStrike">
              <a:solidFill>
                <a:srgbClr val="FFFFFF"/>
              </a:solidFill>
              <a:effectLst/>
              <a:uFillTx/>
              <a:latin typeface="Roboto"/>
            </a:endParaRPr>
          </a:p>
        </p:txBody>
      </p:sp>
      <p:sp>
        <p:nvSpPr>
          <p:cNvPr id="761" name="Shape 34"/>
          <p:cNvSpPr/>
          <p:nvPr/>
        </p:nvSpPr>
        <p:spPr>
          <a:xfrm>
            <a:off x="10361880" y="0"/>
            <a:ext cx="360" cy="6858000"/>
          </a:xfrm>
          <a:prstGeom prst="line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0" tIns="45000" rIns="0" bIns="45000" anchor="t" anchorCtr="1">
            <a:noAutofit/>
          </a:bodyPr>
          <a:p>
            <a:endParaRPr lang="fr-FR" sz="1800" b="0" u="none" strike="noStrike">
              <a:solidFill>
                <a:srgbClr val="FFFFFF"/>
              </a:solidFill>
              <a:effectLst/>
              <a:uFillTx/>
              <a:latin typeface="Roboto"/>
            </a:endParaRPr>
          </a:p>
        </p:txBody>
      </p:sp>
      <p:sp>
        <p:nvSpPr>
          <p:cNvPr id="762" name="Shape 35"/>
          <p:cNvSpPr/>
          <p:nvPr/>
        </p:nvSpPr>
        <p:spPr>
          <a:xfrm>
            <a:off x="10666800" y="0"/>
            <a:ext cx="360" cy="6858000"/>
          </a:xfrm>
          <a:prstGeom prst="line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0" tIns="45000" rIns="0" bIns="45000" anchor="t" anchorCtr="1">
            <a:noAutofit/>
          </a:bodyPr>
          <a:p>
            <a:endParaRPr lang="fr-FR" sz="1800" b="0" u="none" strike="noStrike">
              <a:solidFill>
                <a:srgbClr val="FFFFFF"/>
              </a:solidFill>
              <a:effectLst/>
              <a:uFillTx/>
              <a:latin typeface="Roboto"/>
            </a:endParaRPr>
          </a:p>
        </p:txBody>
      </p:sp>
      <p:sp>
        <p:nvSpPr>
          <p:cNvPr id="763" name="Shape 36"/>
          <p:cNvSpPr/>
          <p:nvPr/>
        </p:nvSpPr>
        <p:spPr>
          <a:xfrm>
            <a:off x="10971360" y="0"/>
            <a:ext cx="360" cy="6858000"/>
          </a:xfrm>
          <a:prstGeom prst="line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0" tIns="45000" rIns="0" bIns="45000" anchor="t" anchorCtr="1">
            <a:noAutofit/>
          </a:bodyPr>
          <a:p>
            <a:endParaRPr lang="fr-FR" sz="1800" b="0" u="none" strike="noStrike">
              <a:solidFill>
                <a:srgbClr val="FFFFFF"/>
              </a:solidFill>
              <a:effectLst/>
              <a:uFillTx/>
              <a:latin typeface="Roboto"/>
            </a:endParaRPr>
          </a:p>
        </p:txBody>
      </p:sp>
      <p:sp>
        <p:nvSpPr>
          <p:cNvPr id="764" name="Shape 37"/>
          <p:cNvSpPr/>
          <p:nvPr/>
        </p:nvSpPr>
        <p:spPr>
          <a:xfrm>
            <a:off x="11276280" y="0"/>
            <a:ext cx="360" cy="6858000"/>
          </a:xfrm>
          <a:prstGeom prst="line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0" tIns="45000" rIns="0" bIns="45000" anchor="t" anchorCtr="1">
            <a:noAutofit/>
          </a:bodyPr>
          <a:p>
            <a:endParaRPr lang="fr-FR" sz="1800" b="0" u="none" strike="noStrike">
              <a:solidFill>
                <a:srgbClr val="FFFFFF"/>
              </a:solidFill>
              <a:effectLst/>
              <a:uFillTx/>
              <a:latin typeface="Roboto"/>
            </a:endParaRPr>
          </a:p>
        </p:txBody>
      </p:sp>
      <p:sp>
        <p:nvSpPr>
          <p:cNvPr id="765" name="Shape 38"/>
          <p:cNvSpPr/>
          <p:nvPr/>
        </p:nvSpPr>
        <p:spPr>
          <a:xfrm>
            <a:off x="11581200" y="0"/>
            <a:ext cx="360" cy="6858000"/>
          </a:xfrm>
          <a:prstGeom prst="line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0" tIns="45000" rIns="0" bIns="45000" anchor="t" anchorCtr="1">
            <a:noAutofit/>
          </a:bodyPr>
          <a:p>
            <a:endParaRPr lang="fr-FR" sz="1800" b="0" u="none" strike="noStrike">
              <a:solidFill>
                <a:srgbClr val="FFFFFF"/>
              </a:solidFill>
              <a:effectLst/>
              <a:uFillTx/>
              <a:latin typeface="Roboto"/>
            </a:endParaRPr>
          </a:p>
        </p:txBody>
      </p:sp>
      <p:sp>
        <p:nvSpPr>
          <p:cNvPr id="766" name="Shape 39"/>
          <p:cNvSpPr/>
          <p:nvPr/>
        </p:nvSpPr>
        <p:spPr>
          <a:xfrm>
            <a:off x="11885760" y="0"/>
            <a:ext cx="360" cy="6858000"/>
          </a:xfrm>
          <a:prstGeom prst="line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0" tIns="45000" rIns="0" bIns="45000" anchor="t" anchorCtr="1">
            <a:noAutofit/>
          </a:bodyPr>
          <a:p>
            <a:endParaRPr lang="fr-FR" sz="1800" b="0" u="none" strike="noStrike">
              <a:solidFill>
                <a:srgbClr val="FFFFFF"/>
              </a:solidFill>
              <a:effectLst/>
              <a:uFillTx/>
              <a:latin typeface="Roboto"/>
            </a:endParaRPr>
          </a:p>
        </p:txBody>
      </p:sp>
      <p:sp>
        <p:nvSpPr>
          <p:cNvPr id="767" name="Shape 40"/>
          <p:cNvSpPr/>
          <p:nvPr/>
        </p:nvSpPr>
        <p:spPr>
          <a:xfrm>
            <a:off x="12190680" y="0"/>
            <a:ext cx="360" cy="6858000"/>
          </a:xfrm>
          <a:prstGeom prst="line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0" tIns="45000" rIns="0" bIns="45000" anchor="t" anchorCtr="1">
            <a:noAutofit/>
          </a:bodyPr>
          <a:p>
            <a:endParaRPr lang="fr-FR" sz="1800" b="0" u="none" strike="noStrike">
              <a:solidFill>
                <a:srgbClr val="FFFFFF"/>
              </a:solidFill>
              <a:effectLst/>
              <a:uFillTx/>
              <a:latin typeface="Roboto"/>
            </a:endParaRPr>
          </a:p>
        </p:txBody>
      </p:sp>
      <p:sp>
        <p:nvSpPr>
          <p:cNvPr id="768" name="Shape 41"/>
          <p:cNvSpPr/>
          <p:nvPr/>
        </p:nvSpPr>
        <p:spPr>
          <a:xfrm>
            <a:off x="0" y="0"/>
            <a:ext cx="12191400" cy="360"/>
          </a:xfrm>
          <a:prstGeom prst="line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fr-FR" sz="1800" b="0" u="none" strike="noStrike">
              <a:solidFill>
                <a:srgbClr val="FFFFFF"/>
              </a:solidFill>
              <a:effectLst/>
              <a:uFillTx/>
              <a:latin typeface="Roboto"/>
            </a:endParaRPr>
          </a:p>
        </p:txBody>
      </p:sp>
      <p:sp>
        <p:nvSpPr>
          <p:cNvPr id="769" name="Shape 42"/>
          <p:cNvSpPr/>
          <p:nvPr/>
        </p:nvSpPr>
        <p:spPr>
          <a:xfrm>
            <a:off x="0" y="304560"/>
            <a:ext cx="12191400" cy="360"/>
          </a:xfrm>
          <a:prstGeom prst="line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fr-FR" sz="1800" b="0" u="none" strike="noStrike">
              <a:solidFill>
                <a:srgbClr val="FFFFFF"/>
              </a:solidFill>
              <a:effectLst/>
              <a:uFillTx/>
              <a:latin typeface="Roboto"/>
            </a:endParaRPr>
          </a:p>
        </p:txBody>
      </p:sp>
      <p:sp>
        <p:nvSpPr>
          <p:cNvPr id="770" name="Shape 43"/>
          <p:cNvSpPr/>
          <p:nvPr/>
        </p:nvSpPr>
        <p:spPr>
          <a:xfrm>
            <a:off x="0" y="609480"/>
            <a:ext cx="12191400" cy="360"/>
          </a:xfrm>
          <a:prstGeom prst="line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fr-FR" sz="1800" b="0" u="none" strike="noStrike">
              <a:solidFill>
                <a:srgbClr val="FFFFFF"/>
              </a:solidFill>
              <a:effectLst/>
              <a:uFillTx/>
              <a:latin typeface="Roboto"/>
            </a:endParaRPr>
          </a:p>
        </p:txBody>
      </p:sp>
      <p:sp>
        <p:nvSpPr>
          <p:cNvPr id="771" name="Shape 44"/>
          <p:cNvSpPr/>
          <p:nvPr/>
        </p:nvSpPr>
        <p:spPr>
          <a:xfrm>
            <a:off x="0" y="914040"/>
            <a:ext cx="12191400" cy="360"/>
          </a:xfrm>
          <a:prstGeom prst="line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fr-FR" sz="1800" b="0" u="none" strike="noStrike">
              <a:solidFill>
                <a:srgbClr val="FFFFFF"/>
              </a:solidFill>
              <a:effectLst/>
              <a:uFillTx/>
              <a:latin typeface="Roboto"/>
            </a:endParaRPr>
          </a:p>
        </p:txBody>
      </p:sp>
      <p:sp>
        <p:nvSpPr>
          <p:cNvPr id="772" name="Shape 45"/>
          <p:cNvSpPr/>
          <p:nvPr/>
        </p:nvSpPr>
        <p:spPr>
          <a:xfrm>
            <a:off x="0" y="1218960"/>
            <a:ext cx="12191400" cy="360"/>
          </a:xfrm>
          <a:prstGeom prst="line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fr-FR" sz="1800" b="0" u="none" strike="noStrike">
              <a:solidFill>
                <a:srgbClr val="FFFFFF"/>
              </a:solidFill>
              <a:effectLst/>
              <a:uFillTx/>
              <a:latin typeface="Roboto"/>
            </a:endParaRPr>
          </a:p>
        </p:txBody>
      </p:sp>
      <p:sp>
        <p:nvSpPr>
          <p:cNvPr id="773" name="Shape 46"/>
          <p:cNvSpPr/>
          <p:nvPr/>
        </p:nvSpPr>
        <p:spPr>
          <a:xfrm>
            <a:off x="0" y="1523520"/>
            <a:ext cx="12191400" cy="360"/>
          </a:xfrm>
          <a:prstGeom prst="line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fr-FR" sz="1800" b="0" u="none" strike="noStrike">
              <a:solidFill>
                <a:srgbClr val="FFFFFF"/>
              </a:solidFill>
              <a:effectLst/>
              <a:uFillTx/>
              <a:latin typeface="Roboto"/>
            </a:endParaRPr>
          </a:p>
        </p:txBody>
      </p:sp>
      <p:sp>
        <p:nvSpPr>
          <p:cNvPr id="774" name="Shape 47"/>
          <p:cNvSpPr/>
          <p:nvPr/>
        </p:nvSpPr>
        <p:spPr>
          <a:xfrm>
            <a:off x="0" y="1828440"/>
            <a:ext cx="12191400" cy="360"/>
          </a:xfrm>
          <a:prstGeom prst="line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fr-FR" sz="1800" b="0" u="none" strike="noStrike">
              <a:solidFill>
                <a:srgbClr val="FFFFFF"/>
              </a:solidFill>
              <a:effectLst/>
              <a:uFillTx/>
              <a:latin typeface="Roboto"/>
            </a:endParaRPr>
          </a:p>
        </p:txBody>
      </p:sp>
      <p:sp>
        <p:nvSpPr>
          <p:cNvPr id="775" name="Shape 48"/>
          <p:cNvSpPr/>
          <p:nvPr/>
        </p:nvSpPr>
        <p:spPr>
          <a:xfrm>
            <a:off x="0" y="2133360"/>
            <a:ext cx="12191400" cy="360"/>
          </a:xfrm>
          <a:prstGeom prst="line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fr-FR" sz="1800" b="0" u="none" strike="noStrike">
              <a:solidFill>
                <a:srgbClr val="FFFFFF"/>
              </a:solidFill>
              <a:effectLst/>
              <a:uFillTx/>
              <a:latin typeface="Roboto"/>
            </a:endParaRPr>
          </a:p>
        </p:txBody>
      </p:sp>
      <p:sp>
        <p:nvSpPr>
          <p:cNvPr id="776" name="Shape 49"/>
          <p:cNvSpPr/>
          <p:nvPr/>
        </p:nvSpPr>
        <p:spPr>
          <a:xfrm>
            <a:off x="0" y="2437920"/>
            <a:ext cx="12191400" cy="360"/>
          </a:xfrm>
          <a:prstGeom prst="line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fr-FR" sz="1800" b="0" u="none" strike="noStrike">
              <a:solidFill>
                <a:srgbClr val="FFFFFF"/>
              </a:solidFill>
              <a:effectLst/>
              <a:uFillTx/>
              <a:latin typeface="Roboto"/>
            </a:endParaRPr>
          </a:p>
        </p:txBody>
      </p:sp>
      <p:sp>
        <p:nvSpPr>
          <p:cNvPr id="777" name="Shape 50"/>
          <p:cNvSpPr/>
          <p:nvPr/>
        </p:nvSpPr>
        <p:spPr>
          <a:xfrm>
            <a:off x="0" y="2742840"/>
            <a:ext cx="12191400" cy="360"/>
          </a:xfrm>
          <a:prstGeom prst="line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fr-FR" sz="1800" b="0" u="none" strike="noStrike">
              <a:solidFill>
                <a:srgbClr val="FFFFFF"/>
              </a:solidFill>
              <a:effectLst/>
              <a:uFillTx/>
              <a:latin typeface="Roboto"/>
            </a:endParaRPr>
          </a:p>
        </p:txBody>
      </p:sp>
      <p:sp>
        <p:nvSpPr>
          <p:cNvPr id="778" name="Shape 51"/>
          <p:cNvSpPr/>
          <p:nvPr/>
        </p:nvSpPr>
        <p:spPr>
          <a:xfrm>
            <a:off x="0" y="3047400"/>
            <a:ext cx="12191400" cy="360"/>
          </a:xfrm>
          <a:prstGeom prst="line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fr-FR" sz="1800" b="0" u="none" strike="noStrike">
              <a:solidFill>
                <a:srgbClr val="FFFFFF"/>
              </a:solidFill>
              <a:effectLst/>
              <a:uFillTx/>
              <a:latin typeface="Roboto"/>
            </a:endParaRPr>
          </a:p>
        </p:txBody>
      </p:sp>
      <p:sp>
        <p:nvSpPr>
          <p:cNvPr id="779" name="Shape 52"/>
          <p:cNvSpPr/>
          <p:nvPr/>
        </p:nvSpPr>
        <p:spPr>
          <a:xfrm>
            <a:off x="0" y="3352320"/>
            <a:ext cx="12191400" cy="360"/>
          </a:xfrm>
          <a:prstGeom prst="line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fr-FR" sz="1800" b="0" u="none" strike="noStrike">
              <a:solidFill>
                <a:srgbClr val="FFFFFF"/>
              </a:solidFill>
              <a:effectLst/>
              <a:uFillTx/>
              <a:latin typeface="Roboto"/>
            </a:endParaRPr>
          </a:p>
        </p:txBody>
      </p:sp>
      <p:sp>
        <p:nvSpPr>
          <p:cNvPr id="780" name="Shape 53"/>
          <p:cNvSpPr/>
          <p:nvPr/>
        </p:nvSpPr>
        <p:spPr>
          <a:xfrm>
            <a:off x="0" y="3656880"/>
            <a:ext cx="12191400" cy="360"/>
          </a:xfrm>
          <a:prstGeom prst="line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fr-FR" sz="1800" b="0" u="none" strike="noStrike">
              <a:solidFill>
                <a:srgbClr val="FFFFFF"/>
              </a:solidFill>
              <a:effectLst/>
              <a:uFillTx/>
              <a:latin typeface="Roboto"/>
            </a:endParaRPr>
          </a:p>
        </p:txBody>
      </p:sp>
      <p:sp>
        <p:nvSpPr>
          <p:cNvPr id="781" name="Shape 54"/>
          <p:cNvSpPr/>
          <p:nvPr/>
        </p:nvSpPr>
        <p:spPr>
          <a:xfrm>
            <a:off x="0" y="3961800"/>
            <a:ext cx="12191400" cy="360"/>
          </a:xfrm>
          <a:prstGeom prst="line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fr-FR" sz="1800" b="0" u="none" strike="noStrike">
              <a:solidFill>
                <a:srgbClr val="FFFFFF"/>
              </a:solidFill>
              <a:effectLst/>
              <a:uFillTx/>
              <a:latin typeface="Roboto"/>
            </a:endParaRPr>
          </a:p>
        </p:txBody>
      </p:sp>
      <p:sp>
        <p:nvSpPr>
          <p:cNvPr id="782" name="Shape 55"/>
          <p:cNvSpPr/>
          <p:nvPr/>
        </p:nvSpPr>
        <p:spPr>
          <a:xfrm>
            <a:off x="0" y="4266720"/>
            <a:ext cx="12191400" cy="360"/>
          </a:xfrm>
          <a:prstGeom prst="line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fr-FR" sz="1800" b="0" u="none" strike="noStrike">
              <a:solidFill>
                <a:srgbClr val="FFFFFF"/>
              </a:solidFill>
              <a:effectLst/>
              <a:uFillTx/>
              <a:latin typeface="Roboto"/>
            </a:endParaRPr>
          </a:p>
        </p:txBody>
      </p:sp>
      <p:sp>
        <p:nvSpPr>
          <p:cNvPr id="783" name="Shape 56"/>
          <p:cNvSpPr/>
          <p:nvPr/>
        </p:nvSpPr>
        <p:spPr>
          <a:xfrm>
            <a:off x="0" y="4571280"/>
            <a:ext cx="12191400" cy="360"/>
          </a:xfrm>
          <a:prstGeom prst="line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fr-FR" sz="1800" b="0" u="none" strike="noStrike">
              <a:solidFill>
                <a:srgbClr val="FFFFFF"/>
              </a:solidFill>
              <a:effectLst/>
              <a:uFillTx/>
              <a:latin typeface="Roboto"/>
            </a:endParaRPr>
          </a:p>
        </p:txBody>
      </p:sp>
      <p:sp>
        <p:nvSpPr>
          <p:cNvPr id="784" name="Shape 57"/>
          <p:cNvSpPr/>
          <p:nvPr/>
        </p:nvSpPr>
        <p:spPr>
          <a:xfrm>
            <a:off x="0" y="4876200"/>
            <a:ext cx="12191400" cy="360"/>
          </a:xfrm>
          <a:prstGeom prst="line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fr-FR" sz="1800" b="0" u="none" strike="noStrike">
              <a:solidFill>
                <a:srgbClr val="FFFFFF"/>
              </a:solidFill>
              <a:effectLst/>
              <a:uFillTx/>
              <a:latin typeface="Roboto"/>
            </a:endParaRPr>
          </a:p>
        </p:txBody>
      </p:sp>
      <p:sp>
        <p:nvSpPr>
          <p:cNvPr id="785" name="Shape 58"/>
          <p:cNvSpPr/>
          <p:nvPr/>
        </p:nvSpPr>
        <p:spPr>
          <a:xfrm>
            <a:off x="0" y="5180760"/>
            <a:ext cx="12191400" cy="360"/>
          </a:xfrm>
          <a:prstGeom prst="line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fr-FR" sz="1800" b="0" u="none" strike="noStrike">
              <a:solidFill>
                <a:srgbClr val="FFFFFF"/>
              </a:solidFill>
              <a:effectLst/>
              <a:uFillTx/>
              <a:latin typeface="Roboto"/>
            </a:endParaRPr>
          </a:p>
        </p:txBody>
      </p:sp>
      <p:sp>
        <p:nvSpPr>
          <p:cNvPr id="786" name="Shape 59"/>
          <p:cNvSpPr/>
          <p:nvPr/>
        </p:nvSpPr>
        <p:spPr>
          <a:xfrm>
            <a:off x="0" y="5485680"/>
            <a:ext cx="12191400" cy="360"/>
          </a:xfrm>
          <a:prstGeom prst="line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fr-FR" sz="1800" b="0" u="none" strike="noStrike">
              <a:solidFill>
                <a:srgbClr val="FFFFFF"/>
              </a:solidFill>
              <a:effectLst/>
              <a:uFillTx/>
              <a:latin typeface="Roboto"/>
            </a:endParaRPr>
          </a:p>
        </p:txBody>
      </p:sp>
      <p:sp>
        <p:nvSpPr>
          <p:cNvPr id="787" name="Shape 60"/>
          <p:cNvSpPr/>
          <p:nvPr/>
        </p:nvSpPr>
        <p:spPr>
          <a:xfrm>
            <a:off x="0" y="5790600"/>
            <a:ext cx="12191400" cy="360"/>
          </a:xfrm>
          <a:prstGeom prst="line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fr-FR" sz="1800" b="0" u="none" strike="noStrike">
              <a:solidFill>
                <a:srgbClr val="FFFFFF"/>
              </a:solidFill>
              <a:effectLst/>
              <a:uFillTx/>
              <a:latin typeface="Roboto"/>
            </a:endParaRPr>
          </a:p>
        </p:txBody>
      </p:sp>
      <p:sp>
        <p:nvSpPr>
          <p:cNvPr id="788" name="Shape 61"/>
          <p:cNvSpPr/>
          <p:nvPr/>
        </p:nvSpPr>
        <p:spPr>
          <a:xfrm>
            <a:off x="0" y="6095160"/>
            <a:ext cx="12191400" cy="360"/>
          </a:xfrm>
          <a:prstGeom prst="line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fr-FR" sz="1800" b="0" u="none" strike="noStrike">
              <a:solidFill>
                <a:srgbClr val="FFFFFF"/>
              </a:solidFill>
              <a:effectLst/>
              <a:uFillTx/>
              <a:latin typeface="Roboto"/>
            </a:endParaRPr>
          </a:p>
        </p:txBody>
      </p:sp>
      <p:sp>
        <p:nvSpPr>
          <p:cNvPr id="789" name="Shape 62"/>
          <p:cNvSpPr/>
          <p:nvPr/>
        </p:nvSpPr>
        <p:spPr>
          <a:xfrm>
            <a:off x="0" y="6400080"/>
            <a:ext cx="12191400" cy="360"/>
          </a:xfrm>
          <a:prstGeom prst="line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fr-FR" sz="1800" b="0" u="none" strike="noStrike">
              <a:solidFill>
                <a:srgbClr val="FFFFFF"/>
              </a:solidFill>
              <a:effectLst/>
              <a:uFillTx/>
              <a:latin typeface="Roboto"/>
            </a:endParaRPr>
          </a:p>
        </p:txBody>
      </p:sp>
      <p:sp>
        <p:nvSpPr>
          <p:cNvPr id="790" name="Shape 63"/>
          <p:cNvSpPr/>
          <p:nvPr/>
        </p:nvSpPr>
        <p:spPr>
          <a:xfrm>
            <a:off x="0" y="6704640"/>
            <a:ext cx="12191400" cy="360"/>
          </a:xfrm>
          <a:prstGeom prst="line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fr-FR" sz="1800" b="0" u="none" strike="noStrike">
              <a:solidFill>
                <a:srgbClr val="FFFFFF"/>
              </a:solidFill>
              <a:effectLst/>
              <a:uFillTx/>
              <a:latin typeface="Roboto"/>
            </a:endParaRPr>
          </a:p>
        </p:txBody>
      </p:sp>
      <p:sp>
        <p:nvSpPr>
          <p:cNvPr id="791" name="Text 64"/>
          <p:cNvSpPr/>
          <p:nvPr/>
        </p:nvSpPr>
        <p:spPr>
          <a:xfrm>
            <a:off x="457200" y="384120"/>
            <a:ext cx="9141840" cy="253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pc="201" strike="noStrike">
                <a:solidFill>
                  <a:srgbClr val="F2A65A"/>
                </a:solidFill>
                <a:effectLst/>
                <a:uFillTx/>
                <a:latin typeface="Roboto"/>
                <a:ea typeface="Roboto"/>
              </a:rPr>
              <a:t>04 · MACHINE LEARNING</a:t>
            </a:r>
            <a:endParaRPr lang="fr-FR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92" name="Text 65"/>
          <p:cNvSpPr/>
          <p:nvPr/>
        </p:nvSpPr>
        <p:spPr>
          <a:xfrm>
            <a:off x="457200" y="640080"/>
            <a:ext cx="10513440" cy="54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000" b="1" u="none" strike="noStrike">
                <a:solidFill>
                  <a:srgbClr val="FFFFFF"/>
                </a:solidFill>
                <a:effectLst/>
                <a:uFillTx/>
                <a:latin typeface="Roboto"/>
                <a:ea typeface="Roboto"/>
              </a:rPr>
              <a:t>Building the Model</a:t>
            </a:r>
            <a:endParaRPr lang="fr-FR" sz="3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93" name="Shape 66"/>
          <p:cNvSpPr/>
          <p:nvPr/>
        </p:nvSpPr>
        <p:spPr>
          <a:xfrm>
            <a:off x="457200" y="1371600"/>
            <a:ext cx="3634200" cy="4661280"/>
          </a:xfrm>
          <a:prstGeom prst="roundRect">
            <a:avLst>
              <a:gd name="adj" fmla="val 2263"/>
            </a:avLst>
          </a:prstGeom>
          <a:solidFill>
            <a:srgbClr val="263659"/>
          </a:solidFill>
          <a:ln w="12700">
            <a:solidFill>
              <a:srgbClr val="3D4B72"/>
            </a:solidFill>
            <a:round/>
          </a:ln>
          <a:effectLst>
            <a:outerShdw algn="bl" blurRad="101520" dir="5400000" dist="38160" kx="0" ky="0" rotWithShape="0" sx="100000" sy="10000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fr-FR" sz="1800" b="0" u="none" strike="noStrike">
              <a:solidFill>
                <a:srgbClr val="FFFFFF"/>
              </a:solidFill>
              <a:effectLst/>
              <a:uFillTx/>
              <a:latin typeface="Roboto"/>
            </a:endParaRPr>
          </a:p>
        </p:txBody>
      </p:sp>
      <p:sp>
        <p:nvSpPr>
          <p:cNvPr id="794" name="Text 67"/>
          <p:cNvSpPr/>
          <p:nvPr/>
        </p:nvSpPr>
        <p:spPr>
          <a:xfrm>
            <a:off x="685800" y="1572840"/>
            <a:ext cx="3177000" cy="27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pc="150" strike="noStrike">
                <a:solidFill>
                  <a:srgbClr val="F2A65A"/>
                </a:solidFill>
                <a:effectLst/>
                <a:uFillTx/>
                <a:latin typeface="Roboto"/>
                <a:ea typeface="Roboto"/>
              </a:rPr>
              <a:t>APPROACH</a:t>
            </a:r>
            <a:endParaRPr lang="fr-FR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95" name="Shape 68"/>
          <p:cNvSpPr/>
          <p:nvPr/>
        </p:nvSpPr>
        <p:spPr>
          <a:xfrm>
            <a:off x="685800" y="1938600"/>
            <a:ext cx="308880" cy="308880"/>
          </a:xfrm>
          <a:prstGeom prst="ellipse">
            <a:avLst/>
          </a:prstGeom>
          <a:solidFill>
            <a:srgbClr val="F2A65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fr-FR" sz="1800" b="0" u="none" strike="noStrike">
              <a:solidFill>
                <a:srgbClr val="FFFFFF"/>
              </a:solidFill>
              <a:effectLst/>
              <a:uFillTx/>
              <a:latin typeface="Roboto"/>
            </a:endParaRPr>
          </a:p>
        </p:txBody>
      </p:sp>
      <p:sp>
        <p:nvSpPr>
          <p:cNvPr id="796" name="Text 69"/>
          <p:cNvSpPr/>
          <p:nvPr/>
        </p:nvSpPr>
        <p:spPr>
          <a:xfrm>
            <a:off x="685800" y="1938600"/>
            <a:ext cx="308880" cy="308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0A0E1A"/>
                </a:solidFill>
                <a:effectLst/>
                <a:uFillTx/>
                <a:latin typeface="Roboto"/>
                <a:ea typeface="Roboto"/>
              </a:rPr>
              <a:t>1</a:t>
            </a:r>
            <a:endParaRPr lang="fr-FR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97" name="Text 70"/>
          <p:cNvSpPr/>
          <p:nvPr/>
        </p:nvSpPr>
        <p:spPr>
          <a:xfrm>
            <a:off x="1115640" y="1901880"/>
            <a:ext cx="2747160" cy="27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FFFFFF"/>
                </a:solidFill>
                <a:effectLst/>
                <a:uFillTx/>
                <a:latin typeface="Roboto"/>
                <a:ea typeface="Roboto"/>
              </a:rPr>
              <a:t>Drop fully-missing rows</a:t>
            </a:r>
            <a:endParaRPr lang="fr-FR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98" name="Text 71"/>
          <p:cNvSpPr/>
          <p:nvPr/>
        </p:nvSpPr>
        <p:spPr>
          <a:xfrm>
            <a:off x="1115640" y="2167200"/>
            <a:ext cx="2747160" cy="40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15000"/>
              </a:lnSpc>
              <a:tabLst>
                <a:tab pos="0" algn="l"/>
              </a:tabLst>
            </a:pPr>
            <a:r>
              <a:rPr lang="en-US" sz="950" b="0" u="none" strike="noStrike">
                <a:solidFill>
                  <a:srgbClr val="8B96AC"/>
                </a:solidFill>
                <a:effectLst/>
                <a:uFillTx/>
                <a:latin typeface="Roboto"/>
                <a:ea typeface="Roboto"/>
              </a:rPr>
              <a:t>8,186 rows remain for modeling</a:t>
            </a:r>
            <a:endParaRPr lang="fr-FR" sz="9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99" name="Shape 72"/>
          <p:cNvSpPr/>
          <p:nvPr/>
        </p:nvSpPr>
        <p:spPr>
          <a:xfrm>
            <a:off x="685800" y="2715840"/>
            <a:ext cx="308880" cy="308880"/>
          </a:xfrm>
          <a:prstGeom prst="ellipse">
            <a:avLst/>
          </a:prstGeom>
          <a:solidFill>
            <a:srgbClr val="F2A65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fr-FR" sz="1800" b="0" u="none" strike="noStrike">
              <a:solidFill>
                <a:srgbClr val="FFFFFF"/>
              </a:solidFill>
              <a:effectLst/>
              <a:uFillTx/>
              <a:latin typeface="Roboto"/>
            </a:endParaRPr>
          </a:p>
        </p:txBody>
      </p:sp>
      <p:sp>
        <p:nvSpPr>
          <p:cNvPr id="800" name="Text 73"/>
          <p:cNvSpPr/>
          <p:nvPr/>
        </p:nvSpPr>
        <p:spPr>
          <a:xfrm>
            <a:off x="685800" y="2715840"/>
            <a:ext cx="308880" cy="308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0A0E1A"/>
                </a:solidFill>
                <a:effectLst/>
                <a:uFillTx/>
                <a:latin typeface="Roboto"/>
                <a:ea typeface="Roboto"/>
              </a:rPr>
              <a:t>2</a:t>
            </a:r>
            <a:endParaRPr lang="fr-FR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01" name="Text 74"/>
          <p:cNvSpPr/>
          <p:nvPr/>
        </p:nvSpPr>
        <p:spPr>
          <a:xfrm>
            <a:off x="1115640" y="2679120"/>
            <a:ext cx="2747160" cy="27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FFFFFF"/>
                </a:solidFill>
                <a:effectLst/>
                <a:uFillTx/>
                <a:latin typeface="Roboto"/>
                <a:ea typeface="Roboto"/>
              </a:rPr>
              <a:t>Split by gender</a:t>
            </a:r>
            <a:endParaRPr lang="fr-FR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02" name="Text 75"/>
          <p:cNvSpPr/>
          <p:nvPr/>
        </p:nvSpPr>
        <p:spPr>
          <a:xfrm>
            <a:off x="1115640" y="2944440"/>
            <a:ext cx="2747160" cy="40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15000"/>
              </a:lnSpc>
              <a:tabLst>
                <a:tab pos="0" algn="l"/>
              </a:tabLst>
            </a:pPr>
            <a:r>
              <a:rPr lang="en-US" sz="950" b="0" u="none" strike="noStrike">
                <a:solidFill>
                  <a:srgbClr val="8B96AC"/>
                </a:solidFill>
                <a:effectLst/>
                <a:uFillTx/>
                <a:latin typeface="Roboto"/>
                <a:ea typeface="Roboto"/>
              </a:rPr>
              <a:t>female and male models fit separately</a:t>
            </a:r>
            <a:endParaRPr lang="fr-FR" sz="9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03" name="Shape 76"/>
          <p:cNvSpPr/>
          <p:nvPr/>
        </p:nvSpPr>
        <p:spPr>
          <a:xfrm>
            <a:off x="685800" y="3493080"/>
            <a:ext cx="308880" cy="308880"/>
          </a:xfrm>
          <a:prstGeom prst="ellipse">
            <a:avLst/>
          </a:prstGeom>
          <a:solidFill>
            <a:srgbClr val="F2A65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fr-FR" sz="1800" b="0" u="none" strike="noStrike">
              <a:solidFill>
                <a:srgbClr val="FFFFFF"/>
              </a:solidFill>
              <a:effectLst/>
              <a:uFillTx/>
              <a:latin typeface="Roboto"/>
            </a:endParaRPr>
          </a:p>
        </p:txBody>
      </p:sp>
      <p:sp>
        <p:nvSpPr>
          <p:cNvPr id="804" name="Text 77"/>
          <p:cNvSpPr/>
          <p:nvPr/>
        </p:nvSpPr>
        <p:spPr>
          <a:xfrm>
            <a:off x="685800" y="3493080"/>
            <a:ext cx="308880" cy="308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0A0E1A"/>
                </a:solidFill>
                <a:effectLst/>
                <a:uFillTx/>
                <a:latin typeface="Roboto"/>
                <a:ea typeface="Roboto"/>
              </a:rPr>
              <a:t>3</a:t>
            </a:r>
            <a:endParaRPr lang="fr-FR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05" name="Text 78"/>
          <p:cNvSpPr/>
          <p:nvPr/>
        </p:nvSpPr>
        <p:spPr>
          <a:xfrm>
            <a:off x="1115640" y="3456360"/>
            <a:ext cx="2747160" cy="27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FFFFFF"/>
                </a:solidFill>
                <a:effectLst/>
                <a:uFillTx/>
                <a:latin typeface="Roboto"/>
                <a:ea typeface="Roboto"/>
              </a:rPr>
              <a:t>Train / test split</a:t>
            </a:r>
            <a:endParaRPr lang="fr-FR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06" name="Text 79"/>
          <p:cNvSpPr/>
          <p:nvPr/>
        </p:nvSpPr>
        <p:spPr>
          <a:xfrm>
            <a:off x="1115640" y="3721680"/>
            <a:ext cx="2747160" cy="40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15000"/>
              </a:lnSpc>
              <a:tabLst>
                <a:tab pos="0" algn="l"/>
              </a:tabLst>
            </a:pPr>
            <a:r>
              <a:rPr lang="en-US" sz="950" b="0" u="none" strike="noStrike">
                <a:solidFill>
                  <a:srgbClr val="8B96AC"/>
                </a:solidFill>
                <a:effectLst/>
                <a:uFillTx/>
                <a:latin typeface="Roboto"/>
                <a:ea typeface="Roboto"/>
              </a:rPr>
              <a:t>honest evaluation on unseen data</a:t>
            </a:r>
            <a:endParaRPr lang="fr-FR" sz="9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07" name="Shape 80"/>
          <p:cNvSpPr/>
          <p:nvPr/>
        </p:nvSpPr>
        <p:spPr>
          <a:xfrm>
            <a:off x="685800" y="4270320"/>
            <a:ext cx="308880" cy="308880"/>
          </a:xfrm>
          <a:prstGeom prst="ellipse">
            <a:avLst/>
          </a:prstGeom>
          <a:solidFill>
            <a:srgbClr val="F2A65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fr-FR" sz="1800" b="0" u="none" strike="noStrike">
              <a:solidFill>
                <a:srgbClr val="FFFFFF"/>
              </a:solidFill>
              <a:effectLst/>
              <a:uFillTx/>
              <a:latin typeface="Roboto"/>
            </a:endParaRPr>
          </a:p>
        </p:txBody>
      </p:sp>
      <p:sp>
        <p:nvSpPr>
          <p:cNvPr id="808" name="Text 81"/>
          <p:cNvSpPr/>
          <p:nvPr/>
        </p:nvSpPr>
        <p:spPr>
          <a:xfrm>
            <a:off x="685800" y="4270320"/>
            <a:ext cx="308880" cy="308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0A0E1A"/>
                </a:solidFill>
                <a:effectLst/>
                <a:uFillTx/>
                <a:latin typeface="Roboto"/>
                <a:ea typeface="Roboto"/>
              </a:rPr>
              <a:t>4</a:t>
            </a:r>
            <a:endParaRPr lang="fr-FR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09" name="Text 82"/>
          <p:cNvSpPr/>
          <p:nvPr/>
        </p:nvSpPr>
        <p:spPr>
          <a:xfrm>
            <a:off x="1115640" y="4233600"/>
            <a:ext cx="2747160" cy="27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FFFFFF"/>
                </a:solidFill>
                <a:effectLst/>
                <a:uFillTx/>
                <a:latin typeface="Roboto"/>
                <a:ea typeface="Roboto"/>
              </a:rPr>
              <a:t>Fit logistic regression</a:t>
            </a:r>
            <a:endParaRPr lang="fr-FR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10" name="Text 83"/>
          <p:cNvSpPr/>
          <p:nvPr/>
        </p:nvSpPr>
        <p:spPr>
          <a:xfrm>
            <a:off x="1115640" y="4498920"/>
            <a:ext cx="2747160" cy="40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15000"/>
              </a:lnSpc>
              <a:tabLst>
                <a:tab pos="0" algn="l"/>
              </a:tabLst>
            </a:pPr>
            <a:r>
              <a:rPr lang="en-US" sz="950" b="0" u="none" strike="noStrike">
                <a:solidFill>
                  <a:srgbClr val="8B96AC"/>
                </a:solidFill>
                <a:effectLst/>
                <a:uFillTx/>
                <a:latin typeface="Roboto"/>
                <a:ea typeface="Roboto"/>
              </a:rPr>
              <a:t>6 ratings predict the decision</a:t>
            </a:r>
            <a:endParaRPr lang="fr-FR" sz="9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11" name="Shape 84"/>
          <p:cNvSpPr/>
          <p:nvPr/>
        </p:nvSpPr>
        <p:spPr>
          <a:xfrm>
            <a:off x="685800" y="5047560"/>
            <a:ext cx="308880" cy="308880"/>
          </a:xfrm>
          <a:prstGeom prst="ellipse">
            <a:avLst/>
          </a:prstGeom>
          <a:solidFill>
            <a:srgbClr val="F2A65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fr-FR" sz="1800" b="0" u="none" strike="noStrike">
              <a:solidFill>
                <a:srgbClr val="FFFFFF"/>
              </a:solidFill>
              <a:effectLst/>
              <a:uFillTx/>
              <a:latin typeface="Roboto"/>
            </a:endParaRPr>
          </a:p>
        </p:txBody>
      </p:sp>
      <p:sp>
        <p:nvSpPr>
          <p:cNvPr id="812" name="Text 85"/>
          <p:cNvSpPr/>
          <p:nvPr/>
        </p:nvSpPr>
        <p:spPr>
          <a:xfrm>
            <a:off x="685800" y="5047560"/>
            <a:ext cx="308880" cy="308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0A0E1A"/>
                </a:solidFill>
                <a:effectLst/>
                <a:uFillTx/>
                <a:latin typeface="Roboto"/>
                <a:ea typeface="Roboto"/>
              </a:rPr>
              <a:t>5</a:t>
            </a:r>
            <a:endParaRPr lang="fr-FR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13" name="Text 86"/>
          <p:cNvSpPr/>
          <p:nvPr/>
        </p:nvSpPr>
        <p:spPr>
          <a:xfrm>
            <a:off x="1115640" y="5010840"/>
            <a:ext cx="2747160" cy="27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FFFFFF"/>
                </a:solidFill>
                <a:effectLst/>
                <a:uFillTx/>
                <a:latin typeface="Roboto"/>
                <a:ea typeface="Roboto"/>
              </a:rPr>
              <a:t>Compare to baseline</a:t>
            </a:r>
            <a:endParaRPr lang="fr-FR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14" name="Text 87"/>
          <p:cNvSpPr/>
          <p:nvPr/>
        </p:nvSpPr>
        <p:spPr>
          <a:xfrm>
            <a:off x="1115640" y="5276160"/>
            <a:ext cx="2747160" cy="40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15000"/>
              </a:lnSpc>
              <a:tabLst>
                <a:tab pos="0" algn="l"/>
              </a:tabLst>
            </a:pPr>
            <a:r>
              <a:rPr lang="en-US" sz="950" b="0" u="none" strike="noStrike">
                <a:solidFill>
                  <a:srgbClr val="8B96AC"/>
                </a:solidFill>
                <a:effectLst/>
                <a:uFillTx/>
                <a:latin typeface="Roboto"/>
                <a:ea typeface="Roboto"/>
              </a:rPr>
              <a:t>vs. a dummy 'always no' classifier</a:t>
            </a:r>
            <a:endParaRPr lang="fr-FR" sz="9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15" name="Shape 88"/>
          <p:cNvSpPr/>
          <p:nvPr/>
        </p:nvSpPr>
        <p:spPr>
          <a:xfrm>
            <a:off x="4276440" y="1371600"/>
            <a:ext cx="3634200" cy="4661280"/>
          </a:xfrm>
          <a:prstGeom prst="roundRect">
            <a:avLst>
              <a:gd name="adj" fmla="val 2263"/>
            </a:avLst>
          </a:prstGeom>
          <a:solidFill>
            <a:srgbClr val="263659"/>
          </a:solidFill>
          <a:ln w="12700">
            <a:solidFill>
              <a:srgbClr val="3D4B72"/>
            </a:solidFill>
            <a:round/>
          </a:ln>
          <a:effectLst>
            <a:outerShdw algn="bl" blurRad="101520" dir="5400000" dist="38160" kx="0" ky="0" rotWithShape="0" sx="100000" sy="10000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fr-FR" sz="1800" b="0" u="none" strike="noStrike">
              <a:solidFill>
                <a:srgbClr val="FFFFFF"/>
              </a:solidFill>
              <a:effectLst/>
              <a:uFillTx/>
              <a:latin typeface="Roboto"/>
            </a:endParaRPr>
          </a:p>
        </p:txBody>
      </p:sp>
      <p:graphicFrame>
        <p:nvGraphicFramePr>
          <p:cNvPr id="816" name="Chart 0"/>
          <p:cNvGraphicFramePr/>
          <p:nvPr/>
        </p:nvGraphicFramePr>
        <p:xfrm>
          <a:off x="4477680" y="1572840"/>
          <a:ext cx="3231720" cy="42588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sp>
        <p:nvSpPr>
          <p:cNvPr id="817" name="Shape 89"/>
          <p:cNvSpPr/>
          <p:nvPr/>
        </p:nvSpPr>
        <p:spPr>
          <a:xfrm>
            <a:off x="8095320" y="1371600"/>
            <a:ext cx="3634200" cy="4661280"/>
          </a:xfrm>
          <a:prstGeom prst="roundRect">
            <a:avLst>
              <a:gd name="adj" fmla="val 2263"/>
            </a:avLst>
          </a:prstGeom>
          <a:solidFill>
            <a:srgbClr val="263659"/>
          </a:solidFill>
          <a:ln w="12700">
            <a:solidFill>
              <a:srgbClr val="3D4B72"/>
            </a:solidFill>
            <a:round/>
          </a:ln>
          <a:effectLst>
            <a:outerShdw algn="bl" blurRad="101520" dir="5400000" dist="38160" kx="0" ky="0" rotWithShape="0" sx="100000" sy="10000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fr-FR" sz="1800" b="0" u="none" strike="noStrike">
              <a:solidFill>
                <a:srgbClr val="FFFFFF"/>
              </a:solidFill>
              <a:effectLst/>
              <a:uFillTx/>
              <a:latin typeface="Roboto"/>
            </a:endParaRPr>
          </a:p>
        </p:txBody>
      </p:sp>
      <p:sp>
        <p:nvSpPr>
          <p:cNvPr id="818" name="Text 90"/>
          <p:cNvSpPr/>
          <p:nvPr/>
        </p:nvSpPr>
        <p:spPr>
          <a:xfrm>
            <a:off x="8351640" y="1591200"/>
            <a:ext cx="3121920" cy="253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pc="150" strike="noStrike">
                <a:solidFill>
                  <a:srgbClr val="F2A65A"/>
                </a:solidFill>
                <a:effectLst/>
                <a:uFillTx/>
                <a:latin typeface="Roboto"/>
                <a:ea typeface="Roboto"/>
              </a:rPr>
              <a:t>WHAT IT MEANS</a:t>
            </a:r>
            <a:endParaRPr lang="fr-FR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19" name="Text 91"/>
          <p:cNvSpPr/>
          <p:nvPr/>
        </p:nvSpPr>
        <p:spPr>
          <a:xfrm>
            <a:off x="8351640" y="1938600"/>
            <a:ext cx="3121920" cy="383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marL="177840" indent="-177840" defTabSz="914400">
              <a:lnSpc>
                <a:spcPct val="128000"/>
              </a:lnSpc>
              <a:buClr>
                <a:srgbClr val="FFFFFF"/>
              </a:buClr>
              <a:buFont typeface="Symbol" charset="2"/>
              <a:buChar char=""/>
            </a:pPr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Roboto"/>
                <a:ea typeface="Roboto"/>
              </a:rPr>
              <a:t>Both models comfortably beat a ~0.35 baseline F1-score, roughly double.</a:t>
            </a:r>
            <a:endParaRPr lang="fr-FR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177840" indent="-177840" defTabSz="914400">
              <a:lnSpc>
                <a:spcPct val="128000"/>
              </a:lnSpc>
              <a:buClr>
                <a:srgbClr val="FFFFFF"/>
              </a:buClr>
              <a:buFont typeface="Symbol" charset="2"/>
              <a:buChar char=""/>
            </a:pPr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Roboto"/>
                <a:ea typeface="Roboto"/>
              </a:rPr>
              <a:t>This confirms the six ratings carry real predictive signal.</a:t>
            </a:r>
            <a:endParaRPr lang="fr-FR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177840" indent="-177840" defTabSz="914400">
              <a:lnSpc>
                <a:spcPct val="128000"/>
              </a:lnSpc>
              <a:buClr>
                <a:srgbClr val="FFFFFF"/>
              </a:buClr>
              <a:buFont typeface="Symbol" charset="2"/>
              <a:buChar char=""/>
            </a:pPr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Roboto"/>
                <a:ea typeface="Roboto"/>
              </a:rPr>
              <a:t>Train/test gaps stay under 1.2 points: no sign of overfitting.</a:t>
            </a:r>
            <a:endParaRPr lang="fr-FR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20" name="Shape 92"/>
          <p:cNvSpPr/>
          <p:nvPr/>
        </p:nvSpPr>
        <p:spPr>
          <a:xfrm>
            <a:off x="548640" y="6263640"/>
            <a:ext cx="11091600" cy="360"/>
          </a:xfrm>
          <a:prstGeom prst="line">
            <a:avLst/>
          </a:prstGeom>
          <a:ln w="12700">
            <a:solidFill>
              <a:srgbClr val="3D4B7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fr-FR" sz="1800" b="0" u="none" strike="noStrike">
              <a:solidFill>
                <a:srgbClr val="FFFFFF"/>
              </a:solidFill>
              <a:effectLst/>
              <a:uFillTx/>
              <a:latin typeface="Roboto"/>
            </a:endParaRPr>
          </a:p>
        </p:txBody>
      </p:sp>
      <p:sp>
        <p:nvSpPr>
          <p:cNvPr id="821" name="Text 93"/>
          <p:cNvSpPr/>
          <p:nvPr/>
        </p:nvSpPr>
        <p:spPr>
          <a:xfrm>
            <a:off x="457200" y="6355080"/>
            <a:ext cx="8227440" cy="27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5C6684"/>
                </a:solidFill>
                <a:effectLst/>
                <a:uFillTx/>
                <a:latin typeface="Roboto"/>
                <a:ea typeface="Roboto"/>
              </a:rPr>
              <a:t>Speed dating experiment · Attraction, preferences &amp; machine learning</a:t>
            </a:r>
            <a:endParaRPr lang="fr-FR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22" name="Text 94"/>
          <p:cNvSpPr/>
          <p:nvPr/>
        </p:nvSpPr>
        <p:spPr>
          <a:xfrm>
            <a:off x="11274480" y="6355080"/>
            <a:ext cx="455040" cy="27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5C6684"/>
                </a:solidFill>
                <a:effectLst/>
                <a:uFillTx/>
                <a:latin typeface="Roboto"/>
                <a:ea typeface="Roboto"/>
              </a:rPr>
              <a:t>08</a:t>
            </a:r>
            <a:endParaRPr lang="fr-FR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3" name="Shape 0"/>
          <p:cNvSpPr/>
          <p:nvPr/>
        </p:nvSpPr>
        <p:spPr>
          <a:xfrm>
            <a:off x="0" y="0"/>
            <a:ext cx="360" cy="6858000"/>
          </a:xfrm>
          <a:prstGeom prst="line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0" tIns="45000" rIns="0" bIns="45000" anchor="t" anchorCtr="1">
            <a:noAutofit/>
          </a:bodyPr>
          <a:p>
            <a:endParaRPr lang="fr-FR" sz="1800" b="0" u="none" strike="noStrike">
              <a:solidFill>
                <a:srgbClr val="FFFFFF"/>
              </a:solidFill>
              <a:effectLst/>
              <a:uFillTx/>
              <a:latin typeface="Roboto"/>
            </a:endParaRPr>
          </a:p>
        </p:txBody>
      </p:sp>
      <p:sp>
        <p:nvSpPr>
          <p:cNvPr id="824" name="Shape 1"/>
          <p:cNvSpPr/>
          <p:nvPr/>
        </p:nvSpPr>
        <p:spPr>
          <a:xfrm>
            <a:off x="304560" y="0"/>
            <a:ext cx="360" cy="6858000"/>
          </a:xfrm>
          <a:prstGeom prst="line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0" tIns="45000" rIns="0" bIns="45000" anchor="t" anchorCtr="1">
            <a:noAutofit/>
          </a:bodyPr>
          <a:p>
            <a:endParaRPr lang="fr-FR" sz="1800" b="0" u="none" strike="noStrike">
              <a:solidFill>
                <a:srgbClr val="FFFFFF"/>
              </a:solidFill>
              <a:effectLst/>
              <a:uFillTx/>
              <a:latin typeface="Roboto"/>
            </a:endParaRPr>
          </a:p>
        </p:txBody>
      </p:sp>
      <p:sp>
        <p:nvSpPr>
          <p:cNvPr id="825" name="Shape 2"/>
          <p:cNvSpPr/>
          <p:nvPr/>
        </p:nvSpPr>
        <p:spPr>
          <a:xfrm>
            <a:off x="609480" y="0"/>
            <a:ext cx="360" cy="6858000"/>
          </a:xfrm>
          <a:prstGeom prst="line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0" tIns="45000" rIns="0" bIns="45000" anchor="t" anchorCtr="1">
            <a:noAutofit/>
          </a:bodyPr>
          <a:p>
            <a:endParaRPr lang="fr-FR" sz="1800" b="0" u="none" strike="noStrike">
              <a:solidFill>
                <a:srgbClr val="FFFFFF"/>
              </a:solidFill>
              <a:effectLst/>
              <a:uFillTx/>
              <a:latin typeface="Roboto"/>
            </a:endParaRPr>
          </a:p>
        </p:txBody>
      </p:sp>
      <p:sp>
        <p:nvSpPr>
          <p:cNvPr id="826" name="Shape 3"/>
          <p:cNvSpPr/>
          <p:nvPr/>
        </p:nvSpPr>
        <p:spPr>
          <a:xfrm>
            <a:off x="914040" y="0"/>
            <a:ext cx="360" cy="6858000"/>
          </a:xfrm>
          <a:prstGeom prst="line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0" tIns="45000" rIns="0" bIns="45000" anchor="t" anchorCtr="1">
            <a:noAutofit/>
          </a:bodyPr>
          <a:p>
            <a:endParaRPr lang="fr-FR" sz="1800" b="0" u="none" strike="noStrike">
              <a:solidFill>
                <a:srgbClr val="FFFFFF"/>
              </a:solidFill>
              <a:effectLst/>
              <a:uFillTx/>
              <a:latin typeface="Roboto"/>
            </a:endParaRPr>
          </a:p>
        </p:txBody>
      </p:sp>
      <p:sp>
        <p:nvSpPr>
          <p:cNvPr id="827" name="Shape 4"/>
          <p:cNvSpPr/>
          <p:nvPr/>
        </p:nvSpPr>
        <p:spPr>
          <a:xfrm>
            <a:off x="1218960" y="0"/>
            <a:ext cx="360" cy="6858000"/>
          </a:xfrm>
          <a:prstGeom prst="line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0" tIns="45000" rIns="0" bIns="45000" anchor="t" anchorCtr="1">
            <a:noAutofit/>
          </a:bodyPr>
          <a:p>
            <a:endParaRPr lang="fr-FR" sz="1800" b="0" u="none" strike="noStrike">
              <a:solidFill>
                <a:srgbClr val="FFFFFF"/>
              </a:solidFill>
              <a:effectLst/>
              <a:uFillTx/>
              <a:latin typeface="Roboto"/>
            </a:endParaRPr>
          </a:p>
        </p:txBody>
      </p:sp>
      <p:sp>
        <p:nvSpPr>
          <p:cNvPr id="828" name="Shape 5"/>
          <p:cNvSpPr/>
          <p:nvPr/>
        </p:nvSpPr>
        <p:spPr>
          <a:xfrm>
            <a:off x="1523520" y="0"/>
            <a:ext cx="360" cy="6858000"/>
          </a:xfrm>
          <a:prstGeom prst="line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0" tIns="45000" rIns="0" bIns="45000" anchor="t" anchorCtr="1">
            <a:noAutofit/>
          </a:bodyPr>
          <a:p>
            <a:endParaRPr lang="fr-FR" sz="1800" b="0" u="none" strike="noStrike">
              <a:solidFill>
                <a:srgbClr val="FFFFFF"/>
              </a:solidFill>
              <a:effectLst/>
              <a:uFillTx/>
              <a:latin typeface="Roboto"/>
            </a:endParaRPr>
          </a:p>
        </p:txBody>
      </p:sp>
      <p:sp>
        <p:nvSpPr>
          <p:cNvPr id="829" name="Shape 6"/>
          <p:cNvSpPr/>
          <p:nvPr/>
        </p:nvSpPr>
        <p:spPr>
          <a:xfrm>
            <a:off x="1828440" y="0"/>
            <a:ext cx="360" cy="6858000"/>
          </a:xfrm>
          <a:prstGeom prst="line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0" tIns="45000" rIns="0" bIns="45000" anchor="t" anchorCtr="1">
            <a:noAutofit/>
          </a:bodyPr>
          <a:p>
            <a:endParaRPr lang="fr-FR" sz="1800" b="0" u="none" strike="noStrike">
              <a:solidFill>
                <a:srgbClr val="FFFFFF"/>
              </a:solidFill>
              <a:effectLst/>
              <a:uFillTx/>
              <a:latin typeface="Roboto"/>
            </a:endParaRPr>
          </a:p>
        </p:txBody>
      </p:sp>
      <p:sp>
        <p:nvSpPr>
          <p:cNvPr id="830" name="Shape 7"/>
          <p:cNvSpPr/>
          <p:nvPr/>
        </p:nvSpPr>
        <p:spPr>
          <a:xfrm>
            <a:off x="2133360" y="0"/>
            <a:ext cx="360" cy="6858000"/>
          </a:xfrm>
          <a:prstGeom prst="line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0" tIns="45000" rIns="0" bIns="45000" anchor="t" anchorCtr="1">
            <a:noAutofit/>
          </a:bodyPr>
          <a:p>
            <a:endParaRPr lang="fr-FR" sz="1800" b="0" u="none" strike="noStrike">
              <a:solidFill>
                <a:srgbClr val="FFFFFF"/>
              </a:solidFill>
              <a:effectLst/>
              <a:uFillTx/>
              <a:latin typeface="Roboto"/>
            </a:endParaRPr>
          </a:p>
        </p:txBody>
      </p:sp>
      <p:sp>
        <p:nvSpPr>
          <p:cNvPr id="831" name="Shape 8"/>
          <p:cNvSpPr/>
          <p:nvPr/>
        </p:nvSpPr>
        <p:spPr>
          <a:xfrm>
            <a:off x="2437920" y="0"/>
            <a:ext cx="360" cy="6858000"/>
          </a:xfrm>
          <a:prstGeom prst="line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0" tIns="45000" rIns="0" bIns="45000" anchor="t" anchorCtr="1">
            <a:noAutofit/>
          </a:bodyPr>
          <a:p>
            <a:endParaRPr lang="fr-FR" sz="1800" b="0" u="none" strike="noStrike">
              <a:solidFill>
                <a:srgbClr val="FFFFFF"/>
              </a:solidFill>
              <a:effectLst/>
              <a:uFillTx/>
              <a:latin typeface="Roboto"/>
            </a:endParaRPr>
          </a:p>
        </p:txBody>
      </p:sp>
      <p:sp>
        <p:nvSpPr>
          <p:cNvPr id="832" name="Shape 9"/>
          <p:cNvSpPr/>
          <p:nvPr/>
        </p:nvSpPr>
        <p:spPr>
          <a:xfrm>
            <a:off x="2742840" y="0"/>
            <a:ext cx="360" cy="6858000"/>
          </a:xfrm>
          <a:prstGeom prst="line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0" tIns="45000" rIns="0" bIns="45000" anchor="t" anchorCtr="1">
            <a:noAutofit/>
          </a:bodyPr>
          <a:p>
            <a:endParaRPr lang="fr-FR" sz="1800" b="0" u="none" strike="noStrike">
              <a:solidFill>
                <a:srgbClr val="FFFFFF"/>
              </a:solidFill>
              <a:effectLst/>
              <a:uFillTx/>
              <a:latin typeface="Roboto"/>
            </a:endParaRPr>
          </a:p>
        </p:txBody>
      </p:sp>
      <p:sp>
        <p:nvSpPr>
          <p:cNvPr id="833" name="Shape 10"/>
          <p:cNvSpPr/>
          <p:nvPr/>
        </p:nvSpPr>
        <p:spPr>
          <a:xfrm>
            <a:off x="3047400" y="0"/>
            <a:ext cx="360" cy="6858000"/>
          </a:xfrm>
          <a:prstGeom prst="line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0" tIns="45000" rIns="0" bIns="45000" anchor="t" anchorCtr="1">
            <a:noAutofit/>
          </a:bodyPr>
          <a:p>
            <a:endParaRPr lang="fr-FR" sz="1800" b="0" u="none" strike="noStrike">
              <a:solidFill>
                <a:srgbClr val="FFFFFF"/>
              </a:solidFill>
              <a:effectLst/>
              <a:uFillTx/>
              <a:latin typeface="Roboto"/>
            </a:endParaRPr>
          </a:p>
        </p:txBody>
      </p:sp>
      <p:sp>
        <p:nvSpPr>
          <p:cNvPr id="834" name="Shape 11"/>
          <p:cNvSpPr/>
          <p:nvPr/>
        </p:nvSpPr>
        <p:spPr>
          <a:xfrm>
            <a:off x="3352320" y="0"/>
            <a:ext cx="360" cy="6858000"/>
          </a:xfrm>
          <a:prstGeom prst="line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0" tIns="45000" rIns="0" bIns="45000" anchor="t" anchorCtr="1">
            <a:noAutofit/>
          </a:bodyPr>
          <a:p>
            <a:endParaRPr lang="fr-FR" sz="1800" b="0" u="none" strike="noStrike">
              <a:solidFill>
                <a:srgbClr val="FFFFFF"/>
              </a:solidFill>
              <a:effectLst/>
              <a:uFillTx/>
              <a:latin typeface="Roboto"/>
            </a:endParaRPr>
          </a:p>
        </p:txBody>
      </p:sp>
      <p:sp>
        <p:nvSpPr>
          <p:cNvPr id="835" name="Shape 12"/>
          <p:cNvSpPr/>
          <p:nvPr/>
        </p:nvSpPr>
        <p:spPr>
          <a:xfrm>
            <a:off x="3656880" y="0"/>
            <a:ext cx="360" cy="6858000"/>
          </a:xfrm>
          <a:prstGeom prst="line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0" tIns="45000" rIns="0" bIns="45000" anchor="t" anchorCtr="1">
            <a:noAutofit/>
          </a:bodyPr>
          <a:p>
            <a:endParaRPr lang="fr-FR" sz="1800" b="0" u="none" strike="noStrike">
              <a:solidFill>
                <a:srgbClr val="FFFFFF"/>
              </a:solidFill>
              <a:effectLst/>
              <a:uFillTx/>
              <a:latin typeface="Roboto"/>
            </a:endParaRPr>
          </a:p>
        </p:txBody>
      </p:sp>
      <p:sp>
        <p:nvSpPr>
          <p:cNvPr id="836" name="Shape 13"/>
          <p:cNvSpPr/>
          <p:nvPr/>
        </p:nvSpPr>
        <p:spPr>
          <a:xfrm>
            <a:off x="3961800" y="0"/>
            <a:ext cx="360" cy="6858000"/>
          </a:xfrm>
          <a:prstGeom prst="line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0" tIns="45000" rIns="0" bIns="45000" anchor="t" anchorCtr="1">
            <a:noAutofit/>
          </a:bodyPr>
          <a:p>
            <a:endParaRPr lang="fr-FR" sz="1800" b="0" u="none" strike="noStrike">
              <a:solidFill>
                <a:srgbClr val="FFFFFF"/>
              </a:solidFill>
              <a:effectLst/>
              <a:uFillTx/>
              <a:latin typeface="Roboto"/>
            </a:endParaRPr>
          </a:p>
        </p:txBody>
      </p:sp>
      <p:sp>
        <p:nvSpPr>
          <p:cNvPr id="837" name="Shape 14"/>
          <p:cNvSpPr/>
          <p:nvPr/>
        </p:nvSpPr>
        <p:spPr>
          <a:xfrm>
            <a:off x="4266720" y="0"/>
            <a:ext cx="360" cy="6858000"/>
          </a:xfrm>
          <a:prstGeom prst="line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0" tIns="45000" rIns="0" bIns="45000" anchor="t" anchorCtr="1">
            <a:noAutofit/>
          </a:bodyPr>
          <a:p>
            <a:endParaRPr lang="fr-FR" sz="1800" b="0" u="none" strike="noStrike">
              <a:solidFill>
                <a:srgbClr val="FFFFFF"/>
              </a:solidFill>
              <a:effectLst/>
              <a:uFillTx/>
              <a:latin typeface="Roboto"/>
            </a:endParaRPr>
          </a:p>
        </p:txBody>
      </p:sp>
      <p:sp>
        <p:nvSpPr>
          <p:cNvPr id="838" name="Shape 15"/>
          <p:cNvSpPr/>
          <p:nvPr/>
        </p:nvSpPr>
        <p:spPr>
          <a:xfrm>
            <a:off x="4571280" y="0"/>
            <a:ext cx="360" cy="6858000"/>
          </a:xfrm>
          <a:prstGeom prst="line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0" tIns="45000" rIns="0" bIns="45000" anchor="t" anchorCtr="1">
            <a:noAutofit/>
          </a:bodyPr>
          <a:p>
            <a:endParaRPr lang="fr-FR" sz="1800" b="0" u="none" strike="noStrike">
              <a:solidFill>
                <a:srgbClr val="FFFFFF"/>
              </a:solidFill>
              <a:effectLst/>
              <a:uFillTx/>
              <a:latin typeface="Roboto"/>
            </a:endParaRPr>
          </a:p>
        </p:txBody>
      </p:sp>
      <p:sp>
        <p:nvSpPr>
          <p:cNvPr id="839" name="Shape 16"/>
          <p:cNvSpPr/>
          <p:nvPr/>
        </p:nvSpPr>
        <p:spPr>
          <a:xfrm>
            <a:off x="4876200" y="0"/>
            <a:ext cx="360" cy="6858000"/>
          </a:xfrm>
          <a:prstGeom prst="line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0" tIns="45000" rIns="0" bIns="45000" anchor="t" anchorCtr="1">
            <a:noAutofit/>
          </a:bodyPr>
          <a:p>
            <a:endParaRPr lang="fr-FR" sz="1800" b="0" u="none" strike="noStrike">
              <a:solidFill>
                <a:srgbClr val="FFFFFF"/>
              </a:solidFill>
              <a:effectLst/>
              <a:uFillTx/>
              <a:latin typeface="Roboto"/>
            </a:endParaRPr>
          </a:p>
        </p:txBody>
      </p:sp>
      <p:sp>
        <p:nvSpPr>
          <p:cNvPr id="840" name="Shape 17"/>
          <p:cNvSpPr/>
          <p:nvPr/>
        </p:nvSpPr>
        <p:spPr>
          <a:xfrm>
            <a:off x="5180760" y="0"/>
            <a:ext cx="360" cy="6858000"/>
          </a:xfrm>
          <a:prstGeom prst="line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0" tIns="45000" rIns="0" bIns="45000" anchor="t" anchorCtr="1">
            <a:noAutofit/>
          </a:bodyPr>
          <a:p>
            <a:endParaRPr lang="fr-FR" sz="1800" b="0" u="none" strike="noStrike">
              <a:solidFill>
                <a:srgbClr val="FFFFFF"/>
              </a:solidFill>
              <a:effectLst/>
              <a:uFillTx/>
              <a:latin typeface="Roboto"/>
            </a:endParaRPr>
          </a:p>
        </p:txBody>
      </p:sp>
      <p:sp>
        <p:nvSpPr>
          <p:cNvPr id="841" name="Shape 18"/>
          <p:cNvSpPr/>
          <p:nvPr/>
        </p:nvSpPr>
        <p:spPr>
          <a:xfrm>
            <a:off x="5485680" y="0"/>
            <a:ext cx="360" cy="6858000"/>
          </a:xfrm>
          <a:prstGeom prst="line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0" tIns="45000" rIns="0" bIns="45000" anchor="t" anchorCtr="1">
            <a:noAutofit/>
          </a:bodyPr>
          <a:p>
            <a:endParaRPr lang="fr-FR" sz="1800" b="0" u="none" strike="noStrike">
              <a:solidFill>
                <a:srgbClr val="FFFFFF"/>
              </a:solidFill>
              <a:effectLst/>
              <a:uFillTx/>
              <a:latin typeface="Roboto"/>
            </a:endParaRPr>
          </a:p>
        </p:txBody>
      </p:sp>
      <p:sp>
        <p:nvSpPr>
          <p:cNvPr id="842" name="Shape 19"/>
          <p:cNvSpPr/>
          <p:nvPr/>
        </p:nvSpPr>
        <p:spPr>
          <a:xfrm>
            <a:off x="5790600" y="0"/>
            <a:ext cx="360" cy="6858000"/>
          </a:xfrm>
          <a:prstGeom prst="line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0" tIns="45000" rIns="0" bIns="45000" anchor="t" anchorCtr="1">
            <a:noAutofit/>
          </a:bodyPr>
          <a:p>
            <a:endParaRPr lang="fr-FR" sz="1800" b="0" u="none" strike="noStrike">
              <a:solidFill>
                <a:srgbClr val="FFFFFF"/>
              </a:solidFill>
              <a:effectLst/>
              <a:uFillTx/>
              <a:latin typeface="Roboto"/>
            </a:endParaRPr>
          </a:p>
        </p:txBody>
      </p:sp>
      <p:sp>
        <p:nvSpPr>
          <p:cNvPr id="843" name="Shape 20"/>
          <p:cNvSpPr/>
          <p:nvPr/>
        </p:nvSpPr>
        <p:spPr>
          <a:xfrm>
            <a:off x="6095160" y="0"/>
            <a:ext cx="360" cy="6858000"/>
          </a:xfrm>
          <a:prstGeom prst="line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0" tIns="45000" rIns="0" bIns="45000" anchor="t" anchorCtr="1">
            <a:noAutofit/>
          </a:bodyPr>
          <a:p>
            <a:endParaRPr lang="fr-FR" sz="1800" b="0" u="none" strike="noStrike">
              <a:solidFill>
                <a:srgbClr val="FFFFFF"/>
              </a:solidFill>
              <a:effectLst/>
              <a:uFillTx/>
              <a:latin typeface="Roboto"/>
            </a:endParaRPr>
          </a:p>
        </p:txBody>
      </p:sp>
      <p:sp>
        <p:nvSpPr>
          <p:cNvPr id="844" name="Shape 21"/>
          <p:cNvSpPr/>
          <p:nvPr/>
        </p:nvSpPr>
        <p:spPr>
          <a:xfrm>
            <a:off x="6400080" y="0"/>
            <a:ext cx="360" cy="6858000"/>
          </a:xfrm>
          <a:prstGeom prst="line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0" tIns="45000" rIns="0" bIns="45000" anchor="t" anchorCtr="1">
            <a:noAutofit/>
          </a:bodyPr>
          <a:p>
            <a:endParaRPr lang="fr-FR" sz="1800" b="0" u="none" strike="noStrike">
              <a:solidFill>
                <a:srgbClr val="FFFFFF"/>
              </a:solidFill>
              <a:effectLst/>
              <a:uFillTx/>
              <a:latin typeface="Roboto"/>
            </a:endParaRPr>
          </a:p>
        </p:txBody>
      </p:sp>
      <p:sp>
        <p:nvSpPr>
          <p:cNvPr id="845" name="Shape 22"/>
          <p:cNvSpPr/>
          <p:nvPr/>
        </p:nvSpPr>
        <p:spPr>
          <a:xfrm>
            <a:off x="6704640" y="0"/>
            <a:ext cx="360" cy="6858000"/>
          </a:xfrm>
          <a:prstGeom prst="line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0" tIns="45000" rIns="0" bIns="45000" anchor="t" anchorCtr="1">
            <a:noAutofit/>
          </a:bodyPr>
          <a:p>
            <a:endParaRPr lang="fr-FR" sz="1800" b="0" u="none" strike="noStrike">
              <a:solidFill>
                <a:srgbClr val="FFFFFF"/>
              </a:solidFill>
              <a:effectLst/>
              <a:uFillTx/>
              <a:latin typeface="Roboto"/>
            </a:endParaRPr>
          </a:p>
        </p:txBody>
      </p:sp>
      <p:sp>
        <p:nvSpPr>
          <p:cNvPr id="846" name="Shape 23"/>
          <p:cNvSpPr/>
          <p:nvPr/>
        </p:nvSpPr>
        <p:spPr>
          <a:xfrm>
            <a:off x="7009560" y="0"/>
            <a:ext cx="360" cy="6858000"/>
          </a:xfrm>
          <a:prstGeom prst="line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0" tIns="45000" rIns="0" bIns="45000" anchor="t" anchorCtr="1">
            <a:noAutofit/>
          </a:bodyPr>
          <a:p>
            <a:endParaRPr lang="fr-FR" sz="1800" b="0" u="none" strike="noStrike">
              <a:solidFill>
                <a:srgbClr val="FFFFFF"/>
              </a:solidFill>
              <a:effectLst/>
              <a:uFillTx/>
              <a:latin typeface="Roboto"/>
            </a:endParaRPr>
          </a:p>
        </p:txBody>
      </p:sp>
      <p:sp>
        <p:nvSpPr>
          <p:cNvPr id="847" name="Shape 24"/>
          <p:cNvSpPr/>
          <p:nvPr/>
        </p:nvSpPr>
        <p:spPr>
          <a:xfrm>
            <a:off x="7314120" y="0"/>
            <a:ext cx="360" cy="6858000"/>
          </a:xfrm>
          <a:prstGeom prst="line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0" tIns="45000" rIns="0" bIns="45000" anchor="t" anchorCtr="1">
            <a:noAutofit/>
          </a:bodyPr>
          <a:p>
            <a:endParaRPr lang="fr-FR" sz="1800" b="0" u="none" strike="noStrike">
              <a:solidFill>
                <a:srgbClr val="FFFFFF"/>
              </a:solidFill>
              <a:effectLst/>
              <a:uFillTx/>
              <a:latin typeface="Roboto"/>
            </a:endParaRPr>
          </a:p>
        </p:txBody>
      </p:sp>
      <p:sp>
        <p:nvSpPr>
          <p:cNvPr id="848" name="Shape 25"/>
          <p:cNvSpPr/>
          <p:nvPr/>
        </p:nvSpPr>
        <p:spPr>
          <a:xfrm>
            <a:off x="7619040" y="0"/>
            <a:ext cx="360" cy="6858000"/>
          </a:xfrm>
          <a:prstGeom prst="line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0" tIns="45000" rIns="0" bIns="45000" anchor="t" anchorCtr="1">
            <a:noAutofit/>
          </a:bodyPr>
          <a:p>
            <a:endParaRPr lang="fr-FR" sz="1800" b="0" u="none" strike="noStrike">
              <a:solidFill>
                <a:srgbClr val="FFFFFF"/>
              </a:solidFill>
              <a:effectLst/>
              <a:uFillTx/>
              <a:latin typeface="Roboto"/>
            </a:endParaRPr>
          </a:p>
        </p:txBody>
      </p:sp>
      <p:sp>
        <p:nvSpPr>
          <p:cNvPr id="849" name="Shape 26"/>
          <p:cNvSpPr/>
          <p:nvPr/>
        </p:nvSpPr>
        <p:spPr>
          <a:xfrm>
            <a:off x="7923960" y="0"/>
            <a:ext cx="360" cy="6858000"/>
          </a:xfrm>
          <a:prstGeom prst="line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0" tIns="45000" rIns="0" bIns="45000" anchor="t" anchorCtr="1">
            <a:noAutofit/>
          </a:bodyPr>
          <a:p>
            <a:endParaRPr lang="fr-FR" sz="1800" b="0" u="none" strike="noStrike">
              <a:solidFill>
                <a:srgbClr val="FFFFFF"/>
              </a:solidFill>
              <a:effectLst/>
              <a:uFillTx/>
              <a:latin typeface="Roboto"/>
            </a:endParaRPr>
          </a:p>
        </p:txBody>
      </p:sp>
      <p:sp>
        <p:nvSpPr>
          <p:cNvPr id="850" name="Shape 27"/>
          <p:cNvSpPr/>
          <p:nvPr/>
        </p:nvSpPr>
        <p:spPr>
          <a:xfrm>
            <a:off x="8228520" y="0"/>
            <a:ext cx="360" cy="6858000"/>
          </a:xfrm>
          <a:prstGeom prst="line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0" tIns="45000" rIns="0" bIns="45000" anchor="t" anchorCtr="1">
            <a:noAutofit/>
          </a:bodyPr>
          <a:p>
            <a:endParaRPr lang="fr-FR" sz="1800" b="0" u="none" strike="noStrike">
              <a:solidFill>
                <a:srgbClr val="FFFFFF"/>
              </a:solidFill>
              <a:effectLst/>
              <a:uFillTx/>
              <a:latin typeface="Roboto"/>
            </a:endParaRPr>
          </a:p>
        </p:txBody>
      </p:sp>
      <p:sp>
        <p:nvSpPr>
          <p:cNvPr id="851" name="Shape 28"/>
          <p:cNvSpPr/>
          <p:nvPr/>
        </p:nvSpPr>
        <p:spPr>
          <a:xfrm>
            <a:off x="8533440" y="0"/>
            <a:ext cx="360" cy="6858000"/>
          </a:xfrm>
          <a:prstGeom prst="line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0" tIns="45000" rIns="0" bIns="45000" anchor="t" anchorCtr="1">
            <a:noAutofit/>
          </a:bodyPr>
          <a:p>
            <a:endParaRPr lang="fr-FR" sz="1800" b="0" u="none" strike="noStrike">
              <a:solidFill>
                <a:srgbClr val="FFFFFF"/>
              </a:solidFill>
              <a:effectLst/>
              <a:uFillTx/>
              <a:latin typeface="Roboto"/>
            </a:endParaRPr>
          </a:p>
        </p:txBody>
      </p:sp>
      <p:sp>
        <p:nvSpPr>
          <p:cNvPr id="852" name="Shape 29"/>
          <p:cNvSpPr/>
          <p:nvPr/>
        </p:nvSpPr>
        <p:spPr>
          <a:xfrm>
            <a:off x="8838000" y="0"/>
            <a:ext cx="360" cy="6858000"/>
          </a:xfrm>
          <a:prstGeom prst="line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0" tIns="45000" rIns="0" bIns="45000" anchor="t" anchorCtr="1">
            <a:noAutofit/>
          </a:bodyPr>
          <a:p>
            <a:endParaRPr lang="fr-FR" sz="1800" b="0" u="none" strike="noStrike">
              <a:solidFill>
                <a:srgbClr val="FFFFFF"/>
              </a:solidFill>
              <a:effectLst/>
              <a:uFillTx/>
              <a:latin typeface="Roboto"/>
            </a:endParaRPr>
          </a:p>
        </p:txBody>
      </p:sp>
      <p:sp>
        <p:nvSpPr>
          <p:cNvPr id="853" name="Shape 30"/>
          <p:cNvSpPr/>
          <p:nvPr/>
        </p:nvSpPr>
        <p:spPr>
          <a:xfrm>
            <a:off x="9142920" y="0"/>
            <a:ext cx="360" cy="6858000"/>
          </a:xfrm>
          <a:prstGeom prst="line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0" tIns="45000" rIns="0" bIns="45000" anchor="t" anchorCtr="1">
            <a:noAutofit/>
          </a:bodyPr>
          <a:p>
            <a:endParaRPr lang="fr-FR" sz="1800" b="0" u="none" strike="noStrike">
              <a:solidFill>
                <a:srgbClr val="FFFFFF"/>
              </a:solidFill>
              <a:effectLst/>
              <a:uFillTx/>
              <a:latin typeface="Roboto"/>
            </a:endParaRPr>
          </a:p>
        </p:txBody>
      </p:sp>
      <p:sp>
        <p:nvSpPr>
          <p:cNvPr id="854" name="Shape 31"/>
          <p:cNvSpPr/>
          <p:nvPr/>
        </p:nvSpPr>
        <p:spPr>
          <a:xfrm>
            <a:off x="9447840" y="0"/>
            <a:ext cx="360" cy="6858000"/>
          </a:xfrm>
          <a:prstGeom prst="line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0" tIns="45000" rIns="0" bIns="45000" anchor="t" anchorCtr="1">
            <a:noAutofit/>
          </a:bodyPr>
          <a:p>
            <a:endParaRPr lang="fr-FR" sz="1800" b="0" u="none" strike="noStrike">
              <a:solidFill>
                <a:srgbClr val="FFFFFF"/>
              </a:solidFill>
              <a:effectLst/>
              <a:uFillTx/>
              <a:latin typeface="Roboto"/>
            </a:endParaRPr>
          </a:p>
        </p:txBody>
      </p:sp>
      <p:sp>
        <p:nvSpPr>
          <p:cNvPr id="855" name="Shape 32"/>
          <p:cNvSpPr/>
          <p:nvPr/>
        </p:nvSpPr>
        <p:spPr>
          <a:xfrm>
            <a:off x="9752400" y="0"/>
            <a:ext cx="360" cy="6858000"/>
          </a:xfrm>
          <a:prstGeom prst="line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0" tIns="45000" rIns="0" bIns="45000" anchor="t" anchorCtr="1">
            <a:noAutofit/>
          </a:bodyPr>
          <a:p>
            <a:endParaRPr lang="fr-FR" sz="1800" b="0" u="none" strike="noStrike">
              <a:solidFill>
                <a:srgbClr val="FFFFFF"/>
              </a:solidFill>
              <a:effectLst/>
              <a:uFillTx/>
              <a:latin typeface="Roboto"/>
            </a:endParaRPr>
          </a:p>
        </p:txBody>
      </p:sp>
      <p:sp>
        <p:nvSpPr>
          <p:cNvPr id="856" name="Shape 33"/>
          <p:cNvSpPr/>
          <p:nvPr/>
        </p:nvSpPr>
        <p:spPr>
          <a:xfrm>
            <a:off x="10057320" y="0"/>
            <a:ext cx="360" cy="6858000"/>
          </a:xfrm>
          <a:prstGeom prst="line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0" tIns="45000" rIns="0" bIns="45000" anchor="t" anchorCtr="1">
            <a:noAutofit/>
          </a:bodyPr>
          <a:p>
            <a:endParaRPr lang="fr-FR" sz="1800" b="0" u="none" strike="noStrike">
              <a:solidFill>
                <a:srgbClr val="FFFFFF"/>
              </a:solidFill>
              <a:effectLst/>
              <a:uFillTx/>
              <a:latin typeface="Roboto"/>
            </a:endParaRPr>
          </a:p>
        </p:txBody>
      </p:sp>
      <p:sp>
        <p:nvSpPr>
          <p:cNvPr id="857" name="Shape 34"/>
          <p:cNvSpPr/>
          <p:nvPr/>
        </p:nvSpPr>
        <p:spPr>
          <a:xfrm>
            <a:off x="10361880" y="0"/>
            <a:ext cx="360" cy="6858000"/>
          </a:xfrm>
          <a:prstGeom prst="line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0" tIns="45000" rIns="0" bIns="45000" anchor="t" anchorCtr="1">
            <a:noAutofit/>
          </a:bodyPr>
          <a:p>
            <a:endParaRPr lang="fr-FR" sz="1800" b="0" u="none" strike="noStrike">
              <a:solidFill>
                <a:srgbClr val="FFFFFF"/>
              </a:solidFill>
              <a:effectLst/>
              <a:uFillTx/>
              <a:latin typeface="Roboto"/>
            </a:endParaRPr>
          </a:p>
        </p:txBody>
      </p:sp>
      <p:sp>
        <p:nvSpPr>
          <p:cNvPr id="858" name="Shape 35"/>
          <p:cNvSpPr/>
          <p:nvPr/>
        </p:nvSpPr>
        <p:spPr>
          <a:xfrm>
            <a:off x="10666800" y="0"/>
            <a:ext cx="360" cy="6858000"/>
          </a:xfrm>
          <a:prstGeom prst="line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0" tIns="45000" rIns="0" bIns="45000" anchor="t" anchorCtr="1">
            <a:noAutofit/>
          </a:bodyPr>
          <a:p>
            <a:endParaRPr lang="fr-FR" sz="1800" b="0" u="none" strike="noStrike">
              <a:solidFill>
                <a:srgbClr val="FFFFFF"/>
              </a:solidFill>
              <a:effectLst/>
              <a:uFillTx/>
              <a:latin typeface="Roboto"/>
            </a:endParaRPr>
          </a:p>
        </p:txBody>
      </p:sp>
      <p:sp>
        <p:nvSpPr>
          <p:cNvPr id="859" name="Shape 36"/>
          <p:cNvSpPr/>
          <p:nvPr/>
        </p:nvSpPr>
        <p:spPr>
          <a:xfrm>
            <a:off x="10971360" y="0"/>
            <a:ext cx="360" cy="6858000"/>
          </a:xfrm>
          <a:prstGeom prst="line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0" tIns="45000" rIns="0" bIns="45000" anchor="t" anchorCtr="1">
            <a:noAutofit/>
          </a:bodyPr>
          <a:p>
            <a:endParaRPr lang="fr-FR" sz="1800" b="0" u="none" strike="noStrike">
              <a:solidFill>
                <a:srgbClr val="FFFFFF"/>
              </a:solidFill>
              <a:effectLst/>
              <a:uFillTx/>
              <a:latin typeface="Roboto"/>
            </a:endParaRPr>
          </a:p>
        </p:txBody>
      </p:sp>
      <p:sp>
        <p:nvSpPr>
          <p:cNvPr id="860" name="Shape 37"/>
          <p:cNvSpPr/>
          <p:nvPr/>
        </p:nvSpPr>
        <p:spPr>
          <a:xfrm>
            <a:off x="11276280" y="0"/>
            <a:ext cx="360" cy="6858000"/>
          </a:xfrm>
          <a:prstGeom prst="line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0" tIns="45000" rIns="0" bIns="45000" anchor="t" anchorCtr="1">
            <a:noAutofit/>
          </a:bodyPr>
          <a:p>
            <a:endParaRPr lang="fr-FR" sz="1800" b="0" u="none" strike="noStrike">
              <a:solidFill>
                <a:srgbClr val="FFFFFF"/>
              </a:solidFill>
              <a:effectLst/>
              <a:uFillTx/>
              <a:latin typeface="Roboto"/>
            </a:endParaRPr>
          </a:p>
        </p:txBody>
      </p:sp>
      <p:sp>
        <p:nvSpPr>
          <p:cNvPr id="861" name="Shape 38"/>
          <p:cNvSpPr/>
          <p:nvPr/>
        </p:nvSpPr>
        <p:spPr>
          <a:xfrm>
            <a:off x="11581200" y="0"/>
            <a:ext cx="360" cy="6858000"/>
          </a:xfrm>
          <a:prstGeom prst="line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0" tIns="45000" rIns="0" bIns="45000" anchor="t" anchorCtr="1">
            <a:noAutofit/>
          </a:bodyPr>
          <a:p>
            <a:endParaRPr lang="fr-FR" sz="1800" b="0" u="none" strike="noStrike">
              <a:solidFill>
                <a:srgbClr val="FFFFFF"/>
              </a:solidFill>
              <a:effectLst/>
              <a:uFillTx/>
              <a:latin typeface="Roboto"/>
            </a:endParaRPr>
          </a:p>
        </p:txBody>
      </p:sp>
      <p:sp>
        <p:nvSpPr>
          <p:cNvPr id="862" name="Shape 39"/>
          <p:cNvSpPr/>
          <p:nvPr/>
        </p:nvSpPr>
        <p:spPr>
          <a:xfrm>
            <a:off x="11885760" y="0"/>
            <a:ext cx="360" cy="6858000"/>
          </a:xfrm>
          <a:prstGeom prst="line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0" tIns="45000" rIns="0" bIns="45000" anchor="t" anchorCtr="1">
            <a:noAutofit/>
          </a:bodyPr>
          <a:p>
            <a:endParaRPr lang="fr-FR" sz="1800" b="0" u="none" strike="noStrike">
              <a:solidFill>
                <a:srgbClr val="FFFFFF"/>
              </a:solidFill>
              <a:effectLst/>
              <a:uFillTx/>
              <a:latin typeface="Roboto"/>
            </a:endParaRPr>
          </a:p>
        </p:txBody>
      </p:sp>
      <p:sp>
        <p:nvSpPr>
          <p:cNvPr id="863" name="Shape 40"/>
          <p:cNvSpPr/>
          <p:nvPr/>
        </p:nvSpPr>
        <p:spPr>
          <a:xfrm>
            <a:off x="12190680" y="0"/>
            <a:ext cx="360" cy="6858000"/>
          </a:xfrm>
          <a:prstGeom prst="line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0" tIns="45000" rIns="0" bIns="45000" anchor="t" anchorCtr="1">
            <a:noAutofit/>
          </a:bodyPr>
          <a:p>
            <a:endParaRPr lang="fr-FR" sz="1800" b="0" u="none" strike="noStrike">
              <a:solidFill>
                <a:srgbClr val="FFFFFF"/>
              </a:solidFill>
              <a:effectLst/>
              <a:uFillTx/>
              <a:latin typeface="Roboto"/>
            </a:endParaRPr>
          </a:p>
        </p:txBody>
      </p:sp>
      <p:sp>
        <p:nvSpPr>
          <p:cNvPr id="864" name="Shape 41"/>
          <p:cNvSpPr/>
          <p:nvPr/>
        </p:nvSpPr>
        <p:spPr>
          <a:xfrm>
            <a:off x="0" y="0"/>
            <a:ext cx="12191400" cy="360"/>
          </a:xfrm>
          <a:prstGeom prst="line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fr-FR" sz="1800" b="0" u="none" strike="noStrike">
              <a:solidFill>
                <a:srgbClr val="FFFFFF"/>
              </a:solidFill>
              <a:effectLst/>
              <a:uFillTx/>
              <a:latin typeface="Roboto"/>
            </a:endParaRPr>
          </a:p>
        </p:txBody>
      </p:sp>
      <p:sp>
        <p:nvSpPr>
          <p:cNvPr id="865" name="Shape 42"/>
          <p:cNvSpPr/>
          <p:nvPr/>
        </p:nvSpPr>
        <p:spPr>
          <a:xfrm>
            <a:off x="0" y="304560"/>
            <a:ext cx="12191400" cy="360"/>
          </a:xfrm>
          <a:prstGeom prst="line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fr-FR" sz="1800" b="0" u="none" strike="noStrike">
              <a:solidFill>
                <a:srgbClr val="FFFFFF"/>
              </a:solidFill>
              <a:effectLst/>
              <a:uFillTx/>
              <a:latin typeface="Roboto"/>
            </a:endParaRPr>
          </a:p>
        </p:txBody>
      </p:sp>
      <p:sp>
        <p:nvSpPr>
          <p:cNvPr id="866" name="Shape 43"/>
          <p:cNvSpPr/>
          <p:nvPr/>
        </p:nvSpPr>
        <p:spPr>
          <a:xfrm>
            <a:off x="0" y="609480"/>
            <a:ext cx="12191400" cy="360"/>
          </a:xfrm>
          <a:prstGeom prst="line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fr-FR" sz="1800" b="0" u="none" strike="noStrike">
              <a:solidFill>
                <a:srgbClr val="FFFFFF"/>
              </a:solidFill>
              <a:effectLst/>
              <a:uFillTx/>
              <a:latin typeface="Roboto"/>
            </a:endParaRPr>
          </a:p>
        </p:txBody>
      </p:sp>
      <p:sp>
        <p:nvSpPr>
          <p:cNvPr id="867" name="Shape 44"/>
          <p:cNvSpPr/>
          <p:nvPr/>
        </p:nvSpPr>
        <p:spPr>
          <a:xfrm>
            <a:off x="0" y="914040"/>
            <a:ext cx="12191400" cy="360"/>
          </a:xfrm>
          <a:prstGeom prst="line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fr-FR" sz="1800" b="0" u="none" strike="noStrike">
              <a:solidFill>
                <a:srgbClr val="FFFFFF"/>
              </a:solidFill>
              <a:effectLst/>
              <a:uFillTx/>
              <a:latin typeface="Roboto"/>
            </a:endParaRPr>
          </a:p>
        </p:txBody>
      </p:sp>
      <p:sp>
        <p:nvSpPr>
          <p:cNvPr id="868" name="Shape 45"/>
          <p:cNvSpPr/>
          <p:nvPr/>
        </p:nvSpPr>
        <p:spPr>
          <a:xfrm>
            <a:off x="0" y="1218960"/>
            <a:ext cx="12191400" cy="360"/>
          </a:xfrm>
          <a:prstGeom prst="line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fr-FR" sz="1800" b="0" u="none" strike="noStrike">
              <a:solidFill>
                <a:srgbClr val="FFFFFF"/>
              </a:solidFill>
              <a:effectLst/>
              <a:uFillTx/>
              <a:latin typeface="Roboto"/>
            </a:endParaRPr>
          </a:p>
        </p:txBody>
      </p:sp>
      <p:sp>
        <p:nvSpPr>
          <p:cNvPr id="869" name="Shape 46"/>
          <p:cNvSpPr/>
          <p:nvPr/>
        </p:nvSpPr>
        <p:spPr>
          <a:xfrm>
            <a:off x="0" y="1523520"/>
            <a:ext cx="12191400" cy="360"/>
          </a:xfrm>
          <a:prstGeom prst="line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fr-FR" sz="1800" b="0" u="none" strike="noStrike">
              <a:solidFill>
                <a:srgbClr val="FFFFFF"/>
              </a:solidFill>
              <a:effectLst/>
              <a:uFillTx/>
              <a:latin typeface="Roboto"/>
            </a:endParaRPr>
          </a:p>
        </p:txBody>
      </p:sp>
      <p:sp>
        <p:nvSpPr>
          <p:cNvPr id="870" name="Shape 47"/>
          <p:cNvSpPr/>
          <p:nvPr/>
        </p:nvSpPr>
        <p:spPr>
          <a:xfrm>
            <a:off x="0" y="1828440"/>
            <a:ext cx="12191400" cy="360"/>
          </a:xfrm>
          <a:prstGeom prst="line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fr-FR" sz="1800" b="0" u="none" strike="noStrike">
              <a:solidFill>
                <a:srgbClr val="FFFFFF"/>
              </a:solidFill>
              <a:effectLst/>
              <a:uFillTx/>
              <a:latin typeface="Roboto"/>
            </a:endParaRPr>
          </a:p>
        </p:txBody>
      </p:sp>
      <p:sp>
        <p:nvSpPr>
          <p:cNvPr id="871" name="Shape 48"/>
          <p:cNvSpPr/>
          <p:nvPr/>
        </p:nvSpPr>
        <p:spPr>
          <a:xfrm>
            <a:off x="0" y="2133360"/>
            <a:ext cx="12191400" cy="360"/>
          </a:xfrm>
          <a:prstGeom prst="line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fr-FR" sz="1800" b="0" u="none" strike="noStrike">
              <a:solidFill>
                <a:srgbClr val="FFFFFF"/>
              </a:solidFill>
              <a:effectLst/>
              <a:uFillTx/>
              <a:latin typeface="Roboto"/>
            </a:endParaRPr>
          </a:p>
        </p:txBody>
      </p:sp>
      <p:sp>
        <p:nvSpPr>
          <p:cNvPr id="872" name="Shape 49"/>
          <p:cNvSpPr/>
          <p:nvPr/>
        </p:nvSpPr>
        <p:spPr>
          <a:xfrm>
            <a:off x="0" y="2437920"/>
            <a:ext cx="12191400" cy="360"/>
          </a:xfrm>
          <a:prstGeom prst="line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fr-FR" sz="1800" b="0" u="none" strike="noStrike">
              <a:solidFill>
                <a:srgbClr val="FFFFFF"/>
              </a:solidFill>
              <a:effectLst/>
              <a:uFillTx/>
              <a:latin typeface="Roboto"/>
            </a:endParaRPr>
          </a:p>
        </p:txBody>
      </p:sp>
      <p:sp>
        <p:nvSpPr>
          <p:cNvPr id="873" name="Shape 50"/>
          <p:cNvSpPr/>
          <p:nvPr/>
        </p:nvSpPr>
        <p:spPr>
          <a:xfrm>
            <a:off x="0" y="2742840"/>
            <a:ext cx="12191400" cy="360"/>
          </a:xfrm>
          <a:prstGeom prst="line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fr-FR" sz="1800" b="0" u="none" strike="noStrike">
              <a:solidFill>
                <a:srgbClr val="FFFFFF"/>
              </a:solidFill>
              <a:effectLst/>
              <a:uFillTx/>
              <a:latin typeface="Roboto"/>
            </a:endParaRPr>
          </a:p>
        </p:txBody>
      </p:sp>
      <p:sp>
        <p:nvSpPr>
          <p:cNvPr id="874" name="Shape 51"/>
          <p:cNvSpPr/>
          <p:nvPr/>
        </p:nvSpPr>
        <p:spPr>
          <a:xfrm>
            <a:off x="0" y="3047400"/>
            <a:ext cx="12191400" cy="360"/>
          </a:xfrm>
          <a:prstGeom prst="line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fr-FR" sz="1800" b="0" u="none" strike="noStrike">
              <a:solidFill>
                <a:srgbClr val="FFFFFF"/>
              </a:solidFill>
              <a:effectLst/>
              <a:uFillTx/>
              <a:latin typeface="Roboto"/>
            </a:endParaRPr>
          </a:p>
        </p:txBody>
      </p:sp>
      <p:sp>
        <p:nvSpPr>
          <p:cNvPr id="875" name="Shape 52"/>
          <p:cNvSpPr/>
          <p:nvPr/>
        </p:nvSpPr>
        <p:spPr>
          <a:xfrm>
            <a:off x="0" y="3352320"/>
            <a:ext cx="12191400" cy="360"/>
          </a:xfrm>
          <a:prstGeom prst="line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fr-FR" sz="1800" b="0" u="none" strike="noStrike">
              <a:solidFill>
                <a:srgbClr val="FFFFFF"/>
              </a:solidFill>
              <a:effectLst/>
              <a:uFillTx/>
              <a:latin typeface="Roboto"/>
            </a:endParaRPr>
          </a:p>
        </p:txBody>
      </p:sp>
      <p:sp>
        <p:nvSpPr>
          <p:cNvPr id="876" name="Shape 53"/>
          <p:cNvSpPr/>
          <p:nvPr/>
        </p:nvSpPr>
        <p:spPr>
          <a:xfrm>
            <a:off x="0" y="3656880"/>
            <a:ext cx="12191400" cy="360"/>
          </a:xfrm>
          <a:prstGeom prst="line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fr-FR" sz="1800" b="0" u="none" strike="noStrike">
              <a:solidFill>
                <a:srgbClr val="FFFFFF"/>
              </a:solidFill>
              <a:effectLst/>
              <a:uFillTx/>
              <a:latin typeface="Roboto"/>
            </a:endParaRPr>
          </a:p>
        </p:txBody>
      </p:sp>
      <p:sp>
        <p:nvSpPr>
          <p:cNvPr id="877" name="Shape 54"/>
          <p:cNvSpPr/>
          <p:nvPr/>
        </p:nvSpPr>
        <p:spPr>
          <a:xfrm>
            <a:off x="0" y="3961800"/>
            <a:ext cx="12191400" cy="360"/>
          </a:xfrm>
          <a:prstGeom prst="line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fr-FR" sz="1800" b="0" u="none" strike="noStrike">
              <a:solidFill>
                <a:srgbClr val="FFFFFF"/>
              </a:solidFill>
              <a:effectLst/>
              <a:uFillTx/>
              <a:latin typeface="Roboto"/>
            </a:endParaRPr>
          </a:p>
        </p:txBody>
      </p:sp>
      <p:sp>
        <p:nvSpPr>
          <p:cNvPr id="878" name="Shape 55"/>
          <p:cNvSpPr/>
          <p:nvPr/>
        </p:nvSpPr>
        <p:spPr>
          <a:xfrm>
            <a:off x="0" y="4266720"/>
            <a:ext cx="12191400" cy="360"/>
          </a:xfrm>
          <a:prstGeom prst="line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fr-FR" sz="1800" b="0" u="none" strike="noStrike">
              <a:solidFill>
                <a:srgbClr val="FFFFFF"/>
              </a:solidFill>
              <a:effectLst/>
              <a:uFillTx/>
              <a:latin typeface="Roboto"/>
            </a:endParaRPr>
          </a:p>
        </p:txBody>
      </p:sp>
      <p:sp>
        <p:nvSpPr>
          <p:cNvPr id="879" name="Shape 56"/>
          <p:cNvSpPr/>
          <p:nvPr/>
        </p:nvSpPr>
        <p:spPr>
          <a:xfrm>
            <a:off x="0" y="4571280"/>
            <a:ext cx="12191400" cy="360"/>
          </a:xfrm>
          <a:prstGeom prst="line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fr-FR" sz="1800" b="0" u="none" strike="noStrike">
              <a:solidFill>
                <a:srgbClr val="FFFFFF"/>
              </a:solidFill>
              <a:effectLst/>
              <a:uFillTx/>
              <a:latin typeface="Roboto"/>
            </a:endParaRPr>
          </a:p>
        </p:txBody>
      </p:sp>
      <p:sp>
        <p:nvSpPr>
          <p:cNvPr id="880" name="Shape 57"/>
          <p:cNvSpPr/>
          <p:nvPr/>
        </p:nvSpPr>
        <p:spPr>
          <a:xfrm>
            <a:off x="0" y="4876200"/>
            <a:ext cx="12191400" cy="360"/>
          </a:xfrm>
          <a:prstGeom prst="line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fr-FR" sz="1800" b="0" u="none" strike="noStrike">
              <a:solidFill>
                <a:srgbClr val="FFFFFF"/>
              </a:solidFill>
              <a:effectLst/>
              <a:uFillTx/>
              <a:latin typeface="Roboto"/>
            </a:endParaRPr>
          </a:p>
        </p:txBody>
      </p:sp>
      <p:sp>
        <p:nvSpPr>
          <p:cNvPr id="881" name="Shape 58"/>
          <p:cNvSpPr/>
          <p:nvPr/>
        </p:nvSpPr>
        <p:spPr>
          <a:xfrm>
            <a:off x="0" y="5180760"/>
            <a:ext cx="12191400" cy="360"/>
          </a:xfrm>
          <a:prstGeom prst="line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fr-FR" sz="1800" b="0" u="none" strike="noStrike">
              <a:solidFill>
                <a:srgbClr val="FFFFFF"/>
              </a:solidFill>
              <a:effectLst/>
              <a:uFillTx/>
              <a:latin typeface="Roboto"/>
            </a:endParaRPr>
          </a:p>
        </p:txBody>
      </p:sp>
      <p:sp>
        <p:nvSpPr>
          <p:cNvPr id="882" name="Shape 59"/>
          <p:cNvSpPr/>
          <p:nvPr/>
        </p:nvSpPr>
        <p:spPr>
          <a:xfrm>
            <a:off x="0" y="5485680"/>
            <a:ext cx="12191400" cy="360"/>
          </a:xfrm>
          <a:prstGeom prst="line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fr-FR" sz="1800" b="0" u="none" strike="noStrike">
              <a:solidFill>
                <a:srgbClr val="FFFFFF"/>
              </a:solidFill>
              <a:effectLst/>
              <a:uFillTx/>
              <a:latin typeface="Roboto"/>
            </a:endParaRPr>
          </a:p>
        </p:txBody>
      </p:sp>
      <p:sp>
        <p:nvSpPr>
          <p:cNvPr id="883" name="Shape 60"/>
          <p:cNvSpPr/>
          <p:nvPr/>
        </p:nvSpPr>
        <p:spPr>
          <a:xfrm>
            <a:off x="0" y="5790600"/>
            <a:ext cx="12191400" cy="360"/>
          </a:xfrm>
          <a:prstGeom prst="line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fr-FR" sz="1800" b="0" u="none" strike="noStrike">
              <a:solidFill>
                <a:srgbClr val="FFFFFF"/>
              </a:solidFill>
              <a:effectLst/>
              <a:uFillTx/>
              <a:latin typeface="Roboto"/>
            </a:endParaRPr>
          </a:p>
        </p:txBody>
      </p:sp>
      <p:sp>
        <p:nvSpPr>
          <p:cNvPr id="884" name="Shape 61"/>
          <p:cNvSpPr/>
          <p:nvPr/>
        </p:nvSpPr>
        <p:spPr>
          <a:xfrm>
            <a:off x="0" y="6095160"/>
            <a:ext cx="12191400" cy="360"/>
          </a:xfrm>
          <a:prstGeom prst="line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fr-FR" sz="1800" b="0" u="none" strike="noStrike">
              <a:solidFill>
                <a:srgbClr val="FFFFFF"/>
              </a:solidFill>
              <a:effectLst/>
              <a:uFillTx/>
              <a:latin typeface="Roboto"/>
            </a:endParaRPr>
          </a:p>
        </p:txBody>
      </p:sp>
      <p:sp>
        <p:nvSpPr>
          <p:cNvPr id="885" name="Shape 62"/>
          <p:cNvSpPr/>
          <p:nvPr/>
        </p:nvSpPr>
        <p:spPr>
          <a:xfrm>
            <a:off x="0" y="6400080"/>
            <a:ext cx="12191400" cy="360"/>
          </a:xfrm>
          <a:prstGeom prst="line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fr-FR" sz="1800" b="0" u="none" strike="noStrike">
              <a:solidFill>
                <a:srgbClr val="FFFFFF"/>
              </a:solidFill>
              <a:effectLst/>
              <a:uFillTx/>
              <a:latin typeface="Roboto"/>
            </a:endParaRPr>
          </a:p>
        </p:txBody>
      </p:sp>
      <p:sp>
        <p:nvSpPr>
          <p:cNvPr id="886" name="Shape 63"/>
          <p:cNvSpPr/>
          <p:nvPr/>
        </p:nvSpPr>
        <p:spPr>
          <a:xfrm>
            <a:off x="0" y="6704640"/>
            <a:ext cx="12191400" cy="360"/>
          </a:xfrm>
          <a:prstGeom prst="line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fr-FR" sz="1800" b="0" u="none" strike="noStrike">
              <a:solidFill>
                <a:srgbClr val="FFFFFF"/>
              </a:solidFill>
              <a:effectLst/>
              <a:uFillTx/>
              <a:latin typeface="Roboto"/>
            </a:endParaRPr>
          </a:p>
        </p:txBody>
      </p:sp>
      <p:sp>
        <p:nvSpPr>
          <p:cNvPr id="887" name="Text 64"/>
          <p:cNvSpPr/>
          <p:nvPr/>
        </p:nvSpPr>
        <p:spPr>
          <a:xfrm>
            <a:off x="457200" y="384120"/>
            <a:ext cx="9141840" cy="253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pc="201" strike="noStrike">
                <a:solidFill>
                  <a:srgbClr val="F2A65A"/>
                </a:solidFill>
                <a:effectLst/>
                <a:uFillTx/>
                <a:latin typeface="Roboto"/>
                <a:ea typeface="Roboto"/>
              </a:rPr>
              <a:t>04 · MACHINE LEARNING</a:t>
            </a:r>
            <a:endParaRPr lang="fr-FR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88" name="Text 65"/>
          <p:cNvSpPr/>
          <p:nvPr/>
        </p:nvSpPr>
        <p:spPr>
          <a:xfrm>
            <a:off x="457200" y="640080"/>
            <a:ext cx="10513440" cy="54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000" b="1" u="none" strike="noStrike">
                <a:solidFill>
                  <a:srgbClr val="FFFFFF"/>
                </a:solidFill>
                <a:effectLst/>
                <a:uFillTx/>
                <a:latin typeface="Roboto"/>
                <a:ea typeface="Roboto"/>
              </a:rPr>
              <a:t>What Actually Drives a Match?</a:t>
            </a:r>
            <a:endParaRPr lang="fr-FR" sz="3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89" name="Shape 66"/>
          <p:cNvSpPr/>
          <p:nvPr/>
        </p:nvSpPr>
        <p:spPr>
          <a:xfrm>
            <a:off x="457200" y="1280160"/>
            <a:ext cx="6947280" cy="4752720"/>
          </a:xfrm>
          <a:prstGeom prst="roundRect">
            <a:avLst>
              <a:gd name="adj" fmla="val 1731"/>
            </a:avLst>
          </a:prstGeom>
          <a:solidFill>
            <a:srgbClr val="263659"/>
          </a:solidFill>
          <a:ln w="12700">
            <a:solidFill>
              <a:srgbClr val="3D4B72"/>
            </a:solidFill>
            <a:round/>
          </a:ln>
          <a:effectLst>
            <a:outerShdw algn="bl" blurRad="101520" dir="5400000" dist="38160" kx="0" ky="0" rotWithShape="0" sx="100000" sy="10000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fr-FR" sz="1800" b="0" u="none" strike="noStrike">
              <a:solidFill>
                <a:srgbClr val="FFFFFF"/>
              </a:solidFill>
              <a:effectLst/>
              <a:uFillTx/>
              <a:latin typeface="Roboto"/>
            </a:endParaRPr>
          </a:p>
        </p:txBody>
      </p:sp>
      <p:sp>
        <p:nvSpPr>
          <p:cNvPr id="890" name="Text 67"/>
          <p:cNvSpPr/>
          <p:nvPr/>
        </p:nvSpPr>
        <p:spPr>
          <a:xfrm>
            <a:off x="658440" y="1481400"/>
            <a:ext cx="6544800" cy="27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FFFFFF"/>
                </a:solidFill>
                <a:effectLst/>
                <a:uFillTx/>
                <a:latin typeface="Roboto"/>
                <a:ea typeface="Roboto"/>
              </a:rPr>
              <a:t>Logistic Regression Coefficients (standardized)</a:t>
            </a:r>
            <a:endParaRPr lang="fr-FR" sz="12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91" name="Shape 68"/>
          <p:cNvSpPr/>
          <p:nvPr/>
        </p:nvSpPr>
        <p:spPr>
          <a:xfrm>
            <a:off x="2166840" y="1892520"/>
            <a:ext cx="360" cy="3346920"/>
          </a:xfrm>
          <a:prstGeom prst="line">
            <a:avLst/>
          </a:prstGeom>
          <a:ln w="9525">
            <a:solidFill>
              <a:srgbClr val="1A214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0" tIns="45000" rIns="0" bIns="45000" anchor="t" anchorCtr="1">
            <a:noAutofit/>
          </a:bodyPr>
          <a:p>
            <a:endParaRPr lang="fr-FR" sz="1800" b="0" u="none" strike="noStrike">
              <a:solidFill>
                <a:srgbClr val="FFFFFF"/>
              </a:solidFill>
              <a:effectLst/>
              <a:uFillTx/>
              <a:latin typeface="Roboto"/>
            </a:endParaRPr>
          </a:p>
        </p:txBody>
      </p:sp>
      <p:sp>
        <p:nvSpPr>
          <p:cNvPr id="892" name="Text 69"/>
          <p:cNvSpPr/>
          <p:nvPr/>
        </p:nvSpPr>
        <p:spPr>
          <a:xfrm>
            <a:off x="1892880" y="5285160"/>
            <a:ext cx="546480" cy="226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0" u="none" strike="noStrike">
                <a:solidFill>
                  <a:srgbClr val="5C6684"/>
                </a:solidFill>
                <a:effectLst/>
                <a:uFillTx/>
                <a:latin typeface="Roboto"/>
                <a:ea typeface="Roboto"/>
              </a:rPr>
              <a:t>-0.4</a:t>
            </a:r>
            <a:endParaRPr lang="fr-FR" sz="8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93" name="Shape 70"/>
          <p:cNvSpPr/>
          <p:nvPr/>
        </p:nvSpPr>
        <p:spPr>
          <a:xfrm>
            <a:off x="2691360" y="1892520"/>
            <a:ext cx="360" cy="3346920"/>
          </a:xfrm>
          <a:prstGeom prst="line">
            <a:avLst/>
          </a:prstGeom>
          <a:ln w="9525">
            <a:solidFill>
              <a:srgbClr val="1A214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0" tIns="45000" rIns="0" bIns="45000" anchor="t" anchorCtr="1">
            <a:noAutofit/>
          </a:bodyPr>
          <a:p>
            <a:endParaRPr lang="fr-FR" sz="1800" b="0" u="none" strike="noStrike">
              <a:solidFill>
                <a:srgbClr val="FFFFFF"/>
              </a:solidFill>
              <a:effectLst/>
              <a:uFillTx/>
              <a:latin typeface="Roboto"/>
            </a:endParaRPr>
          </a:p>
        </p:txBody>
      </p:sp>
      <p:sp>
        <p:nvSpPr>
          <p:cNvPr id="894" name="Text 71"/>
          <p:cNvSpPr/>
          <p:nvPr/>
        </p:nvSpPr>
        <p:spPr>
          <a:xfrm>
            <a:off x="2417040" y="5285160"/>
            <a:ext cx="546480" cy="226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0" u="none" strike="noStrike">
                <a:solidFill>
                  <a:srgbClr val="5C6684"/>
                </a:solidFill>
                <a:effectLst/>
                <a:uFillTx/>
                <a:latin typeface="Roboto"/>
                <a:ea typeface="Roboto"/>
              </a:rPr>
              <a:t>-0.2</a:t>
            </a:r>
            <a:endParaRPr lang="fr-FR" sz="8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95" name="Shape 72"/>
          <p:cNvSpPr/>
          <p:nvPr/>
        </p:nvSpPr>
        <p:spPr>
          <a:xfrm>
            <a:off x="3215520" y="1892520"/>
            <a:ext cx="360" cy="3346920"/>
          </a:xfrm>
          <a:prstGeom prst="line">
            <a:avLst/>
          </a:prstGeom>
          <a:ln w="15875">
            <a:solidFill>
              <a:srgbClr val="3D4B7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0" tIns="45000" rIns="0" bIns="45000" anchor="t" anchorCtr="1">
            <a:noAutofit/>
          </a:bodyPr>
          <a:p>
            <a:endParaRPr lang="fr-FR" sz="1800" b="0" u="none" strike="noStrike">
              <a:solidFill>
                <a:srgbClr val="FFFFFF"/>
              </a:solidFill>
              <a:effectLst/>
              <a:uFillTx/>
              <a:latin typeface="Roboto"/>
            </a:endParaRPr>
          </a:p>
        </p:txBody>
      </p:sp>
      <p:sp>
        <p:nvSpPr>
          <p:cNvPr id="896" name="Text 73"/>
          <p:cNvSpPr/>
          <p:nvPr/>
        </p:nvSpPr>
        <p:spPr>
          <a:xfrm>
            <a:off x="2941200" y="5285160"/>
            <a:ext cx="546480" cy="226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0" u="none" strike="noStrike">
                <a:solidFill>
                  <a:srgbClr val="5C6684"/>
                </a:solidFill>
                <a:effectLst/>
                <a:uFillTx/>
                <a:latin typeface="Roboto"/>
                <a:ea typeface="Roboto"/>
              </a:rPr>
              <a:t>0.0</a:t>
            </a:r>
            <a:endParaRPr lang="fr-FR" sz="8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97" name="Shape 74"/>
          <p:cNvSpPr/>
          <p:nvPr/>
        </p:nvSpPr>
        <p:spPr>
          <a:xfrm>
            <a:off x="3739680" y="1892520"/>
            <a:ext cx="360" cy="3346920"/>
          </a:xfrm>
          <a:prstGeom prst="line">
            <a:avLst/>
          </a:prstGeom>
          <a:ln w="9525">
            <a:solidFill>
              <a:srgbClr val="1A214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0" tIns="45000" rIns="0" bIns="45000" anchor="t" anchorCtr="1">
            <a:noAutofit/>
          </a:bodyPr>
          <a:p>
            <a:endParaRPr lang="fr-FR" sz="1800" b="0" u="none" strike="noStrike">
              <a:solidFill>
                <a:srgbClr val="FFFFFF"/>
              </a:solidFill>
              <a:effectLst/>
              <a:uFillTx/>
              <a:latin typeface="Roboto"/>
            </a:endParaRPr>
          </a:p>
        </p:txBody>
      </p:sp>
      <p:sp>
        <p:nvSpPr>
          <p:cNvPr id="898" name="Text 75"/>
          <p:cNvSpPr/>
          <p:nvPr/>
        </p:nvSpPr>
        <p:spPr>
          <a:xfrm>
            <a:off x="3465720" y="5285160"/>
            <a:ext cx="546480" cy="226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0" u="none" strike="noStrike">
                <a:solidFill>
                  <a:srgbClr val="5C6684"/>
                </a:solidFill>
                <a:effectLst/>
                <a:uFillTx/>
                <a:latin typeface="Roboto"/>
                <a:ea typeface="Roboto"/>
              </a:rPr>
              <a:t>0.2</a:t>
            </a:r>
            <a:endParaRPr lang="fr-FR" sz="8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99" name="Shape 76"/>
          <p:cNvSpPr/>
          <p:nvPr/>
        </p:nvSpPr>
        <p:spPr>
          <a:xfrm>
            <a:off x="4263840" y="1892520"/>
            <a:ext cx="360" cy="3346920"/>
          </a:xfrm>
          <a:prstGeom prst="line">
            <a:avLst/>
          </a:prstGeom>
          <a:ln w="9525">
            <a:solidFill>
              <a:srgbClr val="1A214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0" tIns="45000" rIns="0" bIns="45000" anchor="t" anchorCtr="1">
            <a:noAutofit/>
          </a:bodyPr>
          <a:p>
            <a:endParaRPr lang="fr-FR" sz="1800" b="0" u="none" strike="noStrike">
              <a:solidFill>
                <a:srgbClr val="FFFFFF"/>
              </a:solidFill>
              <a:effectLst/>
              <a:uFillTx/>
              <a:latin typeface="Roboto"/>
            </a:endParaRPr>
          </a:p>
        </p:txBody>
      </p:sp>
      <p:sp>
        <p:nvSpPr>
          <p:cNvPr id="900" name="Text 77"/>
          <p:cNvSpPr/>
          <p:nvPr/>
        </p:nvSpPr>
        <p:spPr>
          <a:xfrm>
            <a:off x="3989880" y="5285160"/>
            <a:ext cx="546480" cy="226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0" u="none" strike="noStrike">
                <a:solidFill>
                  <a:srgbClr val="5C6684"/>
                </a:solidFill>
                <a:effectLst/>
                <a:uFillTx/>
                <a:latin typeface="Roboto"/>
                <a:ea typeface="Roboto"/>
              </a:rPr>
              <a:t>0.4</a:t>
            </a:r>
            <a:endParaRPr lang="fr-FR" sz="8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01" name="Shape 78"/>
          <p:cNvSpPr/>
          <p:nvPr/>
        </p:nvSpPr>
        <p:spPr>
          <a:xfrm>
            <a:off x="4788360" y="1892520"/>
            <a:ext cx="360" cy="3346920"/>
          </a:xfrm>
          <a:prstGeom prst="line">
            <a:avLst/>
          </a:prstGeom>
          <a:ln w="9525">
            <a:solidFill>
              <a:srgbClr val="1A214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0" tIns="45000" rIns="0" bIns="45000" anchor="t" anchorCtr="1">
            <a:noAutofit/>
          </a:bodyPr>
          <a:p>
            <a:endParaRPr lang="fr-FR" sz="1800" b="0" u="none" strike="noStrike">
              <a:solidFill>
                <a:srgbClr val="FFFFFF"/>
              </a:solidFill>
              <a:effectLst/>
              <a:uFillTx/>
              <a:latin typeface="Roboto"/>
            </a:endParaRPr>
          </a:p>
        </p:txBody>
      </p:sp>
      <p:sp>
        <p:nvSpPr>
          <p:cNvPr id="902" name="Text 79"/>
          <p:cNvSpPr/>
          <p:nvPr/>
        </p:nvSpPr>
        <p:spPr>
          <a:xfrm>
            <a:off x="4514040" y="5285160"/>
            <a:ext cx="546480" cy="226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0" u="none" strike="noStrike">
                <a:solidFill>
                  <a:srgbClr val="5C6684"/>
                </a:solidFill>
                <a:effectLst/>
                <a:uFillTx/>
                <a:latin typeface="Roboto"/>
                <a:ea typeface="Roboto"/>
              </a:rPr>
              <a:t>0.6</a:t>
            </a:r>
            <a:endParaRPr lang="fr-FR" sz="8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03" name="Shape 80"/>
          <p:cNvSpPr/>
          <p:nvPr/>
        </p:nvSpPr>
        <p:spPr>
          <a:xfrm>
            <a:off x="5312520" y="1892520"/>
            <a:ext cx="360" cy="3346920"/>
          </a:xfrm>
          <a:prstGeom prst="line">
            <a:avLst/>
          </a:prstGeom>
          <a:ln w="9525">
            <a:solidFill>
              <a:srgbClr val="1A214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0" tIns="45000" rIns="0" bIns="45000" anchor="t" anchorCtr="1">
            <a:noAutofit/>
          </a:bodyPr>
          <a:p>
            <a:endParaRPr lang="fr-FR" sz="1800" b="0" u="none" strike="noStrike">
              <a:solidFill>
                <a:srgbClr val="FFFFFF"/>
              </a:solidFill>
              <a:effectLst/>
              <a:uFillTx/>
              <a:latin typeface="Roboto"/>
            </a:endParaRPr>
          </a:p>
        </p:txBody>
      </p:sp>
      <p:sp>
        <p:nvSpPr>
          <p:cNvPr id="904" name="Text 81"/>
          <p:cNvSpPr/>
          <p:nvPr/>
        </p:nvSpPr>
        <p:spPr>
          <a:xfrm>
            <a:off x="5038200" y="5285160"/>
            <a:ext cx="546480" cy="226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0" u="none" strike="noStrike">
                <a:solidFill>
                  <a:srgbClr val="5C6684"/>
                </a:solidFill>
                <a:effectLst/>
                <a:uFillTx/>
                <a:latin typeface="Roboto"/>
                <a:ea typeface="Roboto"/>
              </a:rPr>
              <a:t>0.8</a:t>
            </a:r>
            <a:endParaRPr lang="fr-FR" sz="8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05" name="Shape 82"/>
          <p:cNvSpPr/>
          <p:nvPr/>
        </p:nvSpPr>
        <p:spPr>
          <a:xfrm>
            <a:off x="5836680" y="1892520"/>
            <a:ext cx="360" cy="3346920"/>
          </a:xfrm>
          <a:prstGeom prst="line">
            <a:avLst/>
          </a:prstGeom>
          <a:ln w="9525">
            <a:solidFill>
              <a:srgbClr val="1A214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0" tIns="45000" rIns="0" bIns="45000" anchor="t" anchorCtr="1">
            <a:noAutofit/>
          </a:bodyPr>
          <a:p>
            <a:endParaRPr lang="fr-FR" sz="1800" b="0" u="none" strike="noStrike">
              <a:solidFill>
                <a:srgbClr val="FFFFFF"/>
              </a:solidFill>
              <a:effectLst/>
              <a:uFillTx/>
              <a:latin typeface="Roboto"/>
            </a:endParaRPr>
          </a:p>
        </p:txBody>
      </p:sp>
      <p:sp>
        <p:nvSpPr>
          <p:cNvPr id="906" name="Text 83"/>
          <p:cNvSpPr/>
          <p:nvPr/>
        </p:nvSpPr>
        <p:spPr>
          <a:xfrm>
            <a:off x="5562720" y="5285160"/>
            <a:ext cx="546480" cy="226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0" u="none" strike="noStrike">
                <a:solidFill>
                  <a:srgbClr val="5C6684"/>
                </a:solidFill>
                <a:effectLst/>
                <a:uFillTx/>
                <a:latin typeface="Roboto"/>
                <a:ea typeface="Roboto"/>
              </a:rPr>
              <a:t>1.0</a:t>
            </a:r>
            <a:endParaRPr lang="fr-FR" sz="8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07" name="Shape 84"/>
          <p:cNvSpPr/>
          <p:nvPr/>
        </p:nvSpPr>
        <p:spPr>
          <a:xfrm>
            <a:off x="6360840" y="1892520"/>
            <a:ext cx="360" cy="3346920"/>
          </a:xfrm>
          <a:prstGeom prst="line">
            <a:avLst/>
          </a:prstGeom>
          <a:ln w="9525">
            <a:solidFill>
              <a:srgbClr val="1A214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0" tIns="45000" rIns="0" bIns="45000" anchor="t" anchorCtr="1">
            <a:noAutofit/>
          </a:bodyPr>
          <a:p>
            <a:endParaRPr lang="fr-FR" sz="1800" b="0" u="none" strike="noStrike">
              <a:solidFill>
                <a:srgbClr val="FFFFFF"/>
              </a:solidFill>
              <a:effectLst/>
              <a:uFillTx/>
              <a:latin typeface="Roboto"/>
            </a:endParaRPr>
          </a:p>
        </p:txBody>
      </p:sp>
      <p:sp>
        <p:nvSpPr>
          <p:cNvPr id="908" name="Text 85"/>
          <p:cNvSpPr/>
          <p:nvPr/>
        </p:nvSpPr>
        <p:spPr>
          <a:xfrm>
            <a:off x="6086880" y="5285160"/>
            <a:ext cx="546480" cy="226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0" u="none" strike="noStrike">
                <a:solidFill>
                  <a:srgbClr val="5C6684"/>
                </a:solidFill>
                <a:effectLst/>
                <a:uFillTx/>
                <a:latin typeface="Roboto"/>
                <a:ea typeface="Roboto"/>
              </a:rPr>
              <a:t>1.2</a:t>
            </a:r>
            <a:endParaRPr lang="fr-FR" sz="8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09" name="Shape 86"/>
          <p:cNvSpPr/>
          <p:nvPr/>
        </p:nvSpPr>
        <p:spPr>
          <a:xfrm>
            <a:off x="6885360" y="1892520"/>
            <a:ext cx="360" cy="3346920"/>
          </a:xfrm>
          <a:prstGeom prst="line">
            <a:avLst/>
          </a:prstGeom>
          <a:ln w="9525">
            <a:solidFill>
              <a:srgbClr val="1A214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0" tIns="45000" rIns="0" bIns="45000" anchor="t" anchorCtr="1">
            <a:noAutofit/>
          </a:bodyPr>
          <a:p>
            <a:endParaRPr lang="fr-FR" sz="1800" b="0" u="none" strike="noStrike">
              <a:solidFill>
                <a:srgbClr val="FFFFFF"/>
              </a:solidFill>
              <a:effectLst/>
              <a:uFillTx/>
              <a:latin typeface="Roboto"/>
            </a:endParaRPr>
          </a:p>
        </p:txBody>
      </p:sp>
      <p:sp>
        <p:nvSpPr>
          <p:cNvPr id="910" name="Text 87"/>
          <p:cNvSpPr/>
          <p:nvPr/>
        </p:nvSpPr>
        <p:spPr>
          <a:xfrm>
            <a:off x="6611040" y="5285160"/>
            <a:ext cx="546480" cy="226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0" u="none" strike="noStrike">
                <a:solidFill>
                  <a:srgbClr val="5C6684"/>
                </a:solidFill>
                <a:effectLst/>
                <a:uFillTx/>
                <a:latin typeface="Roboto"/>
                <a:ea typeface="Roboto"/>
              </a:rPr>
              <a:t>1.4</a:t>
            </a:r>
            <a:endParaRPr lang="fr-FR" sz="8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11" name="Text 88"/>
          <p:cNvSpPr/>
          <p:nvPr/>
        </p:nvSpPr>
        <p:spPr>
          <a:xfrm>
            <a:off x="658440" y="2007000"/>
            <a:ext cx="1396800" cy="32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FFFFFF"/>
                </a:solidFill>
                <a:effectLst/>
                <a:uFillTx/>
                <a:latin typeface="Roboto"/>
                <a:ea typeface="Roboto"/>
              </a:rPr>
              <a:t>Attractiveness</a:t>
            </a:r>
            <a:endParaRPr lang="fr-FR" sz="11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12" name="Shape 89"/>
          <p:cNvSpPr/>
          <p:nvPr/>
        </p:nvSpPr>
        <p:spPr>
          <a:xfrm>
            <a:off x="5469840" y="2171520"/>
            <a:ext cx="1074600" cy="360"/>
          </a:xfrm>
          <a:prstGeom prst="line">
            <a:avLst/>
          </a:prstGeom>
          <a:ln w="19050">
            <a:solidFill>
              <a:srgbClr val="5C668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fr-FR" sz="1800" b="0" u="none" strike="noStrike">
              <a:solidFill>
                <a:srgbClr val="FFFFFF"/>
              </a:solidFill>
              <a:effectLst/>
              <a:uFillTx/>
              <a:latin typeface="Roboto"/>
            </a:endParaRPr>
          </a:p>
        </p:txBody>
      </p:sp>
      <p:sp>
        <p:nvSpPr>
          <p:cNvPr id="913" name="Shape 90"/>
          <p:cNvSpPr/>
          <p:nvPr/>
        </p:nvSpPr>
        <p:spPr>
          <a:xfrm>
            <a:off x="5387760" y="2089440"/>
            <a:ext cx="162360" cy="162360"/>
          </a:xfrm>
          <a:prstGeom prst="ellipse">
            <a:avLst/>
          </a:prstGeom>
          <a:solidFill>
            <a:srgbClr val="FF94FF"/>
          </a:solidFill>
          <a:ln w="12700">
            <a:solidFill>
              <a:srgbClr val="26365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81360" tIns="45000" rIns="81360" bIns="45000" anchor="t">
            <a:noAutofit/>
          </a:bodyPr>
          <a:p>
            <a:endParaRPr lang="fr-FR" sz="1800" b="0" u="none" strike="noStrike">
              <a:solidFill>
                <a:srgbClr val="000000"/>
              </a:solidFill>
              <a:effectLst/>
              <a:uFillTx/>
              <a:latin typeface="Roboto"/>
            </a:endParaRPr>
          </a:p>
        </p:txBody>
      </p:sp>
      <p:sp>
        <p:nvSpPr>
          <p:cNvPr id="914" name="Shape 91"/>
          <p:cNvSpPr/>
          <p:nvPr/>
        </p:nvSpPr>
        <p:spPr>
          <a:xfrm>
            <a:off x="6462360" y="2089440"/>
            <a:ext cx="162360" cy="162360"/>
          </a:xfrm>
          <a:prstGeom prst="ellipse">
            <a:avLst/>
          </a:prstGeom>
          <a:solidFill>
            <a:srgbClr val="003CFF"/>
          </a:solidFill>
          <a:ln w="12700">
            <a:solidFill>
              <a:srgbClr val="26365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81360" tIns="45000" rIns="81360" bIns="45000" anchor="t">
            <a:noAutofit/>
          </a:bodyPr>
          <a:p>
            <a:endParaRPr lang="fr-FR" sz="1800" b="0" u="none" strike="noStrike">
              <a:solidFill>
                <a:srgbClr val="FFFFFF"/>
              </a:solidFill>
              <a:effectLst/>
              <a:uFillTx/>
              <a:latin typeface="Roboto"/>
            </a:endParaRPr>
          </a:p>
        </p:txBody>
      </p:sp>
      <p:sp>
        <p:nvSpPr>
          <p:cNvPr id="915" name="Text 92"/>
          <p:cNvSpPr/>
          <p:nvPr/>
        </p:nvSpPr>
        <p:spPr>
          <a:xfrm>
            <a:off x="5149800" y="1860840"/>
            <a:ext cx="637920" cy="217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1" u="none" strike="noStrike">
                <a:solidFill>
                  <a:srgbClr val="FF94FF"/>
                </a:solidFill>
                <a:effectLst/>
                <a:uFillTx/>
                <a:latin typeface="Roboto"/>
                <a:ea typeface="Roboto"/>
              </a:rPr>
              <a:t>0.86</a:t>
            </a:r>
            <a:endParaRPr lang="fr-FR" sz="9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16" name="Text 93"/>
          <p:cNvSpPr/>
          <p:nvPr/>
        </p:nvSpPr>
        <p:spPr>
          <a:xfrm>
            <a:off x="6224760" y="2226600"/>
            <a:ext cx="637920" cy="217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1" u="none" strike="noStrike">
                <a:solidFill>
                  <a:srgbClr val="003CFF"/>
                </a:solidFill>
                <a:effectLst/>
                <a:uFillTx/>
                <a:latin typeface="Roboto"/>
                <a:ea typeface="Roboto"/>
              </a:rPr>
              <a:t>1.27</a:t>
            </a:r>
            <a:endParaRPr lang="fr-FR" sz="9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17" name="Text 94"/>
          <p:cNvSpPr/>
          <p:nvPr/>
        </p:nvSpPr>
        <p:spPr>
          <a:xfrm>
            <a:off x="658440" y="2565000"/>
            <a:ext cx="1396800" cy="32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FFFFFF"/>
                </a:solidFill>
                <a:effectLst/>
                <a:uFillTx/>
                <a:latin typeface="Roboto"/>
                <a:ea typeface="Roboto"/>
              </a:rPr>
              <a:t>Fun</a:t>
            </a:r>
            <a:endParaRPr lang="fr-FR" sz="11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18" name="Shape 95"/>
          <p:cNvSpPr/>
          <p:nvPr/>
        </p:nvSpPr>
        <p:spPr>
          <a:xfrm>
            <a:off x="4473720" y="2729160"/>
            <a:ext cx="235800" cy="360"/>
          </a:xfrm>
          <a:prstGeom prst="line">
            <a:avLst/>
          </a:prstGeom>
          <a:ln w="19050">
            <a:solidFill>
              <a:srgbClr val="5C668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fr-FR" sz="1800" b="0" u="none" strike="noStrike">
              <a:solidFill>
                <a:srgbClr val="FFFFFF"/>
              </a:solidFill>
              <a:effectLst/>
              <a:uFillTx/>
              <a:latin typeface="Roboto"/>
            </a:endParaRPr>
          </a:p>
        </p:txBody>
      </p:sp>
      <p:sp>
        <p:nvSpPr>
          <p:cNvPr id="919" name="Shape 96"/>
          <p:cNvSpPr/>
          <p:nvPr/>
        </p:nvSpPr>
        <p:spPr>
          <a:xfrm>
            <a:off x="4627440" y="2647080"/>
            <a:ext cx="162360" cy="162360"/>
          </a:xfrm>
          <a:prstGeom prst="ellipse">
            <a:avLst/>
          </a:prstGeom>
          <a:solidFill>
            <a:srgbClr val="FF94FF"/>
          </a:solidFill>
          <a:ln w="12700">
            <a:solidFill>
              <a:srgbClr val="26365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81360" tIns="45000" rIns="81360" bIns="45000" anchor="t">
            <a:noAutofit/>
          </a:bodyPr>
          <a:p>
            <a:endParaRPr lang="fr-FR" sz="1800" b="0" u="none" strike="noStrike">
              <a:solidFill>
                <a:srgbClr val="000000"/>
              </a:solidFill>
              <a:effectLst/>
              <a:uFillTx/>
              <a:latin typeface="Roboto"/>
            </a:endParaRPr>
          </a:p>
        </p:txBody>
      </p:sp>
      <p:sp>
        <p:nvSpPr>
          <p:cNvPr id="920" name="Shape 97"/>
          <p:cNvSpPr/>
          <p:nvPr/>
        </p:nvSpPr>
        <p:spPr>
          <a:xfrm>
            <a:off x="4391640" y="2647080"/>
            <a:ext cx="162360" cy="162360"/>
          </a:xfrm>
          <a:prstGeom prst="ellipse">
            <a:avLst/>
          </a:prstGeom>
          <a:solidFill>
            <a:srgbClr val="003CFF"/>
          </a:solidFill>
          <a:ln w="12700">
            <a:solidFill>
              <a:srgbClr val="26365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81360" tIns="45000" rIns="81360" bIns="45000" anchor="t">
            <a:noAutofit/>
          </a:bodyPr>
          <a:p>
            <a:endParaRPr lang="fr-FR" sz="1800" b="0" u="none" strike="noStrike">
              <a:solidFill>
                <a:srgbClr val="FFFFFF"/>
              </a:solidFill>
              <a:effectLst/>
              <a:uFillTx/>
              <a:latin typeface="Roboto"/>
            </a:endParaRPr>
          </a:p>
        </p:txBody>
      </p:sp>
      <p:sp>
        <p:nvSpPr>
          <p:cNvPr id="921" name="Text 98"/>
          <p:cNvSpPr/>
          <p:nvPr/>
        </p:nvSpPr>
        <p:spPr>
          <a:xfrm>
            <a:off x="4389840" y="2784240"/>
            <a:ext cx="637920" cy="217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1" u="none" strike="noStrike">
                <a:solidFill>
                  <a:srgbClr val="FF94FF"/>
                </a:solidFill>
                <a:effectLst/>
                <a:uFillTx/>
                <a:latin typeface="Roboto"/>
                <a:ea typeface="Roboto"/>
              </a:rPr>
              <a:t>0.57</a:t>
            </a:r>
            <a:endParaRPr lang="fr-FR" sz="9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22" name="Text 99"/>
          <p:cNvSpPr/>
          <p:nvPr/>
        </p:nvSpPr>
        <p:spPr>
          <a:xfrm>
            <a:off x="4153680" y="2418480"/>
            <a:ext cx="637920" cy="217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1" u="none" strike="noStrike">
                <a:solidFill>
                  <a:srgbClr val="003CFF"/>
                </a:solidFill>
                <a:effectLst/>
                <a:uFillTx/>
                <a:latin typeface="Roboto"/>
                <a:ea typeface="Roboto"/>
              </a:rPr>
              <a:t>0.48</a:t>
            </a:r>
            <a:endParaRPr lang="fr-FR" sz="9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23" name="Text 100"/>
          <p:cNvSpPr/>
          <p:nvPr/>
        </p:nvSpPr>
        <p:spPr>
          <a:xfrm>
            <a:off x="658440" y="3122640"/>
            <a:ext cx="1396800" cy="32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FFFFFF"/>
                </a:solidFill>
                <a:effectLst/>
                <a:uFillTx/>
                <a:latin typeface="Roboto"/>
                <a:ea typeface="Roboto"/>
              </a:rPr>
              <a:t>Shared Interests</a:t>
            </a:r>
            <a:endParaRPr lang="fr-FR" sz="11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24" name="Shape 101"/>
          <p:cNvSpPr/>
          <p:nvPr/>
        </p:nvSpPr>
        <p:spPr>
          <a:xfrm>
            <a:off x="4552200" y="3287160"/>
            <a:ext cx="52560" cy="360"/>
          </a:xfrm>
          <a:prstGeom prst="line">
            <a:avLst/>
          </a:prstGeom>
          <a:ln w="19050">
            <a:solidFill>
              <a:srgbClr val="5C668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26280" tIns="-44640" rIns="26280" bIns="-44640" anchor="t" anchorCtr="1">
            <a:noAutofit/>
          </a:bodyPr>
          <a:p>
            <a:endParaRPr lang="fr-FR" sz="1800" b="0" u="none" strike="noStrike">
              <a:solidFill>
                <a:srgbClr val="FFFFFF"/>
              </a:solidFill>
              <a:effectLst/>
              <a:uFillTx/>
              <a:latin typeface="Roboto"/>
            </a:endParaRPr>
          </a:p>
        </p:txBody>
      </p:sp>
      <p:sp>
        <p:nvSpPr>
          <p:cNvPr id="925" name="Shape 102"/>
          <p:cNvSpPr/>
          <p:nvPr/>
        </p:nvSpPr>
        <p:spPr>
          <a:xfrm>
            <a:off x="4522680" y="3205080"/>
            <a:ext cx="162360" cy="162360"/>
          </a:xfrm>
          <a:prstGeom prst="ellipse">
            <a:avLst/>
          </a:prstGeom>
          <a:solidFill>
            <a:srgbClr val="FF94FF"/>
          </a:solidFill>
          <a:ln w="12700">
            <a:solidFill>
              <a:srgbClr val="26365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81360" tIns="45000" rIns="81360" bIns="45000" anchor="t">
            <a:noAutofit/>
          </a:bodyPr>
          <a:p>
            <a:endParaRPr lang="fr-FR" sz="1800" b="0" u="none" strike="noStrike">
              <a:solidFill>
                <a:srgbClr val="000000"/>
              </a:solidFill>
              <a:effectLst/>
              <a:uFillTx/>
              <a:latin typeface="Roboto"/>
            </a:endParaRPr>
          </a:p>
        </p:txBody>
      </p:sp>
      <p:sp>
        <p:nvSpPr>
          <p:cNvPr id="926" name="Shape 103"/>
          <p:cNvSpPr/>
          <p:nvPr/>
        </p:nvSpPr>
        <p:spPr>
          <a:xfrm>
            <a:off x="4470120" y="3205080"/>
            <a:ext cx="162360" cy="162360"/>
          </a:xfrm>
          <a:prstGeom prst="ellipse">
            <a:avLst/>
          </a:prstGeom>
          <a:solidFill>
            <a:srgbClr val="003CFF"/>
          </a:solidFill>
          <a:ln w="12700">
            <a:solidFill>
              <a:srgbClr val="26365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81360" tIns="45000" rIns="81360" bIns="45000" anchor="t">
            <a:noAutofit/>
          </a:bodyPr>
          <a:p>
            <a:endParaRPr lang="fr-FR" sz="1800" b="0" u="none" strike="noStrike">
              <a:solidFill>
                <a:srgbClr val="FFFFFF"/>
              </a:solidFill>
              <a:effectLst/>
              <a:uFillTx/>
              <a:latin typeface="Roboto"/>
            </a:endParaRPr>
          </a:p>
        </p:txBody>
      </p:sp>
      <p:sp>
        <p:nvSpPr>
          <p:cNvPr id="927" name="Text 104"/>
          <p:cNvSpPr/>
          <p:nvPr/>
        </p:nvSpPr>
        <p:spPr>
          <a:xfrm>
            <a:off x="4284720" y="3342240"/>
            <a:ext cx="637920" cy="217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1" u="none" strike="noStrike">
                <a:solidFill>
                  <a:srgbClr val="FF94FF"/>
                </a:solidFill>
                <a:effectLst/>
                <a:uFillTx/>
                <a:latin typeface="Roboto"/>
                <a:ea typeface="Roboto"/>
              </a:rPr>
              <a:t>0.53</a:t>
            </a:r>
            <a:endParaRPr lang="fr-FR" sz="9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28" name="Text 105"/>
          <p:cNvSpPr/>
          <p:nvPr/>
        </p:nvSpPr>
        <p:spPr>
          <a:xfrm>
            <a:off x="4232520" y="2976480"/>
            <a:ext cx="637920" cy="217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1" u="none" strike="noStrike">
                <a:solidFill>
                  <a:srgbClr val="003CFF"/>
                </a:solidFill>
                <a:effectLst/>
                <a:uFillTx/>
                <a:latin typeface="Roboto"/>
                <a:ea typeface="Roboto"/>
              </a:rPr>
              <a:t>0.51</a:t>
            </a:r>
            <a:endParaRPr lang="fr-FR" sz="9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29" name="Text 106"/>
          <p:cNvSpPr/>
          <p:nvPr/>
        </p:nvSpPr>
        <p:spPr>
          <a:xfrm>
            <a:off x="658440" y="3680640"/>
            <a:ext cx="1396800" cy="32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FFFFFF"/>
                </a:solidFill>
                <a:effectLst/>
                <a:uFillTx/>
                <a:latin typeface="Roboto"/>
                <a:ea typeface="Roboto"/>
              </a:rPr>
              <a:t>Intelligence</a:t>
            </a:r>
            <a:endParaRPr lang="fr-FR" sz="11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30" name="Shape 107"/>
          <p:cNvSpPr/>
          <p:nvPr/>
        </p:nvSpPr>
        <p:spPr>
          <a:xfrm>
            <a:off x="3005640" y="3844800"/>
            <a:ext cx="655560" cy="360"/>
          </a:xfrm>
          <a:prstGeom prst="line">
            <a:avLst/>
          </a:prstGeom>
          <a:ln w="19050">
            <a:solidFill>
              <a:srgbClr val="5C668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fr-FR" sz="1800" b="0" u="none" strike="noStrike">
              <a:solidFill>
                <a:srgbClr val="FFFFFF"/>
              </a:solidFill>
              <a:effectLst/>
              <a:uFillTx/>
              <a:latin typeface="Roboto"/>
            </a:endParaRPr>
          </a:p>
        </p:txBody>
      </p:sp>
      <p:sp>
        <p:nvSpPr>
          <p:cNvPr id="931" name="Shape 108"/>
          <p:cNvSpPr/>
          <p:nvPr/>
        </p:nvSpPr>
        <p:spPr>
          <a:xfrm>
            <a:off x="3579120" y="3762720"/>
            <a:ext cx="162360" cy="162360"/>
          </a:xfrm>
          <a:prstGeom prst="ellipse">
            <a:avLst/>
          </a:prstGeom>
          <a:solidFill>
            <a:srgbClr val="FF94FF"/>
          </a:solidFill>
          <a:ln w="12700">
            <a:solidFill>
              <a:srgbClr val="26365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81360" tIns="45000" rIns="81360" bIns="45000" anchor="t">
            <a:noAutofit/>
          </a:bodyPr>
          <a:p>
            <a:endParaRPr lang="fr-FR" sz="1800" b="0" u="none" strike="noStrike">
              <a:solidFill>
                <a:srgbClr val="000000"/>
              </a:solidFill>
              <a:effectLst/>
              <a:uFillTx/>
              <a:latin typeface="Roboto"/>
            </a:endParaRPr>
          </a:p>
        </p:txBody>
      </p:sp>
      <p:sp>
        <p:nvSpPr>
          <p:cNvPr id="932" name="Shape 109"/>
          <p:cNvSpPr/>
          <p:nvPr/>
        </p:nvSpPr>
        <p:spPr>
          <a:xfrm>
            <a:off x="2923560" y="3762720"/>
            <a:ext cx="162360" cy="162360"/>
          </a:xfrm>
          <a:prstGeom prst="ellipse">
            <a:avLst/>
          </a:prstGeom>
          <a:solidFill>
            <a:srgbClr val="003CFF"/>
          </a:solidFill>
          <a:ln w="12700">
            <a:solidFill>
              <a:srgbClr val="26365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81360" tIns="45000" rIns="81360" bIns="45000" anchor="t">
            <a:noAutofit/>
          </a:bodyPr>
          <a:p>
            <a:endParaRPr lang="fr-FR" sz="1800" b="0" u="none" strike="noStrike">
              <a:solidFill>
                <a:srgbClr val="FFFFFF"/>
              </a:solidFill>
              <a:effectLst/>
              <a:uFillTx/>
              <a:latin typeface="Roboto"/>
            </a:endParaRPr>
          </a:p>
        </p:txBody>
      </p:sp>
      <p:sp>
        <p:nvSpPr>
          <p:cNvPr id="933" name="Text 110"/>
          <p:cNvSpPr/>
          <p:nvPr/>
        </p:nvSpPr>
        <p:spPr>
          <a:xfrm>
            <a:off x="3341160" y="3899880"/>
            <a:ext cx="637920" cy="217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1" u="none" strike="noStrike">
                <a:solidFill>
                  <a:srgbClr val="FF94FF"/>
                </a:solidFill>
                <a:effectLst/>
                <a:uFillTx/>
                <a:latin typeface="Roboto"/>
                <a:ea typeface="Roboto"/>
              </a:rPr>
              <a:t>0.17</a:t>
            </a:r>
            <a:endParaRPr lang="fr-FR" sz="9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34" name="Text 111"/>
          <p:cNvSpPr/>
          <p:nvPr/>
        </p:nvSpPr>
        <p:spPr>
          <a:xfrm>
            <a:off x="2685960" y="3534120"/>
            <a:ext cx="637920" cy="217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1" u="none" strike="noStrike">
                <a:solidFill>
                  <a:srgbClr val="003CFF"/>
                </a:solidFill>
                <a:effectLst/>
                <a:uFillTx/>
                <a:latin typeface="Roboto"/>
                <a:ea typeface="Roboto"/>
              </a:rPr>
              <a:t>-0.08</a:t>
            </a:r>
            <a:endParaRPr lang="fr-FR" sz="9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35" name="Text 112"/>
          <p:cNvSpPr/>
          <p:nvPr/>
        </p:nvSpPr>
        <p:spPr>
          <a:xfrm>
            <a:off x="658440" y="4238280"/>
            <a:ext cx="1396800" cy="32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FFFFFF"/>
                </a:solidFill>
                <a:effectLst/>
                <a:uFillTx/>
                <a:latin typeface="Roboto"/>
                <a:ea typeface="Roboto"/>
              </a:rPr>
              <a:t>Sincerity</a:t>
            </a:r>
            <a:endParaRPr lang="fr-FR" sz="11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36" name="Shape 113"/>
          <p:cNvSpPr/>
          <p:nvPr/>
        </p:nvSpPr>
        <p:spPr>
          <a:xfrm>
            <a:off x="2612520" y="4402800"/>
            <a:ext cx="340920" cy="360"/>
          </a:xfrm>
          <a:prstGeom prst="line">
            <a:avLst/>
          </a:prstGeom>
          <a:ln w="19050">
            <a:solidFill>
              <a:srgbClr val="5C668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fr-FR" sz="1800" b="0" u="none" strike="noStrike">
              <a:solidFill>
                <a:srgbClr val="FFFFFF"/>
              </a:solidFill>
              <a:effectLst/>
              <a:uFillTx/>
              <a:latin typeface="Roboto"/>
            </a:endParaRPr>
          </a:p>
        </p:txBody>
      </p:sp>
      <p:sp>
        <p:nvSpPr>
          <p:cNvPr id="937" name="Shape 114"/>
          <p:cNvSpPr/>
          <p:nvPr/>
        </p:nvSpPr>
        <p:spPr>
          <a:xfrm>
            <a:off x="2871360" y="4320720"/>
            <a:ext cx="162360" cy="162360"/>
          </a:xfrm>
          <a:prstGeom prst="ellipse">
            <a:avLst/>
          </a:prstGeom>
          <a:solidFill>
            <a:srgbClr val="FF94FF"/>
          </a:solidFill>
          <a:ln w="12700">
            <a:solidFill>
              <a:srgbClr val="26365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81360" tIns="45000" rIns="81360" bIns="45000" anchor="t">
            <a:noAutofit/>
          </a:bodyPr>
          <a:p>
            <a:endParaRPr lang="fr-FR" sz="1800" b="0" u="none" strike="noStrike">
              <a:solidFill>
                <a:srgbClr val="000000"/>
              </a:solidFill>
              <a:effectLst/>
              <a:uFillTx/>
              <a:latin typeface="Roboto"/>
            </a:endParaRPr>
          </a:p>
        </p:txBody>
      </p:sp>
      <p:sp>
        <p:nvSpPr>
          <p:cNvPr id="938" name="Shape 115"/>
          <p:cNvSpPr/>
          <p:nvPr/>
        </p:nvSpPr>
        <p:spPr>
          <a:xfrm>
            <a:off x="2530440" y="4320720"/>
            <a:ext cx="162360" cy="162360"/>
          </a:xfrm>
          <a:prstGeom prst="ellipse">
            <a:avLst/>
          </a:prstGeom>
          <a:solidFill>
            <a:srgbClr val="003CFF"/>
          </a:solidFill>
          <a:ln w="12700">
            <a:solidFill>
              <a:srgbClr val="26365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81360" tIns="45000" rIns="81360" bIns="45000" anchor="t">
            <a:noAutofit/>
          </a:bodyPr>
          <a:p>
            <a:endParaRPr lang="fr-FR" sz="1800" b="0" u="none" strike="noStrike">
              <a:solidFill>
                <a:srgbClr val="FFFFFF"/>
              </a:solidFill>
              <a:effectLst/>
              <a:uFillTx/>
              <a:latin typeface="Roboto"/>
            </a:endParaRPr>
          </a:p>
        </p:txBody>
      </p:sp>
      <p:sp>
        <p:nvSpPr>
          <p:cNvPr id="939" name="Text 116"/>
          <p:cNvSpPr/>
          <p:nvPr/>
        </p:nvSpPr>
        <p:spPr>
          <a:xfrm>
            <a:off x="2633400" y="4457880"/>
            <a:ext cx="637920" cy="217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1" u="none" strike="noStrike">
                <a:solidFill>
                  <a:srgbClr val="FF94FF"/>
                </a:solidFill>
                <a:effectLst/>
                <a:uFillTx/>
                <a:latin typeface="Roboto"/>
                <a:ea typeface="Roboto"/>
              </a:rPr>
              <a:t>-0.10</a:t>
            </a:r>
            <a:endParaRPr lang="fr-FR" sz="9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40" name="Text 117"/>
          <p:cNvSpPr/>
          <p:nvPr/>
        </p:nvSpPr>
        <p:spPr>
          <a:xfrm>
            <a:off x="2292840" y="4092120"/>
            <a:ext cx="637920" cy="217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1" u="none" strike="noStrike">
                <a:solidFill>
                  <a:srgbClr val="003CFF"/>
                </a:solidFill>
                <a:effectLst/>
                <a:uFillTx/>
                <a:latin typeface="Roboto"/>
                <a:ea typeface="Roboto"/>
              </a:rPr>
              <a:t>-0.23</a:t>
            </a:r>
            <a:endParaRPr lang="fr-FR" sz="9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41" name="Text 118"/>
          <p:cNvSpPr/>
          <p:nvPr/>
        </p:nvSpPr>
        <p:spPr>
          <a:xfrm>
            <a:off x="658440" y="4795920"/>
            <a:ext cx="1396800" cy="32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FFFFFF"/>
                </a:solidFill>
                <a:effectLst/>
                <a:uFillTx/>
                <a:latin typeface="Roboto"/>
                <a:ea typeface="Roboto"/>
              </a:rPr>
              <a:t>Ambition</a:t>
            </a:r>
            <a:endParaRPr lang="fr-FR" sz="11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42" name="Shape 119"/>
          <p:cNvSpPr/>
          <p:nvPr/>
        </p:nvSpPr>
        <p:spPr>
          <a:xfrm>
            <a:off x="2403000" y="4960440"/>
            <a:ext cx="288360" cy="360"/>
          </a:xfrm>
          <a:prstGeom prst="line">
            <a:avLst/>
          </a:prstGeom>
          <a:ln w="19050">
            <a:solidFill>
              <a:srgbClr val="5C668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fr-FR" sz="1800" b="0" u="none" strike="noStrike">
              <a:solidFill>
                <a:srgbClr val="FFFFFF"/>
              </a:solidFill>
              <a:effectLst/>
              <a:uFillTx/>
              <a:latin typeface="Roboto"/>
            </a:endParaRPr>
          </a:p>
        </p:txBody>
      </p:sp>
      <p:sp>
        <p:nvSpPr>
          <p:cNvPr id="943" name="Shape 120"/>
          <p:cNvSpPr/>
          <p:nvPr/>
        </p:nvSpPr>
        <p:spPr>
          <a:xfrm>
            <a:off x="2320920" y="4878360"/>
            <a:ext cx="162360" cy="162360"/>
          </a:xfrm>
          <a:prstGeom prst="ellipse">
            <a:avLst/>
          </a:prstGeom>
          <a:solidFill>
            <a:srgbClr val="FF94FF"/>
          </a:solidFill>
          <a:ln w="12700">
            <a:solidFill>
              <a:srgbClr val="26365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81360" tIns="45000" rIns="81360" bIns="45000" anchor="t">
            <a:noAutofit/>
          </a:bodyPr>
          <a:p>
            <a:endParaRPr lang="fr-FR" sz="1800" b="0" u="none" strike="noStrike">
              <a:solidFill>
                <a:srgbClr val="000000"/>
              </a:solidFill>
              <a:effectLst/>
              <a:uFillTx/>
              <a:latin typeface="Roboto"/>
            </a:endParaRPr>
          </a:p>
        </p:txBody>
      </p:sp>
      <p:sp>
        <p:nvSpPr>
          <p:cNvPr id="944" name="Shape 121"/>
          <p:cNvSpPr/>
          <p:nvPr/>
        </p:nvSpPr>
        <p:spPr>
          <a:xfrm>
            <a:off x="2608920" y="4878360"/>
            <a:ext cx="162360" cy="162360"/>
          </a:xfrm>
          <a:prstGeom prst="ellipse">
            <a:avLst/>
          </a:prstGeom>
          <a:solidFill>
            <a:srgbClr val="003CFF"/>
          </a:solidFill>
          <a:ln w="12700">
            <a:solidFill>
              <a:srgbClr val="26365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81360" tIns="45000" rIns="81360" bIns="45000" anchor="t">
            <a:noAutofit/>
          </a:bodyPr>
          <a:p>
            <a:endParaRPr lang="fr-FR" sz="1800" b="0" u="none" strike="noStrike">
              <a:solidFill>
                <a:srgbClr val="FFFFFF"/>
              </a:solidFill>
              <a:effectLst/>
              <a:uFillTx/>
              <a:latin typeface="Roboto"/>
            </a:endParaRPr>
          </a:p>
        </p:txBody>
      </p:sp>
      <p:sp>
        <p:nvSpPr>
          <p:cNvPr id="945" name="Text 122"/>
          <p:cNvSpPr/>
          <p:nvPr/>
        </p:nvSpPr>
        <p:spPr>
          <a:xfrm>
            <a:off x="2082960" y="4649760"/>
            <a:ext cx="637920" cy="217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1" u="none" strike="noStrike">
                <a:solidFill>
                  <a:srgbClr val="FF94FF"/>
                </a:solidFill>
                <a:effectLst/>
                <a:uFillTx/>
                <a:latin typeface="Roboto"/>
                <a:ea typeface="Roboto"/>
              </a:rPr>
              <a:t>-0.31</a:t>
            </a:r>
            <a:endParaRPr lang="fr-FR" sz="9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46" name="Text 123"/>
          <p:cNvSpPr/>
          <p:nvPr/>
        </p:nvSpPr>
        <p:spPr>
          <a:xfrm>
            <a:off x="2371320" y="5015520"/>
            <a:ext cx="637920" cy="217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1" u="none" strike="noStrike">
                <a:solidFill>
                  <a:srgbClr val="003CFF"/>
                </a:solidFill>
                <a:effectLst/>
                <a:uFillTx/>
                <a:latin typeface="Roboto"/>
                <a:ea typeface="Roboto"/>
              </a:rPr>
              <a:t>-0.20</a:t>
            </a:r>
            <a:endParaRPr lang="fr-FR" sz="9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47" name="Shape 124"/>
          <p:cNvSpPr/>
          <p:nvPr/>
        </p:nvSpPr>
        <p:spPr>
          <a:xfrm>
            <a:off x="2880360" y="5596200"/>
            <a:ext cx="126000" cy="126000"/>
          </a:xfrm>
          <a:prstGeom prst="ellipse">
            <a:avLst/>
          </a:prstGeom>
          <a:solidFill>
            <a:srgbClr val="FF94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63000" tIns="44640" rIns="63000" bIns="44640" anchor="t">
            <a:noAutofit/>
          </a:bodyPr>
          <a:p>
            <a:endParaRPr lang="fr-FR" sz="1800" b="0" u="none" strike="noStrike">
              <a:solidFill>
                <a:srgbClr val="000000"/>
              </a:solidFill>
              <a:effectLst/>
              <a:uFillTx/>
              <a:latin typeface="Roboto"/>
            </a:endParaRPr>
          </a:p>
        </p:txBody>
      </p:sp>
      <p:sp>
        <p:nvSpPr>
          <p:cNvPr id="948" name="Text 125"/>
          <p:cNvSpPr/>
          <p:nvPr/>
        </p:nvSpPr>
        <p:spPr>
          <a:xfrm>
            <a:off x="3063240" y="5568840"/>
            <a:ext cx="820800" cy="199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FFFFFF"/>
                </a:solidFill>
                <a:effectLst/>
                <a:uFillTx/>
                <a:latin typeface="Roboto"/>
                <a:ea typeface="Roboto"/>
              </a:rPr>
              <a:t>Female</a:t>
            </a:r>
            <a:endParaRPr lang="fr-FR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49" name="Shape 126"/>
          <p:cNvSpPr/>
          <p:nvPr/>
        </p:nvSpPr>
        <p:spPr>
          <a:xfrm>
            <a:off x="4023360" y="5596200"/>
            <a:ext cx="126000" cy="126000"/>
          </a:xfrm>
          <a:prstGeom prst="ellipse">
            <a:avLst/>
          </a:prstGeom>
          <a:solidFill>
            <a:srgbClr val="003C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63000" tIns="44640" rIns="63000" bIns="44640" anchor="t">
            <a:noAutofit/>
          </a:bodyPr>
          <a:p>
            <a:endParaRPr lang="fr-FR" sz="1800" b="0" u="none" strike="noStrike">
              <a:solidFill>
                <a:srgbClr val="FFFFFF"/>
              </a:solidFill>
              <a:effectLst/>
              <a:uFillTx/>
              <a:latin typeface="Roboto"/>
            </a:endParaRPr>
          </a:p>
        </p:txBody>
      </p:sp>
      <p:sp>
        <p:nvSpPr>
          <p:cNvPr id="950" name="Text 127"/>
          <p:cNvSpPr/>
          <p:nvPr/>
        </p:nvSpPr>
        <p:spPr>
          <a:xfrm>
            <a:off x="4206240" y="5568840"/>
            <a:ext cx="820800" cy="199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FFFFFF"/>
                </a:solidFill>
                <a:effectLst/>
                <a:uFillTx/>
                <a:latin typeface="Roboto"/>
                <a:ea typeface="Roboto"/>
              </a:rPr>
              <a:t>Male</a:t>
            </a:r>
            <a:endParaRPr lang="fr-FR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51" name="Shape 128"/>
          <p:cNvSpPr/>
          <p:nvPr/>
        </p:nvSpPr>
        <p:spPr>
          <a:xfrm>
            <a:off x="7589520" y="1280160"/>
            <a:ext cx="4140000" cy="2466720"/>
          </a:xfrm>
          <a:prstGeom prst="roundRect">
            <a:avLst>
              <a:gd name="adj" fmla="val 3333"/>
            </a:avLst>
          </a:prstGeom>
          <a:solidFill>
            <a:srgbClr val="263559"/>
          </a:solidFill>
          <a:ln w="12700">
            <a:solidFill>
              <a:srgbClr val="3D4B72"/>
            </a:solidFill>
            <a:round/>
          </a:ln>
          <a:effectLst>
            <a:outerShdw algn="bl" blurRad="101520" dir="5400000" dist="38160" kx="0" ky="0" rotWithShape="0" sx="100000" sy="10000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fr-FR" sz="1800" b="0" u="none" strike="noStrike">
              <a:solidFill>
                <a:srgbClr val="FFFFFF"/>
              </a:solidFill>
              <a:effectLst/>
              <a:uFillTx/>
              <a:latin typeface="Roboto"/>
            </a:endParaRPr>
          </a:p>
        </p:txBody>
      </p:sp>
      <p:sp>
        <p:nvSpPr>
          <p:cNvPr id="952" name="Text 129"/>
          <p:cNvSpPr/>
          <p:nvPr/>
        </p:nvSpPr>
        <p:spPr>
          <a:xfrm>
            <a:off x="7863840" y="1481400"/>
            <a:ext cx="3655440" cy="27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pc="150" strike="noStrike">
                <a:solidFill>
                  <a:srgbClr val="F2A65A"/>
                </a:solidFill>
                <a:effectLst/>
                <a:uFillTx/>
                <a:latin typeface="Roboto"/>
                <a:ea typeface="Roboto"/>
              </a:rPr>
              <a:t>THE KEY DIVERGENCE</a:t>
            </a:r>
            <a:endParaRPr lang="fr-FR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53" name="Text 130"/>
          <p:cNvSpPr/>
          <p:nvPr/>
        </p:nvSpPr>
        <p:spPr>
          <a:xfrm>
            <a:off x="7863840" y="1810440"/>
            <a:ext cx="3655440" cy="182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30000"/>
              </a:lnSpc>
              <a:tabLst>
                <a:tab pos="0" algn="l"/>
              </a:tabLst>
            </a:pPr>
            <a:r>
              <a:rPr lang="en-US" sz="1550" b="1" u="none" strike="noStrike">
                <a:solidFill>
                  <a:srgbClr val="FFFFFF"/>
                </a:solidFill>
                <a:effectLst/>
                <a:uFillTx/>
                <a:latin typeface="Roboto"/>
                <a:ea typeface="Roboto"/>
              </a:rPr>
              <a:t>Shared interests ranks LAST in stated importance, yet it's a top-3 real predictor of a 'yes' for both genders.</a:t>
            </a:r>
            <a:endParaRPr lang="fr-FR" sz="15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54" name="Shape 131"/>
          <p:cNvSpPr/>
          <p:nvPr/>
        </p:nvSpPr>
        <p:spPr>
          <a:xfrm>
            <a:off x="7589520" y="3886200"/>
            <a:ext cx="4140000" cy="2146680"/>
          </a:xfrm>
          <a:prstGeom prst="roundRect">
            <a:avLst>
              <a:gd name="adj" fmla="val 3830"/>
            </a:avLst>
          </a:prstGeom>
          <a:solidFill>
            <a:srgbClr val="263659"/>
          </a:solidFill>
          <a:ln w="12700">
            <a:solidFill>
              <a:srgbClr val="3D4B72"/>
            </a:solidFill>
            <a:round/>
          </a:ln>
          <a:effectLst>
            <a:outerShdw algn="bl" blurRad="101520" dir="5400000" dist="38160" kx="0" ky="0" rotWithShape="0" sx="100000" sy="10000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fr-FR" sz="1800" b="0" u="none" strike="noStrike">
              <a:solidFill>
                <a:srgbClr val="FFFFFF"/>
              </a:solidFill>
              <a:effectLst/>
              <a:uFillTx/>
              <a:latin typeface="Roboto"/>
            </a:endParaRPr>
          </a:p>
        </p:txBody>
      </p:sp>
      <p:sp>
        <p:nvSpPr>
          <p:cNvPr id="955" name="Text 132"/>
          <p:cNvSpPr/>
          <p:nvPr/>
        </p:nvSpPr>
        <p:spPr>
          <a:xfrm>
            <a:off x="7863840" y="4069080"/>
            <a:ext cx="3655440" cy="2009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3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Roboto"/>
                <a:ea typeface="Roboto"/>
              </a:rPr>
              <a:t>Attractiveness is the strongest predictor for both genders, even more so for men. Sincerity, intelligence and ambition contribute little once the others are in the model.</a:t>
            </a:r>
            <a:endParaRPr lang="fr-FR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56" name="Shape 133"/>
          <p:cNvSpPr/>
          <p:nvPr/>
        </p:nvSpPr>
        <p:spPr>
          <a:xfrm>
            <a:off x="548640" y="6263640"/>
            <a:ext cx="11091600" cy="360"/>
          </a:xfrm>
          <a:prstGeom prst="line">
            <a:avLst/>
          </a:prstGeom>
          <a:ln w="12700">
            <a:solidFill>
              <a:srgbClr val="3D4B7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fr-FR" sz="1800" b="0" u="none" strike="noStrike">
              <a:solidFill>
                <a:srgbClr val="FFFFFF"/>
              </a:solidFill>
              <a:effectLst/>
              <a:uFillTx/>
              <a:latin typeface="Roboto"/>
            </a:endParaRPr>
          </a:p>
        </p:txBody>
      </p:sp>
      <p:sp>
        <p:nvSpPr>
          <p:cNvPr id="957" name="Text 134"/>
          <p:cNvSpPr/>
          <p:nvPr/>
        </p:nvSpPr>
        <p:spPr>
          <a:xfrm>
            <a:off x="457200" y="6355080"/>
            <a:ext cx="8227440" cy="27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5C6684"/>
                </a:solidFill>
                <a:effectLst/>
                <a:uFillTx/>
                <a:latin typeface="Roboto"/>
                <a:ea typeface="Roboto"/>
              </a:rPr>
              <a:t>Speed dating experiment · Attraction, preferences &amp; machine learning</a:t>
            </a:r>
            <a:endParaRPr lang="fr-FR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58" name="Text 135"/>
          <p:cNvSpPr/>
          <p:nvPr/>
        </p:nvSpPr>
        <p:spPr>
          <a:xfrm>
            <a:off x="11274480" y="6355080"/>
            <a:ext cx="455040" cy="27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5C6684"/>
                </a:solidFill>
                <a:effectLst/>
                <a:uFillTx/>
                <a:latin typeface="Roboto"/>
                <a:ea typeface="Roboto"/>
              </a:rPr>
              <a:t>09</a:t>
            </a:r>
            <a:endParaRPr lang="fr-FR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9" name="Shape 0"/>
          <p:cNvSpPr/>
          <p:nvPr/>
        </p:nvSpPr>
        <p:spPr>
          <a:xfrm>
            <a:off x="0" y="0"/>
            <a:ext cx="360" cy="6858000"/>
          </a:xfrm>
          <a:prstGeom prst="line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0" tIns="45000" rIns="0" bIns="45000" anchor="t" anchorCtr="1">
            <a:noAutofit/>
          </a:bodyPr>
          <a:p>
            <a:endParaRPr lang="fr-FR" sz="1800" b="0" u="none" strike="noStrike">
              <a:solidFill>
                <a:srgbClr val="FFFFFF"/>
              </a:solidFill>
              <a:effectLst/>
              <a:uFillTx/>
              <a:latin typeface="Roboto"/>
            </a:endParaRPr>
          </a:p>
        </p:txBody>
      </p:sp>
      <p:sp>
        <p:nvSpPr>
          <p:cNvPr id="960" name="Shape 1"/>
          <p:cNvSpPr/>
          <p:nvPr/>
        </p:nvSpPr>
        <p:spPr>
          <a:xfrm>
            <a:off x="304560" y="0"/>
            <a:ext cx="360" cy="6858000"/>
          </a:xfrm>
          <a:prstGeom prst="line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0" tIns="45000" rIns="0" bIns="45000" anchor="t" anchorCtr="1">
            <a:noAutofit/>
          </a:bodyPr>
          <a:p>
            <a:endParaRPr lang="fr-FR" sz="1800" b="0" u="none" strike="noStrike">
              <a:solidFill>
                <a:srgbClr val="FFFFFF"/>
              </a:solidFill>
              <a:effectLst/>
              <a:uFillTx/>
              <a:latin typeface="Roboto"/>
            </a:endParaRPr>
          </a:p>
        </p:txBody>
      </p:sp>
      <p:sp>
        <p:nvSpPr>
          <p:cNvPr id="961" name="Shape 2"/>
          <p:cNvSpPr/>
          <p:nvPr/>
        </p:nvSpPr>
        <p:spPr>
          <a:xfrm>
            <a:off x="609480" y="0"/>
            <a:ext cx="360" cy="6858000"/>
          </a:xfrm>
          <a:prstGeom prst="line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0" tIns="45000" rIns="0" bIns="45000" anchor="t" anchorCtr="1">
            <a:noAutofit/>
          </a:bodyPr>
          <a:p>
            <a:endParaRPr lang="fr-FR" sz="1800" b="0" u="none" strike="noStrike">
              <a:solidFill>
                <a:srgbClr val="FFFFFF"/>
              </a:solidFill>
              <a:effectLst/>
              <a:uFillTx/>
              <a:latin typeface="Roboto"/>
            </a:endParaRPr>
          </a:p>
        </p:txBody>
      </p:sp>
      <p:sp>
        <p:nvSpPr>
          <p:cNvPr id="962" name="Shape 3"/>
          <p:cNvSpPr/>
          <p:nvPr/>
        </p:nvSpPr>
        <p:spPr>
          <a:xfrm>
            <a:off x="914040" y="0"/>
            <a:ext cx="360" cy="6858000"/>
          </a:xfrm>
          <a:prstGeom prst="line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0" tIns="45000" rIns="0" bIns="45000" anchor="t" anchorCtr="1">
            <a:noAutofit/>
          </a:bodyPr>
          <a:p>
            <a:endParaRPr lang="fr-FR" sz="1800" b="0" u="none" strike="noStrike">
              <a:solidFill>
                <a:srgbClr val="FFFFFF"/>
              </a:solidFill>
              <a:effectLst/>
              <a:uFillTx/>
              <a:latin typeface="Roboto"/>
            </a:endParaRPr>
          </a:p>
        </p:txBody>
      </p:sp>
      <p:sp>
        <p:nvSpPr>
          <p:cNvPr id="963" name="Shape 4"/>
          <p:cNvSpPr/>
          <p:nvPr/>
        </p:nvSpPr>
        <p:spPr>
          <a:xfrm>
            <a:off x="1218960" y="0"/>
            <a:ext cx="360" cy="6858000"/>
          </a:xfrm>
          <a:prstGeom prst="line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0" tIns="45000" rIns="0" bIns="45000" anchor="t" anchorCtr="1">
            <a:noAutofit/>
          </a:bodyPr>
          <a:p>
            <a:endParaRPr lang="fr-FR" sz="1800" b="0" u="none" strike="noStrike">
              <a:solidFill>
                <a:srgbClr val="FFFFFF"/>
              </a:solidFill>
              <a:effectLst/>
              <a:uFillTx/>
              <a:latin typeface="Roboto"/>
            </a:endParaRPr>
          </a:p>
        </p:txBody>
      </p:sp>
      <p:sp>
        <p:nvSpPr>
          <p:cNvPr id="964" name="Shape 5"/>
          <p:cNvSpPr/>
          <p:nvPr/>
        </p:nvSpPr>
        <p:spPr>
          <a:xfrm>
            <a:off x="1523520" y="0"/>
            <a:ext cx="360" cy="6858000"/>
          </a:xfrm>
          <a:prstGeom prst="line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0" tIns="45000" rIns="0" bIns="45000" anchor="t" anchorCtr="1">
            <a:noAutofit/>
          </a:bodyPr>
          <a:p>
            <a:endParaRPr lang="fr-FR" sz="1800" b="0" u="none" strike="noStrike">
              <a:solidFill>
                <a:srgbClr val="FFFFFF"/>
              </a:solidFill>
              <a:effectLst/>
              <a:uFillTx/>
              <a:latin typeface="Roboto"/>
            </a:endParaRPr>
          </a:p>
        </p:txBody>
      </p:sp>
      <p:sp>
        <p:nvSpPr>
          <p:cNvPr id="965" name="Shape 6"/>
          <p:cNvSpPr/>
          <p:nvPr/>
        </p:nvSpPr>
        <p:spPr>
          <a:xfrm>
            <a:off x="1828440" y="0"/>
            <a:ext cx="360" cy="6858000"/>
          </a:xfrm>
          <a:prstGeom prst="line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0" tIns="45000" rIns="0" bIns="45000" anchor="t" anchorCtr="1">
            <a:noAutofit/>
          </a:bodyPr>
          <a:p>
            <a:endParaRPr lang="fr-FR" sz="1800" b="0" u="none" strike="noStrike">
              <a:solidFill>
                <a:srgbClr val="FFFFFF"/>
              </a:solidFill>
              <a:effectLst/>
              <a:uFillTx/>
              <a:latin typeface="Roboto"/>
            </a:endParaRPr>
          </a:p>
        </p:txBody>
      </p:sp>
      <p:sp>
        <p:nvSpPr>
          <p:cNvPr id="966" name="Shape 7"/>
          <p:cNvSpPr/>
          <p:nvPr/>
        </p:nvSpPr>
        <p:spPr>
          <a:xfrm>
            <a:off x="2133360" y="0"/>
            <a:ext cx="360" cy="6858000"/>
          </a:xfrm>
          <a:prstGeom prst="line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0" tIns="45000" rIns="0" bIns="45000" anchor="t" anchorCtr="1">
            <a:noAutofit/>
          </a:bodyPr>
          <a:p>
            <a:endParaRPr lang="fr-FR" sz="1800" b="0" u="none" strike="noStrike">
              <a:solidFill>
                <a:srgbClr val="FFFFFF"/>
              </a:solidFill>
              <a:effectLst/>
              <a:uFillTx/>
              <a:latin typeface="Roboto"/>
            </a:endParaRPr>
          </a:p>
        </p:txBody>
      </p:sp>
      <p:sp>
        <p:nvSpPr>
          <p:cNvPr id="967" name="Shape 8"/>
          <p:cNvSpPr/>
          <p:nvPr/>
        </p:nvSpPr>
        <p:spPr>
          <a:xfrm>
            <a:off x="2437920" y="0"/>
            <a:ext cx="360" cy="6858000"/>
          </a:xfrm>
          <a:prstGeom prst="line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0" tIns="45000" rIns="0" bIns="45000" anchor="t" anchorCtr="1">
            <a:noAutofit/>
          </a:bodyPr>
          <a:p>
            <a:endParaRPr lang="fr-FR" sz="1800" b="0" u="none" strike="noStrike">
              <a:solidFill>
                <a:srgbClr val="FFFFFF"/>
              </a:solidFill>
              <a:effectLst/>
              <a:uFillTx/>
              <a:latin typeface="Roboto"/>
            </a:endParaRPr>
          </a:p>
        </p:txBody>
      </p:sp>
      <p:sp>
        <p:nvSpPr>
          <p:cNvPr id="968" name="Shape 9"/>
          <p:cNvSpPr/>
          <p:nvPr/>
        </p:nvSpPr>
        <p:spPr>
          <a:xfrm>
            <a:off x="2742840" y="0"/>
            <a:ext cx="360" cy="6858000"/>
          </a:xfrm>
          <a:prstGeom prst="line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0" tIns="45000" rIns="0" bIns="45000" anchor="t" anchorCtr="1">
            <a:noAutofit/>
          </a:bodyPr>
          <a:p>
            <a:endParaRPr lang="fr-FR" sz="1800" b="0" u="none" strike="noStrike">
              <a:solidFill>
                <a:srgbClr val="FFFFFF"/>
              </a:solidFill>
              <a:effectLst/>
              <a:uFillTx/>
              <a:latin typeface="Roboto"/>
            </a:endParaRPr>
          </a:p>
        </p:txBody>
      </p:sp>
      <p:sp>
        <p:nvSpPr>
          <p:cNvPr id="969" name="Shape 10"/>
          <p:cNvSpPr/>
          <p:nvPr/>
        </p:nvSpPr>
        <p:spPr>
          <a:xfrm>
            <a:off x="3047400" y="0"/>
            <a:ext cx="360" cy="6858000"/>
          </a:xfrm>
          <a:prstGeom prst="line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0" tIns="45000" rIns="0" bIns="45000" anchor="t" anchorCtr="1">
            <a:noAutofit/>
          </a:bodyPr>
          <a:p>
            <a:endParaRPr lang="fr-FR" sz="1800" b="0" u="none" strike="noStrike">
              <a:solidFill>
                <a:srgbClr val="FFFFFF"/>
              </a:solidFill>
              <a:effectLst/>
              <a:uFillTx/>
              <a:latin typeface="Roboto"/>
            </a:endParaRPr>
          </a:p>
        </p:txBody>
      </p:sp>
      <p:sp>
        <p:nvSpPr>
          <p:cNvPr id="970" name="Shape 11"/>
          <p:cNvSpPr/>
          <p:nvPr/>
        </p:nvSpPr>
        <p:spPr>
          <a:xfrm>
            <a:off x="3352320" y="0"/>
            <a:ext cx="360" cy="6858000"/>
          </a:xfrm>
          <a:prstGeom prst="line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0" tIns="45000" rIns="0" bIns="45000" anchor="t" anchorCtr="1">
            <a:noAutofit/>
          </a:bodyPr>
          <a:p>
            <a:endParaRPr lang="fr-FR" sz="1800" b="0" u="none" strike="noStrike">
              <a:solidFill>
                <a:srgbClr val="FFFFFF"/>
              </a:solidFill>
              <a:effectLst/>
              <a:uFillTx/>
              <a:latin typeface="Roboto"/>
            </a:endParaRPr>
          </a:p>
        </p:txBody>
      </p:sp>
      <p:sp>
        <p:nvSpPr>
          <p:cNvPr id="971" name="Shape 12"/>
          <p:cNvSpPr/>
          <p:nvPr/>
        </p:nvSpPr>
        <p:spPr>
          <a:xfrm>
            <a:off x="3656880" y="0"/>
            <a:ext cx="360" cy="6858000"/>
          </a:xfrm>
          <a:prstGeom prst="line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0" tIns="45000" rIns="0" bIns="45000" anchor="t" anchorCtr="1">
            <a:noAutofit/>
          </a:bodyPr>
          <a:p>
            <a:endParaRPr lang="fr-FR" sz="1800" b="0" u="none" strike="noStrike">
              <a:solidFill>
                <a:srgbClr val="FFFFFF"/>
              </a:solidFill>
              <a:effectLst/>
              <a:uFillTx/>
              <a:latin typeface="Roboto"/>
            </a:endParaRPr>
          </a:p>
        </p:txBody>
      </p:sp>
      <p:sp>
        <p:nvSpPr>
          <p:cNvPr id="972" name="Shape 13"/>
          <p:cNvSpPr/>
          <p:nvPr/>
        </p:nvSpPr>
        <p:spPr>
          <a:xfrm>
            <a:off x="3961800" y="0"/>
            <a:ext cx="360" cy="6858000"/>
          </a:xfrm>
          <a:prstGeom prst="line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0" tIns="45000" rIns="0" bIns="45000" anchor="t" anchorCtr="1">
            <a:noAutofit/>
          </a:bodyPr>
          <a:p>
            <a:endParaRPr lang="fr-FR" sz="1800" b="0" u="none" strike="noStrike">
              <a:solidFill>
                <a:srgbClr val="FFFFFF"/>
              </a:solidFill>
              <a:effectLst/>
              <a:uFillTx/>
              <a:latin typeface="Roboto"/>
            </a:endParaRPr>
          </a:p>
        </p:txBody>
      </p:sp>
      <p:sp>
        <p:nvSpPr>
          <p:cNvPr id="973" name="Shape 14"/>
          <p:cNvSpPr/>
          <p:nvPr/>
        </p:nvSpPr>
        <p:spPr>
          <a:xfrm>
            <a:off x="4266720" y="0"/>
            <a:ext cx="360" cy="6858000"/>
          </a:xfrm>
          <a:prstGeom prst="line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0" tIns="45000" rIns="0" bIns="45000" anchor="t" anchorCtr="1">
            <a:noAutofit/>
          </a:bodyPr>
          <a:p>
            <a:endParaRPr lang="fr-FR" sz="1800" b="0" u="none" strike="noStrike">
              <a:solidFill>
                <a:srgbClr val="FFFFFF"/>
              </a:solidFill>
              <a:effectLst/>
              <a:uFillTx/>
              <a:latin typeface="Roboto"/>
            </a:endParaRPr>
          </a:p>
        </p:txBody>
      </p:sp>
      <p:sp>
        <p:nvSpPr>
          <p:cNvPr id="974" name="Shape 15"/>
          <p:cNvSpPr/>
          <p:nvPr/>
        </p:nvSpPr>
        <p:spPr>
          <a:xfrm>
            <a:off x="4571280" y="0"/>
            <a:ext cx="360" cy="6858000"/>
          </a:xfrm>
          <a:prstGeom prst="line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0" tIns="45000" rIns="0" bIns="45000" anchor="t" anchorCtr="1">
            <a:noAutofit/>
          </a:bodyPr>
          <a:p>
            <a:endParaRPr lang="fr-FR" sz="1800" b="0" u="none" strike="noStrike">
              <a:solidFill>
                <a:srgbClr val="FFFFFF"/>
              </a:solidFill>
              <a:effectLst/>
              <a:uFillTx/>
              <a:latin typeface="Roboto"/>
            </a:endParaRPr>
          </a:p>
        </p:txBody>
      </p:sp>
      <p:sp>
        <p:nvSpPr>
          <p:cNvPr id="975" name="Shape 16"/>
          <p:cNvSpPr/>
          <p:nvPr/>
        </p:nvSpPr>
        <p:spPr>
          <a:xfrm>
            <a:off x="4876200" y="0"/>
            <a:ext cx="360" cy="6858000"/>
          </a:xfrm>
          <a:prstGeom prst="line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0" tIns="45000" rIns="0" bIns="45000" anchor="t" anchorCtr="1">
            <a:noAutofit/>
          </a:bodyPr>
          <a:p>
            <a:endParaRPr lang="fr-FR" sz="1800" b="0" u="none" strike="noStrike">
              <a:solidFill>
                <a:srgbClr val="FFFFFF"/>
              </a:solidFill>
              <a:effectLst/>
              <a:uFillTx/>
              <a:latin typeface="Roboto"/>
            </a:endParaRPr>
          </a:p>
        </p:txBody>
      </p:sp>
      <p:sp>
        <p:nvSpPr>
          <p:cNvPr id="976" name="Shape 17"/>
          <p:cNvSpPr/>
          <p:nvPr/>
        </p:nvSpPr>
        <p:spPr>
          <a:xfrm>
            <a:off x="5180760" y="0"/>
            <a:ext cx="360" cy="6858000"/>
          </a:xfrm>
          <a:prstGeom prst="line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0" tIns="45000" rIns="0" bIns="45000" anchor="t" anchorCtr="1">
            <a:noAutofit/>
          </a:bodyPr>
          <a:p>
            <a:endParaRPr lang="fr-FR" sz="1800" b="0" u="none" strike="noStrike">
              <a:solidFill>
                <a:srgbClr val="FFFFFF"/>
              </a:solidFill>
              <a:effectLst/>
              <a:uFillTx/>
              <a:latin typeface="Roboto"/>
            </a:endParaRPr>
          </a:p>
        </p:txBody>
      </p:sp>
      <p:sp>
        <p:nvSpPr>
          <p:cNvPr id="977" name="Shape 18"/>
          <p:cNvSpPr/>
          <p:nvPr/>
        </p:nvSpPr>
        <p:spPr>
          <a:xfrm>
            <a:off x="5485680" y="0"/>
            <a:ext cx="360" cy="6858000"/>
          </a:xfrm>
          <a:prstGeom prst="line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0" tIns="45000" rIns="0" bIns="45000" anchor="t" anchorCtr="1">
            <a:noAutofit/>
          </a:bodyPr>
          <a:p>
            <a:endParaRPr lang="fr-FR" sz="1800" b="0" u="none" strike="noStrike">
              <a:solidFill>
                <a:srgbClr val="FFFFFF"/>
              </a:solidFill>
              <a:effectLst/>
              <a:uFillTx/>
              <a:latin typeface="Roboto"/>
            </a:endParaRPr>
          </a:p>
        </p:txBody>
      </p:sp>
      <p:sp>
        <p:nvSpPr>
          <p:cNvPr id="978" name="Shape 19"/>
          <p:cNvSpPr/>
          <p:nvPr/>
        </p:nvSpPr>
        <p:spPr>
          <a:xfrm>
            <a:off x="5790600" y="0"/>
            <a:ext cx="360" cy="6858000"/>
          </a:xfrm>
          <a:prstGeom prst="line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0" tIns="45000" rIns="0" bIns="45000" anchor="t" anchorCtr="1">
            <a:noAutofit/>
          </a:bodyPr>
          <a:p>
            <a:endParaRPr lang="fr-FR" sz="1800" b="0" u="none" strike="noStrike">
              <a:solidFill>
                <a:srgbClr val="FFFFFF"/>
              </a:solidFill>
              <a:effectLst/>
              <a:uFillTx/>
              <a:latin typeface="Roboto"/>
            </a:endParaRPr>
          </a:p>
        </p:txBody>
      </p:sp>
      <p:sp>
        <p:nvSpPr>
          <p:cNvPr id="979" name="Shape 20"/>
          <p:cNvSpPr/>
          <p:nvPr/>
        </p:nvSpPr>
        <p:spPr>
          <a:xfrm>
            <a:off x="6095160" y="0"/>
            <a:ext cx="360" cy="6858000"/>
          </a:xfrm>
          <a:prstGeom prst="line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0" tIns="45000" rIns="0" bIns="45000" anchor="t" anchorCtr="1">
            <a:noAutofit/>
          </a:bodyPr>
          <a:p>
            <a:endParaRPr lang="fr-FR" sz="1800" b="0" u="none" strike="noStrike">
              <a:solidFill>
                <a:srgbClr val="FFFFFF"/>
              </a:solidFill>
              <a:effectLst/>
              <a:uFillTx/>
              <a:latin typeface="Roboto"/>
            </a:endParaRPr>
          </a:p>
        </p:txBody>
      </p:sp>
      <p:sp>
        <p:nvSpPr>
          <p:cNvPr id="980" name="Shape 21"/>
          <p:cNvSpPr/>
          <p:nvPr/>
        </p:nvSpPr>
        <p:spPr>
          <a:xfrm>
            <a:off x="6400080" y="0"/>
            <a:ext cx="360" cy="6858000"/>
          </a:xfrm>
          <a:prstGeom prst="line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0" tIns="45000" rIns="0" bIns="45000" anchor="t" anchorCtr="1">
            <a:noAutofit/>
          </a:bodyPr>
          <a:p>
            <a:endParaRPr lang="fr-FR" sz="1800" b="0" u="none" strike="noStrike">
              <a:solidFill>
                <a:srgbClr val="FFFFFF"/>
              </a:solidFill>
              <a:effectLst/>
              <a:uFillTx/>
              <a:latin typeface="Roboto"/>
            </a:endParaRPr>
          </a:p>
        </p:txBody>
      </p:sp>
      <p:sp>
        <p:nvSpPr>
          <p:cNvPr id="981" name="Shape 22"/>
          <p:cNvSpPr/>
          <p:nvPr/>
        </p:nvSpPr>
        <p:spPr>
          <a:xfrm>
            <a:off x="6704640" y="0"/>
            <a:ext cx="360" cy="6858000"/>
          </a:xfrm>
          <a:prstGeom prst="line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0" tIns="45000" rIns="0" bIns="45000" anchor="t" anchorCtr="1">
            <a:noAutofit/>
          </a:bodyPr>
          <a:p>
            <a:endParaRPr lang="fr-FR" sz="1800" b="0" u="none" strike="noStrike">
              <a:solidFill>
                <a:srgbClr val="FFFFFF"/>
              </a:solidFill>
              <a:effectLst/>
              <a:uFillTx/>
              <a:latin typeface="Roboto"/>
            </a:endParaRPr>
          </a:p>
        </p:txBody>
      </p:sp>
      <p:sp>
        <p:nvSpPr>
          <p:cNvPr id="982" name="Shape 23"/>
          <p:cNvSpPr/>
          <p:nvPr/>
        </p:nvSpPr>
        <p:spPr>
          <a:xfrm>
            <a:off x="7009560" y="0"/>
            <a:ext cx="360" cy="6858000"/>
          </a:xfrm>
          <a:prstGeom prst="line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0" tIns="45000" rIns="0" bIns="45000" anchor="t" anchorCtr="1">
            <a:noAutofit/>
          </a:bodyPr>
          <a:p>
            <a:endParaRPr lang="fr-FR" sz="1800" b="0" u="none" strike="noStrike">
              <a:solidFill>
                <a:srgbClr val="FFFFFF"/>
              </a:solidFill>
              <a:effectLst/>
              <a:uFillTx/>
              <a:latin typeface="Roboto"/>
            </a:endParaRPr>
          </a:p>
        </p:txBody>
      </p:sp>
      <p:sp>
        <p:nvSpPr>
          <p:cNvPr id="983" name="Shape 24"/>
          <p:cNvSpPr/>
          <p:nvPr/>
        </p:nvSpPr>
        <p:spPr>
          <a:xfrm>
            <a:off x="7314120" y="0"/>
            <a:ext cx="360" cy="6858000"/>
          </a:xfrm>
          <a:prstGeom prst="line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0" tIns="45000" rIns="0" bIns="45000" anchor="t" anchorCtr="1">
            <a:noAutofit/>
          </a:bodyPr>
          <a:p>
            <a:endParaRPr lang="fr-FR" sz="1800" b="0" u="none" strike="noStrike">
              <a:solidFill>
                <a:srgbClr val="FFFFFF"/>
              </a:solidFill>
              <a:effectLst/>
              <a:uFillTx/>
              <a:latin typeface="Roboto"/>
            </a:endParaRPr>
          </a:p>
        </p:txBody>
      </p:sp>
      <p:sp>
        <p:nvSpPr>
          <p:cNvPr id="984" name="Shape 25"/>
          <p:cNvSpPr/>
          <p:nvPr/>
        </p:nvSpPr>
        <p:spPr>
          <a:xfrm>
            <a:off x="7619040" y="0"/>
            <a:ext cx="360" cy="6858000"/>
          </a:xfrm>
          <a:prstGeom prst="line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0" tIns="45000" rIns="0" bIns="45000" anchor="t" anchorCtr="1">
            <a:noAutofit/>
          </a:bodyPr>
          <a:p>
            <a:endParaRPr lang="fr-FR" sz="1800" b="0" u="none" strike="noStrike">
              <a:solidFill>
                <a:srgbClr val="FFFFFF"/>
              </a:solidFill>
              <a:effectLst/>
              <a:uFillTx/>
              <a:latin typeface="Roboto"/>
            </a:endParaRPr>
          </a:p>
        </p:txBody>
      </p:sp>
      <p:sp>
        <p:nvSpPr>
          <p:cNvPr id="985" name="Shape 26"/>
          <p:cNvSpPr/>
          <p:nvPr/>
        </p:nvSpPr>
        <p:spPr>
          <a:xfrm>
            <a:off x="7923960" y="0"/>
            <a:ext cx="360" cy="6858000"/>
          </a:xfrm>
          <a:prstGeom prst="line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0" tIns="45000" rIns="0" bIns="45000" anchor="t" anchorCtr="1">
            <a:noAutofit/>
          </a:bodyPr>
          <a:p>
            <a:endParaRPr lang="fr-FR" sz="1800" b="0" u="none" strike="noStrike">
              <a:solidFill>
                <a:srgbClr val="FFFFFF"/>
              </a:solidFill>
              <a:effectLst/>
              <a:uFillTx/>
              <a:latin typeface="Roboto"/>
            </a:endParaRPr>
          </a:p>
        </p:txBody>
      </p:sp>
      <p:sp>
        <p:nvSpPr>
          <p:cNvPr id="986" name="Shape 27"/>
          <p:cNvSpPr/>
          <p:nvPr/>
        </p:nvSpPr>
        <p:spPr>
          <a:xfrm>
            <a:off x="8228520" y="0"/>
            <a:ext cx="360" cy="6858000"/>
          </a:xfrm>
          <a:prstGeom prst="line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0" tIns="45000" rIns="0" bIns="45000" anchor="t" anchorCtr="1">
            <a:noAutofit/>
          </a:bodyPr>
          <a:p>
            <a:endParaRPr lang="fr-FR" sz="1800" b="0" u="none" strike="noStrike">
              <a:solidFill>
                <a:srgbClr val="FFFFFF"/>
              </a:solidFill>
              <a:effectLst/>
              <a:uFillTx/>
              <a:latin typeface="Roboto"/>
            </a:endParaRPr>
          </a:p>
        </p:txBody>
      </p:sp>
      <p:sp>
        <p:nvSpPr>
          <p:cNvPr id="987" name="Shape 28"/>
          <p:cNvSpPr/>
          <p:nvPr/>
        </p:nvSpPr>
        <p:spPr>
          <a:xfrm>
            <a:off x="8533440" y="0"/>
            <a:ext cx="360" cy="6858000"/>
          </a:xfrm>
          <a:prstGeom prst="line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0" tIns="45000" rIns="0" bIns="45000" anchor="t" anchorCtr="1">
            <a:noAutofit/>
          </a:bodyPr>
          <a:p>
            <a:endParaRPr lang="fr-FR" sz="1800" b="0" u="none" strike="noStrike">
              <a:solidFill>
                <a:srgbClr val="FFFFFF"/>
              </a:solidFill>
              <a:effectLst/>
              <a:uFillTx/>
              <a:latin typeface="Roboto"/>
            </a:endParaRPr>
          </a:p>
        </p:txBody>
      </p:sp>
      <p:sp>
        <p:nvSpPr>
          <p:cNvPr id="988" name="Shape 29"/>
          <p:cNvSpPr/>
          <p:nvPr/>
        </p:nvSpPr>
        <p:spPr>
          <a:xfrm>
            <a:off x="8838000" y="0"/>
            <a:ext cx="360" cy="6858000"/>
          </a:xfrm>
          <a:prstGeom prst="line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0" tIns="45000" rIns="0" bIns="45000" anchor="t" anchorCtr="1">
            <a:noAutofit/>
          </a:bodyPr>
          <a:p>
            <a:endParaRPr lang="fr-FR" sz="1800" b="0" u="none" strike="noStrike">
              <a:solidFill>
                <a:srgbClr val="FFFFFF"/>
              </a:solidFill>
              <a:effectLst/>
              <a:uFillTx/>
              <a:latin typeface="Roboto"/>
            </a:endParaRPr>
          </a:p>
        </p:txBody>
      </p:sp>
      <p:sp>
        <p:nvSpPr>
          <p:cNvPr id="989" name="Shape 30"/>
          <p:cNvSpPr/>
          <p:nvPr/>
        </p:nvSpPr>
        <p:spPr>
          <a:xfrm>
            <a:off x="9142920" y="0"/>
            <a:ext cx="360" cy="6858000"/>
          </a:xfrm>
          <a:prstGeom prst="line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0" tIns="45000" rIns="0" bIns="45000" anchor="t" anchorCtr="1">
            <a:noAutofit/>
          </a:bodyPr>
          <a:p>
            <a:endParaRPr lang="fr-FR" sz="1800" b="0" u="none" strike="noStrike">
              <a:solidFill>
                <a:srgbClr val="FFFFFF"/>
              </a:solidFill>
              <a:effectLst/>
              <a:uFillTx/>
              <a:latin typeface="Roboto"/>
            </a:endParaRPr>
          </a:p>
        </p:txBody>
      </p:sp>
      <p:sp>
        <p:nvSpPr>
          <p:cNvPr id="990" name="Shape 31"/>
          <p:cNvSpPr/>
          <p:nvPr/>
        </p:nvSpPr>
        <p:spPr>
          <a:xfrm>
            <a:off x="9447840" y="0"/>
            <a:ext cx="360" cy="6858000"/>
          </a:xfrm>
          <a:prstGeom prst="line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0" tIns="45000" rIns="0" bIns="45000" anchor="t" anchorCtr="1">
            <a:noAutofit/>
          </a:bodyPr>
          <a:p>
            <a:endParaRPr lang="fr-FR" sz="1800" b="0" u="none" strike="noStrike">
              <a:solidFill>
                <a:srgbClr val="FFFFFF"/>
              </a:solidFill>
              <a:effectLst/>
              <a:uFillTx/>
              <a:latin typeface="Roboto"/>
            </a:endParaRPr>
          </a:p>
        </p:txBody>
      </p:sp>
      <p:sp>
        <p:nvSpPr>
          <p:cNvPr id="991" name="Shape 32"/>
          <p:cNvSpPr/>
          <p:nvPr/>
        </p:nvSpPr>
        <p:spPr>
          <a:xfrm>
            <a:off x="9752400" y="0"/>
            <a:ext cx="360" cy="6858000"/>
          </a:xfrm>
          <a:prstGeom prst="line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0" tIns="45000" rIns="0" bIns="45000" anchor="t" anchorCtr="1">
            <a:noAutofit/>
          </a:bodyPr>
          <a:p>
            <a:endParaRPr lang="fr-FR" sz="1800" b="0" u="none" strike="noStrike">
              <a:solidFill>
                <a:srgbClr val="FFFFFF"/>
              </a:solidFill>
              <a:effectLst/>
              <a:uFillTx/>
              <a:latin typeface="Roboto"/>
            </a:endParaRPr>
          </a:p>
        </p:txBody>
      </p:sp>
      <p:sp>
        <p:nvSpPr>
          <p:cNvPr id="992" name="Shape 33"/>
          <p:cNvSpPr/>
          <p:nvPr/>
        </p:nvSpPr>
        <p:spPr>
          <a:xfrm>
            <a:off x="10057320" y="0"/>
            <a:ext cx="360" cy="6858000"/>
          </a:xfrm>
          <a:prstGeom prst="line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0" tIns="45000" rIns="0" bIns="45000" anchor="t" anchorCtr="1">
            <a:noAutofit/>
          </a:bodyPr>
          <a:p>
            <a:endParaRPr lang="fr-FR" sz="1800" b="0" u="none" strike="noStrike">
              <a:solidFill>
                <a:srgbClr val="FFFFFF"/>
              </a:solidFill>
              <a:effectLst/>
              <a:uFillTx/>
              <a:latin typeface="Roboto"/>
            </a:endParaRPr>
          </a:p>
        </p:txBody>
      </p:sp>
      <p:sp>
        <p:nvSpPr>
          <p:cNvPr id="993" name="Shape 34"/>
          <p:cNvSpPr/>
          <p:nvPr/>
        </p:nvSpPr>
        <p:spPr>
          <a:xfrm>
            <a:off x="10361880" y="0"/>
            <a:ext cx="360" cy="6858000"/>
          </a:xfrm>
          <a:prstGeom prst="line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0" tIns="45000" rIns="0" bIns="45000" anchor="t" anchorCtr="1">
            <a:noAutofit/>
          </a:bodyPr>
          <a:p>
            <a:endParaRPr lang="fr-FR" sz="1800" b="0" u="none" strike="noStrike">
              <a:solidFill>
                <a:srgbClr val="FFFFFF"/>
              </a:solidFill>
              <a:effectLst/>
              <a:uFillTx/>
              <a:latin typeface="Roboto"/>
            </a:endParaRPr>
          </a:p>
        </p:txBody>
      </p:sp>
      <p:sp>
        <p:nvSpPr>
          <p:cNvPr id="994" name="Shape 35"/>
          <p:cNvSpPr/>
          <p:nvPr/>
        </p:nvSpPr>
        <p:spPr>
          <a:xfrm>
            <a:off x="10666800" y="0"/>
            <a:ext cx="360" cy="6858000"/>
          </a:xfrm>
          <a:prstGeom prst="line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0" tIns="45000" rIns="0" bIns="45000" anchor="t" anchorCtr="1">
            <a:noAutofit/>
          </a:bodyPr>
          <a:p>
            <a:endParaRPr lang="fr-FR" sz="1800" b="0" u="none" strike="noStrike">
              <a:solidFill>
                <a:srgbClr val="FFFFFF"/>
              </a:solidFill>
              <a:effectLst/>
              <a:uFillTx/>
              <a:latin typeface="Roboto"/>
            </a:endParaRPr>
          </a:p>
        </p:txBody>
      </p:sp>
      <p:sp>
        <p:nvSpPr>
          <p:cNvPr id="995" name="Shape 36"/>
          <p:cNvSpPr/>
          <p:nvPr/>
        </p:nvSpPr>
        <p:spPr>
          <a:xfrm>
            <a:off x="10971360" y="0"/>
            <a:ext cx="360" cy="6858000"/>
          </a:xfrm>
          <a:prstGeom prst="line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0" tIns="45000" rIns="0" bIns="45000" anchor="t" anchorCtr="1">
            <a:noAutofit/>
          </a:bodyPr>
          <a:p>
            <a:endParaRPr lang="fr-FR" sz="1800" b="0" u="none" strike="noStrike">
              <a:solidFill>
                <a:srgbClr val="FFFFFF"/>
              </a:solidFill>
              <a:effectLst/>
              <a:uFillTx/>
              <a:latin typeface="Roboto"/>
            </a:endParaRPr>
          </a:p>
        </p:txBody>
      </p:sp>
      <p:sp>
        <p:nvSpPr>
          <p:cNvPr id="996" name="Shape 37"/>
          <p:cNvSpPr/>
          <p:nvPr/>
        </p:nvSpPr>
        <p:spPr>
          <a:xfrm>
            <a:off x="11276280" y="0"/>
            <a:ext cx="360" cy="6858000"/>
          </a:xfrm>
          <a:prstGeom prst="line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0" tIns="45000" rIns="0" bIns="45000" anchor="t" anchorCtr="1">
            <a:noAutofit/>
          </a:bodyPr>
          <a:p>
            <a:endParaRPr lang="fr-FR" sz="1800" b="0" u="none" strike="noStrike">
              <a:solidFill>
                <a:srgbClr val="FFFFFF"/>
              </a:solidFill>
              <a:effectLst/>
              <a:uFillTx/>
              <a:latin typeface="Roboto"/>
            </a:endParaRPr>
          </a:p>
        </p:txBody>
      </p:sp>
      <p:sp>
        <p:nvSpPr>
          <p:cNvPr id="997" name="Shape 38"/>
          <p:cNvSpPr/>
          <p:nvPr/>
        </p:nvSpPr>
        <p:spPr>
          <a:xfrm>
            <a:off x="11581200" y="0"/>
            <a:ext cx="360" cy="6858000"/>
          </a:xfrm>
          <a:prstGeom prst="line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0" tIns="45000" rIns="0" bIns="45000" anchor="t" anchorCtr="1">
            <a:noAutofit/>
          </a:bodyPr>
          <a:p>
            <a:endParaRPr lang="fr-FR" sz="1800" b="0" u="none" strike="noStrike">
              <a:solidFill>
                <a:srgbClr val="FFFFFF"/>
              </a:solidFill>
              <a:effectLst/>
              <a:uFillTx/>
              <a:latin typeface="Roboto"/>
            </a:endParaRPr>
          </a:p>
        </p:txBody>
      </p:sp>
      <p:sp>
        <p:nvSpPr>
          <p:cNvPr id="998" name="Shape 39"/>
          <p:cNvSpPr/>
          <p:nvPr/>
        </p:nvSpPr>
        <p:spPr>
          <a:xfrm>
            <a:off x="11885760" y="0"/>
            <a:ext cx="360" cy="6858000"/>
          </a:xfrm>
          <a:prstGeom prst="line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0" tIns="45000" rIns="0" bIns="45000" anchor="t" anchorCtr="1">
            <a:noAutofit/>
          </a:bodyPr>
          <a:p>
            <a:endParaRPr lang="fr-FR" sz="1800" b="0" u="none" strike="noStrike">
              <a:solidFill>
                <a:srgbClr val="FFFFFF"/>
              </a:solidFill>
              <a:effectLst/>
              <a:uFillTx/>
              <a:latin typeface="Roboto"/>
            </a:endParaRPr>
          </a:p>
        </p:txBody>
      </p:sp>
      <p:sp>
        <p:nvSpPr>
          <p:cNvPr id="999" name="Shape 40"/>
          <p:cNvSpPr/>
          <p:nvPr/>
        </p:nvSpPr>
        <p:spPr>
          <a:xfrm>
            <a:off x="12190680" y="0"/>
            <a:ext cx="360" cy="6858000"/>
          </a:xfrm>
          <a:prstGeom prst="line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0" tIns="45000" rIns="0" bIns="45000" anchor="t" anchorCtr="1">
            <a:noAutofit/>
          </a:bodyPr>
          <a:p>
            <a:endParaRPr lang="fr-FR" sz="1800" b="0" u="none" strike="noStrike">
              <a:solidFill>
                <a:srgbClr val="FFFFFF"/>
              </a:solidFill>
              <a:effectLst/>
              <a:uFillTx/>
              <a:latin typeface="Roboto"/>
            </a:endParaRPr>
          </a:p>
        </p:txBody>
      </p:sp>
      <p:sp>
        <p:nvSpPr>
          <p:cNvPr id="1000" name="Shape 41"/>
          <p:cNvSpPr/>
          <p:nvPr/>
        </p:nvSpPr>
        <p:spPr>
          <a:xfrm>
            <a:off x="0" y="0"/>
            <a:ext cx="12191400" cy="360"/>
          </a:xfrm>
          <a:prstGeom prst="line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fr-FR" sz="1800" b="0" u="none" strike="noStrike">
              <a:solidFill>
                <a:srgbClr val="FFFFFF"/>
              </a:solidFill>
              <a:effectLst/>
              <a:uFillTx/>
              <a:latin typeface="Roboto"/>
            </a:endParaRPr>
          </a:p>
        </p:txBody>
      </p:sp>
      <p:sp>
        <p:nvSpPr>
          <p:cNvPr id="1001" name="Shape 42"/>
          <p:cNvSpPr/>
          <p:nvPr/>
        </p:nvSpPr>
        <p:spPr>
          <a:xfrm>
            <a:off x="0" y="304560"/>
            <a:ext cx="12191400" cy="360"/>
          </a:xfrm>
          <a:prstGeom prst="line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fr-FR" sz="1800" b="0" u="none" strike="noStrike">
              <a:solidFill>
                <a:srgbClr val="FFFFFF"/>
              </a:solidFill>
              <a:effectLst/>
              <a:uFillTx/>
              <a:latin typeface="Roboto"/>
            </a:endParaRPr>
          </a:p>
        </p:txBody>
      </p:sp>
      <p:sp>
        <p:nvSpPr>
          <p:cNvPr id="1002" name="Shape 43"/>
          <p:cNvSpPr/>
          <p:nvPr/>
        </p:nvSpPr>
        <p:spPr>
          <a:xfrm>
            <a:off x="0" y="609480"/>
            <a:ext cx="12191400" cy="360"/>
          </a:xfrm>
          <a:prstGeom prst="line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fr-FR" sz="1800" b="0" u="none" strike="noStrike">
              <a:solidFill>
                <a:srgbClr val="FFFFFF"/>
              </a:solidFill>
              <a:effectLst/>
              <a:uFillTx/>
              <a:latin typeface="Roboto"/>
            </a:endParaRPr>
          </a:p>
        </p:txBody>
      </p:sp>
      <p:sp>
        <p:nvSpPr>
          <p:cNvPr id="1003" name="Shape 44"/>
          <p:cNvSpPr/>
          <p:nvPr/>
        </p:nvSpPr>
        <p:spPr>
          <a:xfrm>
            <a:off x="0" y="914040"/>
            <a:ext cx="12191400" cy="360"/>
          </a:xfrm>
          <a:prstGeom prst="line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fr-FR" sz="1800" b="0" u="none" strike="noStrike">
              <a:solidFill>
                <a:srgbClr val="FFFFFF"/>
              </a:solidFill>
              <a:effectLst/>
              <a:uFillTx/>
              <a:latin typeface="Roboto"/>
            </a:endParaRPr>
          </a:p>
        </p:txBody>
      </p:sp>
      <p:sp>
        <p:nvSpPr>
          <p:cNvPr id="1004" name="Shape 45"/>
          <p:cNvSpPr/>
          <p:nvPr/>
        </p:nvSpPr>
        <p:spPr>
          <a:xfrm>
            <a:off x="0" y="1218960"/>
            <a:ext cx="12191400" cy="360"/>
          </a:xfrm>
          <a:prstGeom prst="line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fr-FR" sz="1800" b="0" u="none" strike="noStrike">
              <a:solidFill>
                <a:srgbClr val="FFFFFF"/>
              </a:solidFill>
              <a:effectLst/>
              <a:uFillTx/>
              <a:latin typeface="Roboto"/>
            </a:endParaRPr>
          </a:p>
        </p:txBody>
      </p:sp>
      <p:sp>
        <p:nvSpPr>
          <p:cNvPr id="1005" name="Shape 46"/>
          <p:cNvSpPr/>
          <p:nvPr/>
        </p:nvSpPr>
        <p:spPr>
          <a:xfrm>
            <a:off x="0" y="1523520"/>
            <a:ext cx="12191400" cy="360"/>
          </a:xfrm>
          <a:prstGeom prst="line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fr-FR" sz="1800" b="0" u="none" strike="noStrike">
              <a:solidFill>
                <a:srgbClr val="FFFFFF"/>
              </a:solidFill>
              <a:effectLst/>
              <a:uFillTx/>
              <a:latin typeface="Roboto"/>
            </a:endParaRPr>
          </a:p>
        </p:txBody>
      </p:sp>
      <p:sp>
        <p:nvSpPr>
          <p:cNvPr id="1006" name="Shape 47"/>
          <p:cNvSpPr/>
          <p:nvPr/>
        </p:nvSpPr>
        <p:spPr>
          <a:xfrm>
            <a:off x="0" y="1828440"/>
            <a:ext cx="12191400" cy="360"/>
          </a:xfrm>
          <a:prstGeom prst="line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fr-FR" sz="1800" b="0" u="none" strike="noStrike">
              <a:solidFill>
                <a:srgbClr val="FFFFFF"/>
              </a:solidFill>
              <a:effectLst/>
              <a:uFillTx/>
              <a:latin typeface="Roboto"/>
            </a:endParaRPr>
          </a:p>
        </p:txBody>
      </p:sp>
      <p:sp>
        <p:nvSpPr>
          <p:cNvPr id="1007" name="Shape 48"/>
          <p:cNvSpPr/>
          <p:nvPr/>
        </p:nvSpPr>
        <p:spPr>
          <a:xfrm>
            <a:off x="0" y="2133360"/>
            <a:ext cx="12191400" cy="360"/>
          </a:xfrm>
          <a:prstGeom prst="line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fr-FR" sz="1800" b="0" u="none" strike="noStrike">
              <a:solidFill>
                <a:srgbClr val="FFFFFF"/>
              </a:solidFill>
              <a:effectLst/>
              <a:uFillTx/>
              <a:latin typeface="Roboto"/>
            </a:endParaRPr>
          </a:p>
        </p:txBody>
      </p:sp>
      <p:sp>
        <p:nvSpPr>
          <p:cNvPr id="1008" name="Shape 49"/>
          <p:cNvSpPr/>
          <p:nvPr/>
        </p:nvSpPr>
        <p:spPr>
          <a:xfrm>
            <a:off x="0" y="2437920"/>
            <a:ext cx="12191400" cy="360"/>
          </a:xfrm>
          <a:prstGeom prst="line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fr-FR" sz="1800" b="0" u="none" strike="noStrike">
              <a:solidFill>
                <a:srgbClr val="FFFFFF"/>
              </a:solidFill>
              <a:effectLst/>
              <a:uFillTx/>
              <a:latin typeface="Roboto"/>
            </a:endParaRPr>
          </a:p>
        </p:txBody>
      </p:sp>
      <p:sp>
        <p:nvSpPr>
          <p:cNvPr id="1009" name="Shape 50"/>
          <p:cNvSpPr/>
          <p:nvPr/>
        </p:nvSpPr>
        <p:spPr>
          <a:xfrm>
            <a:off x="0" y="2742840"/>
            <a:ext cx="12191400" cy="360"/>
          </a:xfrm>
          <a:prstGeom prst="line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fr-FR" sz="1800" b="0" u="none" strike="noStrike">
              <a:solidFill>
                <a:srgbClr val="FFFFFF"/>
              </a:solidFill>
              <a:effectLst/>
              <a:uFillTx/>
              <a:latin typeface="Roboto"/>
            </a:endParaRPr>
          </a:p>
        </p:txBody>
      </p:sp>
      <p:sp>
        <p:nvSpPr>
          <p:cNvPr id="1010" name="Shape 51"/>
          <p:cNvSpPr/>
          <p:nvPr/>
        </p:nvSpPr>
        <p:spPr>
          <a:xfrm>
            <a:off x="0" y="3047400"/>
            <a:ext cx="12191400" cy="360"/>
          </a:xfrm>
          <a:prstGeom prst="line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fr-FR" sz="1800" b="0" u="none" strike="noStrike">
              <a:solidFill>
                <a:srgbClr val="FFFFFF"/>
              </a:solidFill>
              <a:effectLst/>
              <a:uFillTx/>
              <a:latin typeface="Roboto"/>
            </a:endParaRPr>
          </a:p>
        </p:txBody>
      </p:sp>
      <p:sp>
        <p:nvSpPr>
          <p:cNvPr id="1011" name="Shape 52"/>
          <p:cNvSpPr/>
          <p:nvPr/>
        </p:nvSpPr>
        <p:spPr>
          <a:xfrm>
            <a:off x="0" y="3352320"/>
            <a:ext cx="12191400" cy="360"/>
          </a:xfrm>
          <a:prstGeom prst="line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fr-FR" sz="1800" b="0" u="none" strike="noStrike">
              <a:solidFill>
                <a:srgbClr val="FFFFFF"/>
              </a:solidFill>
              <a:effectLst/>
              <a:uFillTx/>
              <a:latin typeface="Roboto"/>
            </a:endParaRPr>
          </a:p>
        </p:txBody>
      </p:sp>
      <p:sp>
        <p:nvSpPr>
          <p:cNvPr id="1012" name="Shape 53"/>
          <p:cNvSpPr/>
          <p:nvPr/>
        </p:nvSpPr>
        <p:spPr>
          <a:xfrm>
            <a:off x="0" y="3656880"/>
            <a:ext cx="12191400" cy="360"/>
          </a:xfrm>
          <a:prstGeom prst="line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fr-FR" sz="1800" b="0" u="none" strike="noStrike">
              <a:solidFill>
                <a:srgbClr val="FFFFFF"/>
              </a:solidFill>
              <a:effectLst/>
              <a:uFillTx/>
              <a:latin typeface="Roboto"/>
            </a:endParaRPr>
          </a:p>
        </p:txBody>
      </p:sp>
      <p:sp>
        <p:nvSpPr>
          <p:cNvPr id="1013" name="Shape 54"/>
          <p:cNvSpPr/>
          <p:nvPr/>
        </p:nvSpPr>
        <p:spPr>
          <a:xfrm>
            <a:off x="0" y="3961800"/>
            <a:ext cx="12191400" cy="360"/>
          </a:xfrm>
          <a:prstGeom prst="line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fr-FR" sz="1800" b="0" u="none" strike="noStrike">
              <a:solidFill>
                <a:srgbClr val="FFFFFF"/>
              </a:solidFill>
              <a:effectLst/>
              <a:uFillTx/>
              <a:latin typeface="Roboto"/>
            </a:endParaRPr>
          </a:p>
        </p:txBody>
      </p:sp>
      <p:sp>
        <p:nvSpPr>
          <p:cNvPr id="1014" name="Shape 55"/>
          <p:cNvSpPr/>
          <p:nvPr/>
        </p:nvSpPr>
        <p:spPr>
          <a:xfrm>
            <a:off x="0" y="4266720"/>
            <a:ext cx="12191400" cy="360"/>
          </a:xfrm>
          <a:prstGeom prst="line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fr-FR" sz="1800" b="0" u="none" strike="noStrike">
              <a:solidFill>
                <a:srgbClr val="FFFFFF"/>
              </a:solidFill>
              <a:effectLst/>
              <a:uFillTx/>
              <a:latin typeface="Roboto"/>
            </a:endParaRPr>
          </a:p>
        </p:txBody>
      </p:sp>
      <p:sp>
        <p:nvSpPr>
          <p:cNvPr id="1015" name="Shape 56"/>
          <p:cNvSpPr/>
          <p:nvPr/>
        </p:nvSpPr>
        <p:spPr>
          <a:xfrm>
            <a:off x="0" y="4571280"/>
            <a:ext cx="12191400" cy="360"/>
          </a:xfrm>
          <a:prstGeom prst="line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fr-FR" sz="1800" b="0" u="none" strike="noStrike">
              <a:solidFill>
                <a:srgbClr val="FFFFFF"/>
              </a:solidFill>
              <a:effectLst/>
              <a:uFillTx/>
              <a:latin typeface="Roboto"/>
            </a:endParaRPr>
          </a:p>
        </p:txBody>
      </p:sp>
      <p:sp>
        <p:nvSpPr>
          <p:cNvPr id="1016" name="Shape 57"/>
          <p:cNvSpPr/>
          <p:nvPr/>
        </p:nvSpPr>
        <p:spPr>
          <a:xfrm>
            <a:off x="0" y="4876200"/>
            <a:ext cx="12191400" cy="360"/>
          </a:xfrm>
          <a:prstGeom prst="line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fr-FR" sz="1800" b="0" u="none" strike="noStrike">
              <a:solidFill>
                <a:srgbClr val="FFFFFF"/>
              </a:solidFill>
              <a:effectLst/>
              <a:uFillTx/>
              <a:latin typeface="Roboto"/>
            </a:endParaRPr>
          </a:p>
        </p:txBody>
      </p:sp>
      <p:sp>
        <p:nvSpPr>
          <p:cNvPr id="1017" name="Shape 58"/>
          <p:cNvSpPr/>
          <p:nvPr/>
        </p:nvSpPr>
        <p:spPr>
          <a:xfrm>
            <a:off x="0" y="5180760"/>
            <a:ext cx="12191400" cy="360"/>
          </a:xfrm>
          <a:prstGeom prst="line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fr-FR" sz="1800" b="0" u="none" strike="noStrike">
              <a:solidFill>
                <a:srgbClr val="FFFFFF"/>
              </a:solidFill>
              <a:effectLst/>
              <a:uFillTx/>
              <a:latin typeface="Roboto"/>
            </a:endParaRPr>
          </a:p>
        </p:txBody>
      </p:sp>
      <p:sp>
        <p:nvSpPr>
          <p:cNvPr id="1018" name="Shape 59"/>
          <p:cNvSpPr/>
          <p:nvPr/>
        </p:nvSpPr>
        <p:spPr>
          <a:xfrm>
            <a:off x="0" y="5485680"/>
            <a:ext cx="12191400" cy="360"/>
          </a:xfrm>
          <a:prstGeom prst="line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fr-FR" sz="1800" b="0" u="none" strike="noStrike">
              <a:solidFill>
                <a:srgbClr val="FFFFFF"/>
              </a:solidFill>
              <a:effectLst/>
              <a:uFillTx/>
              <a:latin typeface="Roboto"/>
            </a:endParaRPr>
          </a:p>
        </p:txBody>
      </p:sp>
      <p:sp>
        <p:nvSpPr>
          <p:cNvPr id="1019" name="Shape 60"/>
          <p:cNvSpPr/>
          <p:nvPr/>
        </p:nvSpPr>
        <p:spPr>
          <a:xfrm>
            <a:off x="0" y="5790600"/>
            <a:ext cx="12191400" cy="360"/>
          </a:xfrm>
          <a:prstGeom prst="line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fr-FR" sz="1800" b="0" u="none" strike="noStrike">
              <a:solidFill>
                <a:srgbClr val="FFFFFF"/>
              </a:solidFill>
              <a:effectLst/>
              <a:uFillTx/>
              <a:latin typeface="Roboto"/>
            </a:endParaRPr>
          </a:p>
        </p:txBody>
      </p:sp>
      <p:sp>
        <p:nvSpPr>
          <p:cNvPr id="1020" name="Shape 61"/>
          <p:cNvSpPr/>
          <p:nvPr/>
        </p:nvSpPr>
        <p:spPr>
          <a:xfrm>
            <a:off x="0" y="6095160"/>
            <a:ext cx="12191400" cy="360"/>
          </a:xfrm>
          <a:prstGeom prst="line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fr-FR" sz="1800" b="0" u="none" strike="noStrike">
              <a:solidFill>
                <a:srgbClr val="FFFFFF"/>
              </a:solidFill>
              <a:effectLst/>
              <a:uFillTx/>
              <a:latin typeface="Roboto"/>
            </a:endParaRPr>
          </a:p>
        </p:txBody>
      </p:sp>
      <p:sp>
        <p:nvSpPr>
          <p:cNvPr id="1021" name="Shape 62"/>
          <p:cNvSpPr/>
          <p:nvPr/>
        </p:nvSpPr>
        <p:spPr>
          <a:xfrm>
            <a:off x="0" y="6400080"/>
            <a:ext cx="12191400" cy="360"/>
          </a:xfrm>
          <a:prstGeom prst="line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fr-FR" sz="1800" b="0" u="none" strike="noStrike">
              <a:solidFill>
                <a:srgbClr val="FFFFFF"/>
              </a:solidFill>
              <a:effectLst/>
              <a:uFillTx/>
              <a:latin typeface="Roboto"/>
            </a:endParaRPr>
          </a:p>
        </p:txBody>
      </p:sp>
      <p:sp>
        <p:nvSpPr>
          <p:cNvPr id="1022" name="Shape 63"/>
          <p:cNvSpPr/>
          <p:nvPr/>
        </p:nvSpPr>
        <p:spPr>
          <a:xfrm>
            <a:off x="0" y="6704640"/>
            <a:ext cx="12191400" cy="360"/>
          </a:xfrm>
          <a:prstGeom prst="line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fr-FR" sz="1800" b="0" u="none" strike="noStrike">
              <a:solidFill>
                <a:srgbClr val="FFFFFF"/>
              </a:solidFill>
              <a:effectLst/>
              <a:uFillTx/>
              <a:latin typeface="Roboto"/>
            </a:endParaRPr>
          </a:p>
        </p:txBody>
      </p:sp>
      <p:sp>
        <p:nvSpPr>
          <p:cNvPr id="1023" name="Text 64"/>
          <p:cNvSpPr/>
          <p:nvPr/>
        </p:nvSpPr>
        <p:spPr>
          <a:xfrm>
            <a:off x="457200" y="384120"/>
            <a:ext cx="9141840" cy="253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pc="201" strike="noStrike">
                <a:solidFill>
                  <a:srgbClr val="F2A65A"/>
                </a:solidFill>
                <a:effectLst/>
                <a:uFillTx/>
                <a:latin typeface="Roboto"/>
                <a:ea typeface="Roboto"/>
              </a:rPr>
              <a:t>05 · CONCLUSION</a:t>
            </a:r>
            <a:endParaRPr lang="fr-FR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24" name="Text 65"/>
          <p:cNvSpPr/>
          <p:nvPr/>
        </p:nvSpPr>
        <p:spPr>
          <a:xfrm>
            <a:off x="457200" y="640080"/>
            <a:ext cx="10513440" cy="54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200" b="1" u="none" strike="noStrike">
                <a:solidFill>
                  <a:srgbClr val="FFFFFF"/>
                </a:solidFill>
                <a:effectLst/>
                <a:uFillTx/>
                <a:latin typeface="Roboto"/>
                <a:ea typeface="Roboto"/>
              </a:rPr>
              <a:t>What Drives a Match?</a:t>
            </a:r>
            <a:endParaRPr lang="fr-FR" sz="3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25" name="Text 66"/>
          <p:cNvSpPr/>
          <p:nvPr/>
        </p:nvSpPr>
        <p:spPr>
          <a:xfrm>
            <a:off x="457200" y="1463040"/>
            <a:ext cx="6672960" cy="2832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00000"/>
              </a:lnSpc>
            </a:pPr>
            <a:r>
              <a:rPr lang="en-US" sz="1450" b="0" u="none" strike="noStrike">
                <a:solidFill>
                  <a:srgbClr val="FFFFFF"/>
                </a:solidFill>
                <a:effectLst/>
                <a:uFillTx/>
                <a:latin typeface="Roboto"/>
                <a:ea typeface="Roboto"/>
              </a:rPr>
              <a:t>Attractiveness is the closest thing to a universal factor, significant in stated importance, and by far the strongest predictor of an actual 'yes' for both men and women.</a:t>
            </a:r>
            <a:endParaRPr lang="fr-FR" sz="14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lang="fr-FR" sz="14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35000"/>
              </a:lnSpc>
              <a:tabLst>
                <a:tab pos="0" algn="l"/>
              </a:tabLst>
            </a:pPr>
            <a:r>
              <a:rPr lang="en-US" sz="1450" b="0" u="none" strike="noStrike">
                <a:solidFill>
                  <a:srgbClr val="FFFFFF"/>
                </a:solidFill>
                <a:effectLst/>
                <a:uFillTx/>
                <a:latin typeface="Roboto"/>
                <a:ea typeface="Roboto"/>
              </a:rPr>
              <a:t>The more interesting finding is where stated and actual behavior diverge: </a:t>
            </a:r>
            <a:r>
              <a:rPr lang="en-US" sz="1450" b="1" u="none" strike="noStrike">
                <a:solidFill>
                  <a:srgbClr val="F2A65A"/>
                </a:solidFill>
                <a:effectLst/>
                <a:uFillTx/>
                <a:latin typeface="Roboto"/>
                <a:ea typeface="Roboto"/>
              </a:rPr>
              <a:t>shared interests ranks last in what people say they want, yet it's among the strongest real predictors of a match. </a:t>
            </a:r>
            <a:r>
              <a:rPr lang="en-US" sz="1450" b="0" u="none" strike="noStrike">
                <a:solidFill>
                  <a:srgbClr val="FFFFFF"/>
                </a:solidFill>
                <a:effectLst/>
                <a:uFillTx/>
                <a:latin typeface="Roboto"/>
                <a:ea typeface="Roboto"/>
              </a:rPr>
              <a:t>What people say they want and what actually moves their decision aren't always the same thing.</a:t>
            </a:r>
            <a:endParaRPr lang="fr-FR" sz="14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26" name="Shape 67"/>
          <p:cNvSpPr/>
          <p:nvPr/>
        </p:nvSpPr>
        <p:spPr>
          <a:xfrm>
            <a:off x="457200" y="4434840"/>
            <a:ext cx="308880" cy="308880"/>
          </a:xfrm>
          <a:prstGeom prst="ellipse">
            <a:avLst/>
          </a:prstGeom>
          <a:solidFill>
            <a:srgbClr val="F2A65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fr-FR" sz="1800" b="0" u="none" strike="noStrike">
              <a:solidFill>
                <a:srgbClr val="FFFFFF"/>
              </a:solidFill>
              <a:effectLst/>
              <a:uFillTx/>
              <a:latin typeface="Roboto"/>
            </a:endParaRPr>
          </a:p>
        </p:txBody>
      </p:sp>
      <p:sp>
        <p:nvSpPr>
          <p:cNvPr id="1027" name="Text 68"/>
          <p:cNvSpPr/>
          <p:nvPr/>
        </p:nvSpPr>
        <p:spPr>
          <a:xfrm>
            <a:off x="457200" y="4434840"/>
            <a:ext cx="308880" cy="308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0A0E1A"/>
                </a:solidFill>
                <a:effectLst/>
                <a:uFillTx/>
                <a:latin typeface="Roboto"/>
                <a:ea typeface="Roboto"/>
              </a:rPr>
              <a:t>1</a:t>
            </a:r>
            <a:endParaRPr lang="fr-FR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28" name="Text 69"/>
          <p:cNvSpPr/>
          <p:nvPr/>
        </p:nvSpPr>
        <p:spPr>
          <a:xfrm>
            <a:off x="914400" y="4389120"/>
            <a:ext cx="6215760" cy="27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FFFFFF"/>
                </a:solidFill>
                <a:effectLst/>
                <a:uFillTx/>
                <a:latin typeface="Roboto"/>
                <a:ea typeface="Roboto"/>
              </a:rPr>
              <a:t>Trust behavior over stated preference</a:t>
            </a:r>
            <a:endParaRPr lang="fr-FR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29" name="Text 70"/>
          <p:cNvSpPr/>
          <p:nvPr/>
        </p:nvSpPr>
        <p:spPr>
          <a:xfrm>
            <a:off x="914400" y="4663440"/>
            <a:ext cx="6215760" cy="36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2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8B96AC"/>
                </a:solidFill>
                <a:effectLst/>
                <a:uFillTx/>
                <a:latin typeface="Roboto"/>
                <a:ea typeface="Roboto"/>
              </a:rPr>
              <a:t>Attractiveness, fun &amp; shared interests consistently drive real decisions.</a:t>
            </a:r>
            <a:endParaRPr lang="fr-FR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30" name="Shape 71"/>
          <p:cNvSpPr/>
          <p:nvPr/>
        </p:nvSpPr>
        <p:spPr>
          <a:xfrm>
            <a:off x="457200" y="5148000"/>
            <a:ext cx="308880" cy="308880"/>
          </a:xfrm>
          <a:prstGeom prst="ellipse">
            <a:avLst/>
          </a:prstGeom>
          <a:solidFill>
            <a:srgbClr val="F2A65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fr-FR" sz="1800" b="0" u="none" strike="noStrike">
              <a:solidFill>
                <a:srgbClr val="FFFFFF"/>
              </a:solidFill>
              <a:effectLst/>
              <a:uFillTx/>
              <a:latin typeface="Roboto"/>
            </a:endParaRPr>
          </a:p>
        </p:txBody>
      </p:sp>
      <p:sp>
        <p:nvSpPr>
          <p:cNvPr id="1031" name="Text 72"/>
          <p:cNvSpPr/>
          <p:nvPr/>
        </p:nvSpPr>
        <p:spPr>
          <a:xfrm>
            <a:off x="457200" y="5148000"/>
            <a:ext cx="308880" cy="308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0A0E1A"/>
                </a:solidFill>
                <a:effectLst/>
                <a:uFillTx/>
                <a:latin typeface="Roboto"/>
                <a:ea typeface="Roboto"/>
              </a:rPr>
              <a:t>2</a:t>
            </a:r>
            <a:endParaRPr lang="fr-FR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32" name="Text 73"/>
          <p:cNvSpPr/>
          <p:nvPr/>
        </p:nvSpPr>
        <p:spPr>
          <a:xfrm>
            <a:off x="914400" y="5102280"/>
            <a:ext cx="6215760" cy="27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FFFFFF"/>
                </a:solidFill>
                <a:effectLst/>
                <a:uFillTx/>
                <a:latin typeface="Roboto"/>
                <a:ea typeface="Roboto"/>
              </a:rPr>
              <a:t>Model each gender separately</a:t>
            </a:r>
            <a:endParaRPr lang="fr-FR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33" name="Text 74"/>
          <p:cNvSpPr/>
          <p:nvPr/>
        </p:nvSpPr>
        <p:spPr>
          <a:xfrm>
            <a:off x="914400" y="5376600"/>
            <a:ext cx="6215760" cy="36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2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8B96AC"/>
                </a:solidFill>
                <a:effectLst/>
                <a:uFillTx/>
                <a:latin typeface="Roboto"/>
                <a:ea typeface="Roboto"/>
              </a:rPr>
              <a:t>Preference patterns and predictive power differ enough to warrant it.</a:t>
            </a:r>
            <a:endParaRPr lang="fr-FR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34" name="Shape 75"/>
          <p:cNvSpPr/>
          <p:nvPr/>
        </p:nvSpPr>
        <p:spPr>
          <a:xfrm>
            <a:off x="7498080" y="1463040"/>
            <a:ext cx="2046240" cy="1232280"/>
          </a:xfrm>
          <a:prstGeom prst="roundRect">
            <a:avLst>
              <a:gd name="adj" fmla="val 6667"/>
            </a:avLst>
          </a:prstGeom>
          <a:solidFill>
            <a:srgbClr val="263659"/>
          </a:solidFill>
          <a:ln w="12700">
            <a:solidFill>
              <a:srgbClr val="3D4B72"/>
            </a:solidFill>
            <a:round/>
          </a:ln>
          <a:effectLst>
            <a:outerShdw algn="bl" blurRad="101520" dir="5400000" dist="38160" kx="0" ky="0" rotWithShape="0" sx="100000" sy="10000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fr-FR" sz="1800" b="0" u="none" strike="noStrike">
              <a:solidFill>
                <a:srgbClr val="FFFFFF"/>
              </a:solidFill>
              <a:effectLst/>
              <a:uFillTx/>
              <a:latin typeface="Roboto"/>
            </a:endParaRPr>
          </a:p>
        </p:txBody>
      </p:sp>
      <p:sp>
        <p:nvSpPr>
          <p:cNvPr id="1035" name="Text 76"/>
          <p:cNvSpPr/>
          <p:nvPr/>
        </p:nvSpPr>
        <p:spPr>
          <a:xfrm>
            <a:off x="7680960" y="1591200"/>
            <a:ext cx="1680480" cy="54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600" b="1" u="none" strike="noStrike">
                <a:solidFill>
                  <a:srgbClr val="F2A65A"/>
                </a:solidFill>
                <a:effectLst/>
                <a:uFillTx/>
                <a:latin typeface="Roboto"/>
                <a:ea typeface="Roboto"/>
              </a:rPr>
              <a:t>1.27</a:t>
            </a:r>
            <a:endParaRPr lang="fr-FR" sz="2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36" name="Text 77"/>
          <p:cNvSpPr/>
          <p:nvPr/>
        </p:nvSpPr>
        <p:spPr>
          <a:xfrm>
            <a:off x="7680960" y="2176200"/>
            <a:ext cx="1680480" cy="45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15000"/>
              </a:lnSpc>
              <a:tabLst>
                <a:tab pos="0" algn="l"/>
              </a:tabLst>
            </a:pPr>
            <a:r>
              <a:rPr lang="en-US" sz="950" b="0" u="none" strike="noStrike">
                <a:solidFill>
                  <a:srgbClr val="8B96AC"/>
                </a:solidFill>
                <a:effectLst/>
                <a:uFillTx/>
                <a:latin typeface="Roboto"/>
                <a:ea typeface="Roboto"/>
              </a:rPr>
              <a:t>Male attractiveness coefficient</a:t>
            </a:r>
            <a:endParaRPr lang="fr-FR" sz="9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37" name="Shape 78"/>
          <p:cNvSpPr/>
          <p:nvPr/>
        </p:nvSpPr>
        <p:spPr>
          <a:xfrm>
            <a:off x="9683640" y="1463040"/>
            <a:ext cx="2046240" cy="1232280"/>
          </a:xfrm>
          <a:prstGeom prst="roundRect">
            <a:avLst>
              <a:gd name="adj" fmla="val 6667"/>
            </a:avLst>
          </a:prstGeom>
          <a:solidFill>
            <a:srgbClr val="263659"/>
          </a:solidFill>
          <a:ln w="12700">
            <a:solidFill>
              <a:srgbClr val="3D4B72"/>
            </a:solidFill>
            <a:round/>
          </a:ln>
          <a:effectLst>
            <a:outerShdw algn="bl" blurRad="101520" dir="5400000" dist="38160" kx="0" ky="0" rotWithShape="0" sx="100000" sy="10000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fr-FR" sz="1800" b="0" u="none" strike="noStrike">
              <a:solidFill>
                <a:srgbClr val="FFFFFF"/>
              </a:solidFill>
              <a:effectLst/>
              <a:uFillTx/>
              <a:latin typeface="Roboto"/>
            </a:endParaRPr>
          </a:p>
        </p:txBody>
      </p:sp>
      <p:sp>
        <p:nvSpPr>
          <p:cNvPr id="1038" name="Text 79"/>
          <p:cNvSpPr/>
          <p:nvPr/>
        </p:nvSpPr>
        <p:spPr>
          <a:xfrm>
            <a:off x="9866520" y="1591200"/>
            <a:ext cx="1680480" cy="54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600" b="1" u="none" strike="noStrike">
                <a:solidFill>
                  <a:srgbClr val="F2A65A"/>
                </a:solidFill>
                <a:effectLst/>
                <a:uFillTx/>
                <a:latin typeface="Roboto"/>
                <a:ea typeface="Roboto"/>
              </a:rPr>
              <a:t>0.86</a:t>
            </a:r>
            <a:endParaRPr lang="fr-FR" sz="2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39" name="Text 80"/>
          <p:cNvSpPr/>
          <p:nvPr/>
        </p:nvSpPr>
        <p:spPr>
          <a:xfrm>
            <a:off x="9866520" y="2176200"/>
            <a:ext cx="1680480" cy="45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15000"/>
              </a:lnSpc>
              <a:tabLst>
                <a:tab pos="0" algn="l"/>
              </a:tabLst>
            </a:pPr>
            <a:r>
              <a:rPr lang="en-US" sz="950" b="0" u="none" strike="noStrike">
                <a:solidFill>
                  <a:srgbClr val="8B96AC"/>
                </a:solidFill>
                <a:effectLst/>
                <a:uFillTx/>
                <a:latin typeface="Roboto"/>
                <a:ea typeface="Roboto"/>
              </a:rPr>
              <a:t>Female attractiveness coefficient</a:t>
            </a:r>
            <a:endParaRPr lang="fr-FR" sz="9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40" name="Shape 81"/>
          <p:cNvSpPr/>
          <p:nvPr/>
        </p:nvSpPr>
        <p:spPr>
          <a:xfrm>
            <a:off x="7498080" y="2834640"/>
            <a:ext cx="2046240" cy="1232280"/>
          </a:xfrm>
          <a:prstGeom prst="roundRect">
            <a:avLst>
              <a:gd name="adj" fmla="val 6667"/>
            </a:avLst>
          </a:prstGeom>
          <a:solidFill>
            <a:srgbClr val="263659"/>
          </a:solidFill>
          <a:ln w="12700">
            <a:solidFill>
              <a:srgbClr val="3D4B72"/>
            </a:solidFill>
            <a:round/>
          </a:ln>
          <a:effectLst>
            <a:outerShdw algn="bl" blurRad="101520" dir="5400000" dist="38160" kx="0" ky="0" rotWithShape="0" sx="100000" sy="10000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fr-FR" sz="1800" b="0" u="none" strike="noStrike">
              <a:solidFill>
                <a:srgbClr val="FFFFFF"/>
              </a:solidFill>
              <a:effectLst/>
              <a:uFillTx/>
              <a:latin typeface="Roboto"/>
            </a:endParaRPr>
          </a:p>
        </p:txBody>
      </p:sp>
      <p:sp>
        <p:nvSpPr>
          <p:cNvPr id="1041" name="Text 82"/>
          <p:cNvSpPr/>
          <p:nvPr/>
        </p:nvSpPr>
        <p:spPr>
          <a:xfrm>
            <a:off x="7680960" y="2962800"/>
            <a:ext cx="1680480" cy="54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600" b="1" u="none" strike="noStrike">
                <a:solidFill>
                  <a:srgbClr val="F2A65A"/>
                </a:solidFill>
                <a:effectLst/>
                <a:uFillTx/>
                <a:latin typeface="Roboto"/>
                <a:ea typeface="Roboto"/>
              </a:rPr>
              <a:t>74%</a:t>
            </a:r>
            <a:endParaRPr lang="fr-FR" sz="2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42" name="Text 83"/>
          <p:cNvSpPr/>
          <p:nvPr/>
        </p:nvSpPr>
        <p:spPr>
          <a:xfrm>
            <a:off x="7680960" y="3547800"/>
            <a:ext cx="1680480" cy="45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15000"/>
              </a:lnSpc>
              <a:tabLst>
                <a:tab pos="0" algn="l"/>
              </a:tabLst>
            </a:pPr>
            <a:r>
              <a:rPr lang="en-US" sz="950" b="0" u="none" strike="noStrike">
                <a:solidFill>
                  <a:srgbClr val="8B96AC"/>
                </a:solidFill>
                <a:effectLst/>
                <a:uFillTx/>
                <a:latin typeface="Roboto"/>
                <a:ea typeface="Roboto"/>
              </a:rPr>
              <a:t>Male model F1-score</a:t>
            </a:r>
            <a:endParaRPr lang="fr-FR" sz="9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43" name="Shape 84"/>
          <p:cNvSpPr/>
          <p:nvPr/>
        </p:nvSpPr>
        <p:spPr>
          <a:xfrm>
            <a:off x="9683640" y="2834640"/>
            <a:ext cx="2046240" cy="1232280"/>
          </a:xfrm>
          <a:prstGeom prst="roundRect">
            <a:avLst>
              <a:gd name="adj" fmla="val 6667"/>
            </a:avLst>
          </a:prstGeom>
          <a:solidFill>
            <a:srgbClr val="263659"/>
          </a:solidFill>
          <a:ln w="12700">
            <a:solidFill>
              <a:srgbClr val="3D4B72"/>
            </a:solidFill>
            <a:round/>
          </a:ln>
          <a:effectLst>
            <a:outerShdw algn="bl" blurRad="101520" dir="5400000" dist="38160" kx="0" ky="0" rotWithShape="0" sx="100000" sy="10000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fr-FR" sz="1800" b="0" u="none" strike="noStrike">
              <a:solidFill>
                <a:srgbClr val="FFFFFF"/>
              </a:solidFill>
              <a:effectLst/>
              <a:uFillTx/>
              <a:latin typeface="Roboto"/>
            </a:endParaRPr>
          </a:p>
        </p:txBody>
      </p:sp>
      <p:sp>
        <p:nvSpPr>
          <p:cNvPr id="1044" name="Text 85"/>
          <p:cNvSpPr/>
          <p:nvPr/>
        </p:nvSpPr>
        <p:spPr>
          <a:xfrm>
            <a:off x="9866520" y="2962800"/>
            <a:ext cx="1680480" cy="54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600" b="1" u="none" strike="noStrike">
                <a:solidFill>
                  <a:srgbClr val="F2A65A"/>
                </a:solidFill>
                <a:effectLst/>
                <a:uFillTx/>
                <a:latin typeface="Roboto"/>
                <a:ea typeface="Roboto"/>
              </a:rPr>
              <a:t>72%</a:t>
            </a:r>
            <a:endParaRPr lang="fr-FR" sz="2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45" name="Text 86"/>
          <p:cNvSpPr/>
          <p:nvPr/>
        </p:nvSpPr>
        <p:spPr>
          <a:xfrm>
            <a:off x="9866520" y="3547800"/>
            <a:ext cx="1680480" cy="45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15000"/>
              </a:lnSpc>
              <a:tabLst>
                <a:tab pos="0" algn="l"/>
              </a:tabLst>
            </a:pPr>
            <a:r>
              <a:rPr lang="en-US" sz="950" b="0" u="none" strike="noStrike">
                <a:solidFill>
                  <a:srgbClr val="8B96AC"/>
                </a:solidFill>
                <a:effectLst/>
                <a:uFillTx/>
                <a:latin typeface="Roboto"/>
                <a:ea typeface="Roboto"/>
              </a:rPr>
              <a:t>Female model F1-score</a:t>
            </a:r>
            <a:endParaRPr lang="fr-FR" sz="9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46" name="Shape 87"/>
          <p:cNvSpPr/>
          <p:nvPr/>
        </p:nvSpPr>
        <p:spPr>
          <a:xfrm>
            <a:off x="7498080" y="4206240"/>
            <a:ext cx="4231440" cy="1826640"/>
          </a:xfrm>
          <a:prstGeom prst="roundRect">
            <a:avLst>
              <a:gd name="adj" fmla="val 4500"/>
            </a:avLst>
          </a:prstGeom>
          <a:solidFill>
            <a:srgbClr val="263659"/>
          </a:solidFill>
          <a:ln w="12700">
            <a:solidFill>
              <a:srgbClr val="3D4B7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fr-FR" sz="1800" b="0" u="none" strike="noStrike">
              <a:solidFill>
                <a:srgbClr val="FFFFFF"/>
              </a:solidFill>
              <a:effectLst/>
              <a:uFillTx/>
              <a:latin typeface="Roboto"/>
            </a:endParaRPr>
          </a:p>
        </p:txBody>
      </p:sp>
      <p:sp>
        <p:nvSpPr>
          <p:cNvPr id="1047" name="Text 88"/>
          <p:cNvSpPr/>
          <p:nvPr/>
        </p:nvSpPr>
        <p:spPr>
          <a:xfrm>
            <a:off x="7772400" y="4814280"/>
            <a:ext cx="3682800" cy="54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200" b="1" u="none" strike="noStrike">
                <a:solidFill>
                  <a:srgbClr val="FFFFFF"/>
                </a:solidFill>
                <a:effectLst/>
                <a:uFillTx/>
                <a:latin typeface="Roboto"/>
                <a:ea typeface="Roboto"/>
              </a:rPr>
              <a:t>Thank you</a:t>
            </a:r>
            <a:endParaRPr lang="fr-FR" sz="2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48" name="Shape 90"/>
          <p:cNvSpPr/>
          <p:nvPr/>
        </p:nvSpPr>
        <p:spPr>
          <a:xfrm>
            <a:off x="548640" y="6263640"/>
            <a:ext cx="11091600" cy="360"/>
          </a:xfrm>
          <a:prstGeom prst="line">
            <a:avLst/>
          </a:prstGeom>
          <a:ln w="12700">
            <a:solidFill>
              <a:srgbClr val="3D4B7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fr-FR" sz="1800" b="0" u="none" strike="noStrike">
              <a:solidFill>
                <a:srgbClr val="FFFFFF"/>
              </a:solidFill>
              <a:effectLst/>
              <a:uFillTx/>
              <a:latin typeface="Roboto"/>
            </a:endParaRPr>
          </a:p>
        </p:txBody>
      </p:sp>
      <p:sp>
        <p:nvSpPr>
          <p:cNvPr id="1049" name="Text 91"/>
          <p:cNvSpPr/>
          <p:nvPr/>
        </p:nvSpPr>
        <p:spPr>
          <a:xfrm>
            <a:off x="457200" y="6355080"/>
            <a:ext cx="8227440" cy="27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5C6684"/>
                </a:solidFill>
                <a:effectLst/>
                <a:uFillTx/>
                <a:latin typeface="Roboto"/>
                <a:ea typeface="Roboto"/>
              </a:rPr>
              <a:t>Speed dating experiment · Attraction, preferences &amp; machine learning</a:t>
            </a:r>
            <a:endParaRPr lang="fr-FR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50" name="Text 92"/>
          <p:cNvSpPr/>
          <p:nvPr/>
        </p:nvSpPr>
        <p:spPr>
          <a:xfrm>
            <a:off x="11274480" y="6355080"/>
            <a:ext cx="455040" cy="27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5C6684"/>
                </a:solidFill>
                <a:effectLst/>
                <a:uFillTx/>
                <a:latin typeface="Roboto"/>
                <a:ea typeface="Roboto"/>
              </a:rPr>
              <a:t>10</a:t>
            </a:r>
            <a:endParaRPr lang="fr-FR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Roboto" panose="020F0302020204030204" pitchFamily="0" charset="1"/>
        <a:ea typeface=""/>
        <a:cs typeface=""/>
      </a:majorFont>
      <a:minorFont>
        <a:latin typeface="Roboto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57</TotalTime>
  <Application>LibreOffice/26.2.5.2$Linux_X86_64 LibreOffice_project/cd7284b4cbbfeb507e630c1aac019f4157393acb</Application>
  <AppVersion>15.0000</AppVersion>
  <Words>0</Words>
  <Paragraphs>0</Paragraphs>
  <Company>PptxGenJS</Company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2026-09-04T11:15:16Z</dcterms:created>
  <dc:creator>PptxGenJS</dc:creator>
  <dc:description/>
  <dc:language>fr-FR</dc:language>
  <cp:lastModifiedBy/>
  <dcterms:modified xsi:type="dcterms:W3CDTF">2026-09-04T15:32:50Z</dcterms:modified>
  <cp:revision>17</cp:revision>
  <dc:subject>PptxGenJS Presentation</dc:subject>
  <dc:title>PptxGenJS Presentation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i4>10</vt:i4>
  </property>
  <property fmtid="{D5CDD505-2E9C-101B-9397-08002B2CF9AE}" pid="3" name="PresentationFormat">
    <vt:lpwstr>On-screen Show (16:9)</vt:lpwstr>
  </property>
  <property fmtid="{D5CDD505-2E9C-101B-9397-08002B2CF9AE}" pid="4" name="Slides">
    <vt:i4>10</vt:i4>
  </property>
</Properties>
</file>